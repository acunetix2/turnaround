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Turnaround is an operational intelligence platform for commercial fleet and corridor logistics across East Africa. It turns raw GPS telemetry into real-time fleet visibility, dwell monitoring, SLA analysis and cost intelligence. Replace the presenter name, date and demo URL placeholders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Commercial carriers lose time and money because they cannot easily see where delays happen or how much those delays cost. Trucks wait at ports, container depots, customs yards, weighbridges and customer facilities. Dispatchers often rely on phone calls, spreadsheets and disconnected tracking tools. Delays are discovered late, after SLAs have already been affected. Fleet managers lack a clear link between operational delay and financial loss, and containers, vehicles, drivers and trips are often managed in separate systems. Core problem: logistics teams need one operational view that connects movement, delay, cost and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Turnaround is a fleet operational intelligence platform that turns GPS telemetry into practical decisions. It combines live vehicle and corridor tracking, telemetry ingestion, geofence monitoring, dwell-time detection, SLA and delay analysis, operating-cost calculations, container and trip dispatch management, and fleet, driver and asset visibility. Outcome: teams identify operational bottlenecks earlier, respond faster, and reduce unrecovered idle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tracker sends location, speed, heading and timestamp data. Turnaround matches the coordinates against configured facilities and corridors. The system detects arrival, dwell and departure states. Actual dwell is compared with expected service levels. Excess time is converted into an estimated operating cost. Dispatchers and fleet managers then take action from the dashboard, which improves turnaround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experience. The Live Corridor Tracker gives map-based visibility across logistics corridors, with vehicle markers showing status, speed and location, a Top 10 fleet tracker side panel, expandable vehicle details for driver, co-driver, availability and GPS connection, and trip route visualization between origin and destination. Fleet and asset management provides category-aware asset registration with separate workflows for trucks, tankers, trailers, chassis, ships and containers, a container registry and container assignment, driver and co-driver assignment for powered vehicles only, and telematics and tracker details per asset.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Fleet and asset management: category-aware asset registration with separate workflows for trucks, tankers, trailers, chassis, ships and containers. A container registry supports container assignment. Driver and co-driver assignment applies to powered vehicles only. Telematics and tracker details are kept per asset. This slide sets up the key product distinction explained later: containers are cargo equipment, not drivable vehicles.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Turnaround translates movement data into operational and financial insight. It detects excessive dwell time, identifies recurring facility bottlenecks, tracks active and completed dwell events, calculates excess delay minutes, estimates idle operating cost, highlights demurrage risk, supports historical facility benchmarking, and provides actionable operational context for dispatchers. The financial loss formula is: Financial Loss equals the maximum of zero and actual dwell minus expected dwell, multiplied by hourly operating cost divided by sixty. Note that the dashboard figures shown are illustrative placeholders, not measured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how the core entities relate. A vehicle carries a GPS device that emits telemetry. Telemetry is matched against geofences, which produce dwell events on a trip. A trip links a powered vehicle, an assigned container, an origin and a destination facility. Dwell events compared against SLA produce financial impact. Containers attach to trips as cargo equipment; they never carry drivers.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Turnaround keeps the dispatch workflow aligned with how logistics operations actually work: select a powered vehicle for the trip, select origin and destination facilities, assign an available registered container, capture customs seal information, record cargo type and payload weight, schedule departure and estimated arrival, check overlapping vehicle assignments before dispatch, and preserve a clear link between vehicle, container, route and trip. Important design decision: containers are treated as cargo equipment, not as vehicles or driver-assigned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and technology. Frontend: React 19, TypeScript, Vite, Tailwind CSS, React Query, React Hook Form with Zod, and MapLibre GL. Backend: Python, FastAPI, SQLAlchemy async ORM, PostgreSQL, Alembic migrations, and the geofencing and dwell engines. Platform services: Supabase authentication and database infrastructure, Firebase Cloud Messaging for notifications, Render for backend deployment, and Vercel for frontend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Turnaround is designed as a multi-tenant operational platform. It provides company-level data isolation through tenant identifiers, JWT and Supabase authentication support, and role-based access control with separate permissions for administrators, fleet managers, dispatchers, analysts, supervisors and operational users. Sensitive service credentials are handled server-side, and vehicle, trip, GPS, container and location data is scoped to the correct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Turnaround is designed for the realities of East African commercial logistics corridors. Key operating contexts include Mombasa Port and Kilindini Terminal, the Nairobi Inland Container Depot, the Athi River and Gilgil weighbridges, the Malaba and Busia One-Stop Border Posts, Namanga and other cross-border routes, and long-haul corridors connecting Kenya, Uganda, Tanzania, Rwanda and the wider region. Potential impact: reduce avoidable vehicle idle time, improve SLA compliance, give dispatchers earlier visibility into delays, improve container and vehicle coordination, and support more accurate customer and carrier reporting. These are design goals, not measured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learnings. Operational software must model real-world resources accurately; a container should not be treated like a drivable vehicle. GPS data becomes far more useful when connected to geofences, trips, dwell states and cost models. Clear role-based workflows are essential in multi-user logistics systems. Good operational dashboards need both high-level metrics and drill-down details. Data quality and identifier consistency are critical when connecting GPS devices, vehicles, drivers and containers.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Challenges faced: designing one asset platform for multiple asset categories, synchronizing GPS events with vehicle and trip records, preventing false geofence transitions caused by GPS noise, building reliable vehicle and container assignment workflows, presenting complex operational data without overwhelming dispatchers, supporting live updates while keeping the interface responsive, and converting operational events into understandable financial consequences.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roadmap: direct integrations with Traccar, Teltonika, Samsara and Cartrack; automated provider webhook mapping by tracker IMEI; offline telemetry buffering for poor-connectivity corridors; predictive arrival and delay forecasting; carrier benchmarking and customer-facing reports; automated demurrage claim workflows; a mobile driver application for trip updates and proof of delivery; and more granular container lifecycle and yard-position tracking. Present these as planned direction, not shipped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sequence: 1. Sign in and open the operations dashboard. 2. Open the Carrier Assets page. 3. Show the difference between a powered vehicle and a container asset. 4. Open the Trip Dispatch workflow. 5. Select a vehicle, route, facility and available container. 6. Open the Corridor Tracker map. 7. Show the Top 10 fleet sidebar. 8. Expand a vehicle to show driver, co-driver, availability and GPS status. 9. Show a vehicle marker and live telemetry details. 10. Explain how dwell data becomes cost and delay intelligence. Fill in the demo and video URLs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call to action: make every delay visible, make every minute actionable. Turnaround gives commercial carriers the operational intelligence they need to improve fleet utilization, reduce dwell-related costs, and move freight more predictably. Share the GitHub repository, demo link, video and contact email — replace all placeholders before presenting.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bg>
      <p:bgPr>
        <a:solidFill>
          <a:srgbClr val="0B1A2E"/>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F5821F"/>
          </a:solidFill>
          <a:ln/>
        </p:spPr>
      </p:sp>
      <p:sp>
        <p:nvSpPr>
          <p:cNvPr id="3" name="Text 1"/>
          <p:cNvSpPr/>
          <p:nvPr/>
        </p:nvSpPr>
        <p:spPr>
          <a:xfrm>
            <a:off x="10058400" y="6355080"/>
            <a:ext cx="1828800" cy="274320"/>
          </a:xfrm>
          <a:prstGeom prst="rect">
            <a:avLst/>
          </a:prstGeom>
          <a:noFill/>
          <a:ln/>
        </p:spPr>
        <p:txBody>
          <a:bodyPr wrap="square" rtlCol="0" anchor="ctr"/>
          <a:lstStyle/>
          <a:p>
            <a:pPr algn="r" indent="0" marL="0">
              <a:buNone/>
            </a:pPr>
            <a:r>
              <a:rPr lang="en-US" sz="1000" b="1" spc="200" kern="0" dirty="0">
                <a:solidFill>
                  <a:srgbClr val="27435F"/>
                </a:solidFill>
                <a:latin typeface="Calibri" pitchFamily="34" charset="0"/>
                <a:ea typeface="Calibri" pitchFamily="34" charset="-122"/>
                <a:cs typeface="Calibri" pitchFamily="34" charset="-120"/>
              </a:rPr>
              <a:t>TURNAROUND</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A2E"/>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Shape 0"/>
          <p:cNvSpPr/>
          <p:nvPr/>
        </p:nvSpPr>
        <p:spPr>
          <a:xfrm>
            <a:off x="0" y="0"/>
            <a:ext cx="6949440" cy="6858000"/>
          </a:xfrm>
          <a:prstGeom prst="rect">
            <a:avLst/>
          </a:prstGeom>
          <a:solidFill>
            <a:srgbClr val="0B1A2E">
              <a:alpha val="88000"/>
            </a:srgbClr>
          </a:solidFill>
          <a:ln/>
        </p:spPr>
      </p:sp>
      <p:sp>
        <p:nvSpPr>
          <p:cNvPr id="4" name="Shape 1"/>
          <p:cNvSpPr/>
          <p:nvPr/>
        </p:nvSpPr>
        <p:spPr>
          <a:xfrm>
            <a:off x="0" y="0"/>
            <a:ext cx="201168" cy="6858000"/>
          </a:xfrm>
          <a:prstGeom prst="rect">
            <a:avLst/>
          </a:prstGeom>
          <a:solidFill>
            <a:srgbClr val="F5821F"/>
          </a:solidFill>
          <a:ln/>
        </p:spPr>
      </p:sp>
      <p:sp>
        <p:nvSpPr>
          <p:cNvPr id="5" name="Text 2"/>
          <p:cNvSpPr/>
          <p:nvPr/>
        </p:nvSpPr>
        <p:spPr>
          <a:xfrm>
            <a:off x="777240" y="1417320"/>
            <a:ext cx="6035040" cy="320040"/>
          </a:xfrm>
          <a:prstGeom prst="rect">
            <a:avLst/>
          </a:prstGeom>
          <a:noFill/>
          <a:ln/>
        </p:spPr>
        <p:txBody>
          <a:bodyPr wrap="square" rtlCol="0" anchor="ctr"/>
          <a:lstStyle/>
          <a:p>
            <a:pPr indent="0" marL="0">
              <a:buNone/>
            </a:pPr>
            <a:r>
              <a:rPr lang="en-US" sz="1300" b="1" spc="300" kern="0" dirty="0">
                <a:solidFill>
                  <a:srgbClr val="F5821F"/>
                </a:solidFill>
                <a:latin typeface="Calibri" pitchFamily="34" charset="0"/>
                <a:ea typeface="Calibri" pitchFamily="34" charset="-122"/>
                <a:cs typeface="Calibri" pitchFamily="34" charset="-120"/>
              </a:rPr>
              <a:t>OPERATIONAL INTELLIGENCE PLATFORM</a:t>
            </a:r>
            <a:endParaRPr lang="en-US" sz="1300" dirty="0"/>
          </a:p>
        </p:txBody>
      </p:sp>
      <p:sp>
        <p:nvSpPr>
          <p:cNvPr id="6" name="Text 3"/>
          <p:cNvSpPr/>
          <p:nvPr/>
        </p:nvSpPr>
        <p:spPr>
          <a:xfrm>
            <a:off x="713232" y="1783080"/>
            <a:ext cx="6400800" cy="1143000"/>
          </a:xfrm>
          <a:prstGeom prst="rect">
            <a:avLst/>
          </a:prstGeom>
          <a:noFill/>
          <a:ln/>
        </p:spPr>
        <p:txBody>
          <a:bodyPr wrap="square" rtlCol="0" anchor="ctr"/>
          <a:lstStyle/>
          <a:p>
            <a:pPr indent="0" marL="0">
              <a:buNone/>
            </a:pPr>
            <a:r>
              <a:rPr lang="en-US" sz="6000" dirty="0">
                <a:solidFill>
                  <a:srgbClr val="FFFFFF"/>
                </a:solidFill>
                <a:latin typeface="Arial Black" pitchFamily="34" charset="0"/>
                <a:ea typeface="Arial Black" pitchFamily="34" charset="-122"/>
                <a:cs typeface="Arial Black" pitchFamily="34" charset="-120"/>
              </a:rPr>
              <a:t>Turnaround</a:t>
            </a:r>
            <a:endParaRPr lang="en-US" sz="6000" dirty="0"/>
          </a:p>
        </p:txBody>
      </p:sp>
      <p:sp>
        <p:nvSpPr>
          <p:cNvPr id="7" name="Text 4"/>
          <p:cNvSpPr/>
          <p:nvPr/>
        </p:nvSpPr>
        <p:spPr>
          <a:xfrm>
            <a:off x="777240" y="2926080"/>
            <a:ext cx="5852160" cy="822960"/>
          </a:xfrm>
          <a:prstGeom prst="rect">
            <a:avLst/>
          </a:prstGeom>
          <a:noFill/>
          <a:ln/>
        </p:spPr>
        <p:txBody>
          <a:bodyPr wrap="square" rtlCol="0" anchor="ctr"/>
          <a:lstStyle/>
          <a:p>
            <a:pPr indent="0" marL="0">
              <a:buNone/>
            </a:pPr>
            <a:r>
              <a:rPr lang="en-US" sz="2200" b="1" dirty="0">
                <a:solidFill>
                  <a:srgbClr val="10B981"/>
                </a:solidFill>
                <a:latin typeface="Calibri" pitchFamily="34" charset="0"/>
                <a:ea typeface="Calibri" pitchFamily="34" charset="-122"/>
                <a:cs typeface="Calibri" pitchFamily="34" charset="-120"/>
              </a:rPr>
              <a:t>Operational Intelligence for Fleet and Corridor Logistics</a:t>
            </a:r>
            <a:endParaRPr lang="en-US" sz="2200" dirty="0"/>
          </a:p>
        </p:txBody>
      </p:sp>
      <p:sp>
        <p:nvSpPr>
          <p:cNvPr id="8" name="Text 5"/>
          <p:cNvSpPr/>
          <p:nvPr/>
        </p:nvSpPr>
        <p:spPr>
          <a:xfrm>
            <a:off x="777240" y="3657600"/>
            <a:ext cx="5760720" cy="822960"/>
          </a:xfrm>
          <a:prstGeom prst="rect">
            <a:avLst/>
          </a:prstGeom>
          <a:noFill/>
          <a:ln/>
        </p:spPr>
        <p:txBody>
          <a:bodyPr wrap="square" rtlCol="0" anchor="ctr"/>
          <a:lstStyle/>
          <a:p>
            <a:pPr indent="0" marL="0">
              <a:lnSpc>
                <a:spcPts val="2200"/>
              </a:lnSpc>
              <a:buNone/>
            </a:pPr>
            <a:r>
              <a:rPr lang="en-US" sz="1500" dirty="0">
                <a:solidFill>
                  <a:srgbClr val="9DB2C8"/>
                </a:solidFill>
                <a:latin typeface="Calibri" pitchFamily="34" charset="0"/>
                <a:ea typeface="Calibri" pitchFamily="34" charset="-122"/>
                <a:cs typeface="Calibri" pitchFamily="34" charset="-120"/>
              </a:rPr>
              <a:t>Real-time fleet visibility, dwell monitoring, and cost intelligence for commercial trucking corridors across East Africa.</a:t>
            </a:r>
            <a:endParaRPr lang="en-US" sz="1500" dirty="0"/>
          </a:p>
        </p:txBody>
      </p:sp>
      <p:sp>
        <p:nvSpPr>
          <p:cNvPr id="9" name="Shape 6"/>
          <p:cNvSpPr/>
          <p:nvPr/>
        </p:nvSpPr>
        <p:spPr>
          <a:xfrm>
            <a:off x="777240" y="4617720"/>
            <a:ext cx="2011680" cy="0"/>
          </a:xfrm>
          <a:prstGeom prst="line">
            <a:avLst/>
          </a:prstGeom>
          <a:noFill/>
          <a:ln w="38100">
            <a:solidFill>
              <a:srgbClr val="F5821F"/>
            </a:solidFill>
            <a:prstDash val="solid"/>
          </a:ln>
        </p:spPr>
      </p:sp>
      <p:sp>
        <p:nvSpPr>
          <p:cNvPr id="10" name="Text 7"/>
          <p:cNvSpPr/>
          <p:nvPr/>
        </p:nvSpPr>
        <p:spPr>
          <a:xfrm>
            <a:off x="777240" y="4846320"/>
            <a:ext cx="5486400" cy="1097280"/>
          </a:xfrm>
          <a:prstGeom prst="rect">
            <a:avLst/>
          </a:prstGeom>
          <a:noFill/>
          <a:ln/>
        </p:spPr>
        <p:txBody>
          <a:bodyPr wrap="square" rtlCol="0" anchor="ctr"/>
          <a:lstStyle/>
          <a:p>
            <a:pPr indent="0" marL="0">
              <a:lnSpc>
                <a:spcPts val="2400"/>
              </a:lnSpc>
              <a:buNone/>
            </a:pPr>
            <a:r>
              <a:rPr lang="en-US" sz="1400" dirty="0">
                <a:solidFill>
                  <a:srgbClr val="FFFFFF"/>
                </a:solidFill>
                <a:latin typeface="Calibri" pitchFamily="34" charset="0"/>
                <a:ea typeface="Calibri" pitchFamily="34" charset="-122"/>
                <a:cs typeface="Calibri" pitchFamily="34" charset="-120"/>
              </a:rPr>
              <a:t>Presenter: [YOUR NAME]</a:t>
            </a:r>
            <a:endParaRPr lang="en-US" sz="1400" dirty="0"/>
          </a:p>
          <a:p>
            <a:pPr indent="0" marL="0">
              <a:lnSpc>
                <a:spcPts val="2400"/>
              </a:lnSpc>
              <a:buNone/>
            </a:pPr>
            <a:r>
              <a:rPr lang="en-US" sz="1400" dirty="0">
                <a:solidFill>
                  <a:srgbClr val="FFFFFF"/>
                </a:solidFill>
                <a:latin typeface="Calibri" pitchFamily="34" charset="0"/>
                <a:ea typeface="Calibri" pitchFamily="34" charset="-122"/>
                <a:cs typeface="Calibri" pitchFamily="34" charset="-120"/>
              </a:rPr>
              <a:t>Date: [DATE]</a:t>
            </a:r>
            <a:endParaRPr lang="en-US" sz="1400" dirty="0"/>
          </a:p>
          <a:p>
            <a:pPr indent="0" marL="0">
              <a:lnSpc>
                <a:spcPts val="2400"/>
              </a:lnSpc>
              <a:buNone/>
            </a:pPr>
            <a:r>
              <a:rPr lang="en-US" sz="1400" dirty="0">
                <a:solidFill>
                  <a:srgbClr val="FFFFFF"/>
                </a:solidFill>
                <a:latin typeface="Calibri" pitchFamily="34" charset="0"/>
                <a:ea typeface="Calibri" pitchFamily="34" charset="-122"/>
                <a:cs typeface="Calibri" pitchFamily="34" charset="-120"/>
              </a:rPr>
              <a:t>Demo: [DEMO_URL]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594360" y="384048"/>
            <a:ext cx="7315200" cy="274320"/>
          </a:xfrm>
          <a:prstGeom prst="rect">
            <a:avLst/>
          </a:prstGeom>
          <a:noFill/>
          <a:ln/>
        </p:spPr>
        <p:txBody>
          <a:bodyPr wrap="square" rtlCol="0" anchor="ctr"/>
          <a:lstStyle/>
          <a:p>
            <a:pPr indent="0" marL="0">
              <a:buNone/>
            </a:pPr>
            <a:r>
              <a:rPr lang="en-US" sz="1300" b="1" spc="300" kern="0" dirty="0">
                <a:solidFill>
                  <a:srgbClr val="F5821F"/>
                </a:solidFill>
                <a:latin typeface="Calibri" pitchFamily="34" charset="0"/>
                <a:ea typeface="Calibri" pitchFamily="34" charset="-122"/>
                <a:cs typeface="Calibri" pitchFamily="34" charset="-120"/>
              </a:rPr>
              <a:t>THE PROBLEM</a:t>
            </a:r>
            <a:endParaRPr lang="en-US" sz="1300" dirty="0"/>
          </a:p>
        </p:txBody>
      </p:sp>
      <p:sp>
        <p:nvSpPr>
          <p:cNvPr id="4" name="Text 1"/>
          <p:cNvSpPr/>
          <p:nvPr/>
        </p:nvSpPr>
        <p:spPr>
          <a:xfrm>
            <a:off x="548640" y="685800"/>
            <a:ext cx="10607040" cy="777240"/>
          </a:xfrm>
          <a:prstGeom prst="rect">
            <a:avLst/>
          </a:prstGeom>
          <a:noFill/>
          <a:ln/>
        </p:spPr>
        <p:txBody>
          <a:bodyPr wrap="square" rtlCol="0" anchor="ctr"/>
          <a:lstStyle/>
          <a:p>
            <a:pPr indent="0" marL="0">
              <a:buNone/>
            </a:pPr>
            <a:r>
              <a:rPr lang="en-US" sz="4000" dirty="0">
                <a:solidFill>
                  <a:srgbClr val="FFFFFF"/>
                </a:solidFill>
                <a:latin typeface="Arial Black" pitchFamily="34" charset="0"/>
                <a:ea typeface="Arial Black" pitchFamily="34" charset="-122"/>
                <a:cs typeface="Arial Black" pitchFamily="34" charset="-120"/>
              </a:rPr>
              <a:t>Delay is invisible until it is expensive</a:t>
            </a:r>
            <a:endParaRPr lang="en-US" sz="4000" dirty="0"/>
          </a:p>
        </p:txBody>
      </p:sp>
      <p:sp>
        <p:nvSpPr>
          <p:cNvPr id="5" name="Text 2"/>
          <p:cNvSpPr/>
          <p:nvPr/>
        </p:nvSpPr>
        <p:spPr>
          <a:xfrm>
            <a:off x="594360" y="1783080"/>
            <a:ext cx="5577840" cy="4206240"/>
          </a:xfrm>
          <a:prstGeom prst="rect">
            <a:avLst/>
          </a:prstGeom>
          <a:noFill/>
          <a:ln/>
        </p:spPr>
        <p:txBody>
          <a:bodyPr wrap="square" rtlCol="0" anchor="t"/>
          <a:lstStyle/>
          <a:p>
            <a:pPr marL="342900" indent="-342900">
              <a:lnSpc>
                <a:spcPts val="2600"/>
              </a:lnSpc>
              <a:buSzPct val="100000"/>
              <a:buChar char="▪"/>
            </a:pPr>
            <a:r>
              <a:rPr lang="en-US" sz="1550" dirty="0">
                <a:solidFill>
                  <a:srgbClr val="9DB2C8"/>
                </a:solidFill>
                <a:latin typeface="Calibri" pitchFamily="34" charset="0"/>
                <a:ea typeface="Calibri" pitchFamily="34" charset="-122"/>
                <a:cs typeface="Calibri" pitchFamily="34" charset="-120"/>
              </a:rPr>
              <a:t>Trucks wait at ports, depots, customs yards, weighbridges and customer sites</a:t>
            </a:r>
            <a:endParaRPr lang="en-US" sz="1550" dirty="0"/>
          </a:p>
          <a:p>
            <a:pPr marL="342900" indent="-342900">
              <a:lnSpc>
                <a:spcPts val="2600"/>
              </a:lnSpc>
              <a:buSzPct val="100000"/>
              <a:buChar char="▪"/>
            </a:pPr>
            <a:r>
              <a:rPr lang="en-US" sz="1550" dirty="0">
                <a:solidFill>
                  <a:srgbClr val="9DB2C8"/>
                </a:solidFill>
                <a:latin typeface="Calibri" pitchFamily="34" charset="0"/>
                <a:ea typeface="Calibri" pitchFamily="34" charset="-122"/>
                <a:cs typeface="Calibri" pitchFamily="34" charset="-120"/>
              </a:rPr>
              <a:t>Dispatchers run on phone calls, spreadsheets and disconnected trackers</a:t>
            </a:r>
            <a:endParaRPr lang="en-US" sz="1550" dirty="0"/>
          </a:p>
          <a:p>
            <a:pPr marL="342900" indent="-342900">
              <a:lnSpc>
                <a:spcPts val="2600"/>
              </a:lnSpc>
              <a:buSzPct val="100000"/>
              <a:buChar char="▪"/>
            </a:pPr>
            <a:r>
              <a:rPr lang="en-US" sz="1550" dirty="0">
                <a:solidFill>
                  <a:srgbClr val="9DB2C8"/>
                </a:solidFill>
                <a:latin typeface="Calibri" pitchFamily="34" charset="0"/>
                <a:ea typeface="Calibri" pitchFamily="34" charset="-122"/>
                <a:cs typeface="Calibri" pitchFamily="34" charset="-120"/>
              </a:rPr>
              <a:t>Delays surface late — after SLAs are already breached</a:t>
            </a:r>
            <a:endParaRPr lang="en-US" sz="1550" dirty="0"/>
          </a:p>
          <a:p>
            <a:pPr marL="342900" indent="-342900">
              <a:lnSpc>
                <a:spcPts val="2600"/>
              </a:lnSpc>
              <a:buSzPct val="100000"/>
              <a:buChar char="▪"/>
            </a:pPr>
            <a:r>
              <a:rPr lang="en-US" sz="1550" dirty="0">
                <a:solidFill>
                  <a:srgbClr val="9DB2C8"/>
                </a:solidFill>
                <a:latin typeface="Calibri" pitchFamily="34" charset="0"/>
                <a:ea typeface="Calibri" pitchFamily="34" charset="-122"/>
                <a:cs typeface="Calibri" pitchFamily="34" charset="-120"/>
              </a:rPr>
              <a:t>No clear link between operational delay and financial loss</a:t>
            </a:r>
            <a:endParaRPr lang="en-US" sz="1550" dirty="0"/>
          </a:p>
          <a:p>
            <a:pPr marL="342900" indent="-342900">
              <a:lnSpc>
                <a:spcPts val="2600"/>
              </a:lnSpc>
              <a:buSzPct val="100000"/>
              <a:buChar char="▪"/>
            </a:pPr>
            <a:r>
              <a:rPr lang="en-US" sz="1550" dirty="0">
                <a:solidFill>
                  <a:srgbClr val="9DB2C8"/>
                </a:solidFill>
                <a:latin typeface="Calibri" pitchFamily="34" charset="0"/>
                <a:ea typeface="Calibri" pitchFamily="34" charset="-122"/>
                <a:cs typeface="Calibri" pitchFamily="34" charset="-120"/>
              </a:rPr>
              <a:t>Vehicles, containers, drivers and trips live in separate systems</a:t>
            </a:r>
            <a:endParaRPr lang="en-US" sz="1550" dirty="0"/>
          </a:p>
        </p:txBody>
      </p:sp>
      <p:sp>
        <p:nvSpPr>
          <p:cNvPr id="6" name="Shape 3"/>
          <p:cNvSpPr/>
          <p:nvPr/>
        </p:nvSpPr>
        <p:spPr>
          <a:xfrm>
            <a:off x="594360" y="5074920"/>
            <a:ext cx="5577840" cy="1051560"/>
          </a:xfrm>
          <a:prstGeom prst="roundRect">
            <a:avLst>
              <a:gd name="adj" fmla="val 6957"/>
            </a:avLst>
          </a:prstGeom>
          <a:solidFill>
            <a:srgbClr val="13263D"/>
          </a:solidFill>
          <a:ln w="12700">
            <a:solidFill>
              <a:srgbClr val="27435F"/>
            </a:solidFill>
            <a:prstDash val="solid"/>
          </a:ln>
        </p:spPr>
      </p:sp>
      <p:sp>
        <p:nvSpPr>
          <p:cNvPr id="7" name="Text 4"/>
          <p:cNvSpPr/>
          <p:nvPr/>
        </p:nvSpPr>
        <p:spPr>
          <a:xfrm>
            <a:off x="822960" y="5166360"/>
            <a:ext cx="5120640" cy="868680"/>
          </a:xfrm>
          <a:prstGeom prst="rect">
            <a:avLst/>
          </a:prstGeom>
          <a:noFill/>
          <a:ln/>
        </p:spPr>
        <p:txBody>
          <a:bodyPr wrap="square" rtlCol="0" anchor="ctr"/>
          <a:lstStyle/>
          <a:p>
            <a:pPr indent="0" marL="0">
              <a:lnSpc>
                <a:spcPts val="2000"/>
              </a:lnSpc>
              <a:buNone/>
            </a:pPr>
            <a:r>
              <a:rPr lang="en-US" sz="1300" b="1" dirty="0">
                <a:solidFill>
                  <a:srgbClr val="F5821F"/>
                </a:solidFill>
                <a:latin typeface="Calibri" pitchFamily="34" charset="0"/>
                <a:ea typeface="Calibri" pitchFamily="34" charset="-122"/>
                <a:cs typeface="Calibri" pitchFamily="34" charset="-120"/>
              </a:rPr>
              <a:t>Core problem   </a:t>
            </a:r>
            <a:pPr indent="0" marL="0">
              <a:lnSpc>
                <a:spcPts val="2000"/>
              </a:lnSpc>
              <a:buNone/>
            </a:pPr>
            <a:r>
              <a:rPr lang="en-US" sz="1400" dirty="0">
                <a:solidFill>
                  <a:srgbClr val="FFFFFF"/>
                </a:solidFill>
                <a:latin typeface="Calibri" pitchFamily="34" charset="0"/>
                <a:ea typeface="Calibri" pitchFamily="34" charset="-122"/>
                <a:cs typeface="Calibri" pitchFamily="34" charset="-120"/>
              </a:rPr>
              <a:t>Logistics teams need one operational view that connects movement, delay, cost and action.</a:t>
            </a:r>
            <a:endParaRPr lang="en-US" sz="1300" dirty="0"/>
          </a:p>
        </p:txBody>
      </p:sp>
      <p:pic>
        <p:nvPicPr>
          <p:cNvPr id="8" name="Image 0" descr="preencoded.png">    </p:cNvPr>
          <p:cNvPicPr>
            <a:picLocks noChangeAspect="1"/>
          </p:cNvPicPr>
          <p:nvPr/>
        </p:nvPicPr>
        <p:blipFill>
          <a:blip r:embed="rId1"/>
          <a:srcRect l="0" r="0" t="0" b="0"/>
          <a:stretch/>
        </p:blipFill>
        <p:spPr>
          <a:xfrm>
            <a:off x="6720840" y="1783080"/>
            <a:ext cx="4846320" cy="43434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594360" y="384048"/>
            <a:ext cx="7315200" cy="274320"/>
          </a:xfrm>
          <a:prstGeom prst="rect">
            <a:avLst/>
          </a:prstGeom>
          <a:noFill/>
          <a:ln/>
        </p:spPr>
        <p:txBody>
          <a:bodyPr wrap="square" rtlCol="0" anchor="ctr"/>
          <a:lstStyle/>
          <a:p>
            <a:pPr indent="0" marL="0">
              <a:buNone/>
            </a:pPr>
            <a:r>
              <a:rPr lang="en-US" sz="1300" b="1" spc="300" kern="0" dirty="0">
                <a:solidFill>
                  <a:srgbClr val="F5821F"/>
                </a:solidFill>
                <a:latin typeface="Calibri" pitchFamily="34" charset="0"/>
                <a:ea typeface="Calibri" pitchFamily="34" charset="-122"/>
                <a:cs typeface="Calibri" pitchFamily="34" charset="-120"/>
              </a:rPr>
              <a:t>THE SOLUTION</a:t>
            </a:r>
            <a:endParaRPr lang="en-US" sz="1300" dirty="0"/>
          </a:p>
        </p:txBody>
      </p:sp>
      <p:sp>
        <p:nvSpPr>
          <p:cNvPr id="4" name="Text 1"/>
          <p:cNvSpPr/>
          <p:nvPr/>
        </p:nvSpPr>
        <p:spPr>
          <a:xfrm>
            <a:off x="548640" y="685800"/>
            <a:ext cx="10607040" cy="777240"/>
          </a:xfrm>
          <a:prstGeom prst="rect">
            <a:avLst/>
          </a:prstGeom>
          <a:noFill/>
          <a:ln/>
        </p:spPr>
        <p:txBody>
          <a:bodyPr wrap="square" rtlCol="0" anchor="ctr"/>
          <a:lstStyle/>
          <a:p>
            <a:pPr indent="0" marL="0">
              <a:buNone/>
            </a:pPr>
            <a:r>
              <a:rPr lang="en-US" sz="4000" dirty="0">
                <a:solidFill>
                  <a:srgbClr val="FFFFFF"/>
                </a:solidFill>
                <a:latin typeface="Arial Black" pitchFamily="34" charset="0"/>
                <a:ea typeface="Arial Black" pitchFamily="34" charset="-122"/>
                <a:cs typeface="Arial Black" pitchFamily="34" charset="-120"/>
              </a:rPr>
              <a:t>One platform from telemetry to decision</a:t>
            </a:r>
            <a:endParaRPr lang="en-US" sz="4000" dirty="0"/>
          </a:p>
        </p:txBody>
      </p:sp>
      <p:sp>
        <p:nvSpPr>
          <p:cNvPr id="5" name="Shape 2"/>
          <p:cNvSpPr/>
          <p:nvPr/>
        </p:nvSpPr>
        <p:spPr>
          <a:xfrm>
            <a:off x="594360" y="1828800"/>
            <a:ext cx="2606040" cy="1280160"/>
          </a:xfrm>
          <a:prstGeom prst="roundRect">
            <a:avLst>
              <a:gd name="adj" fmla="val 5714"/>
            </a:avLst>
          </a:prstGeom>
          <a:solidFill>
            <a:srgbClr val="13263D"/>
          </a:solidFill>
          <a:ln w="12700">
            <a:solidFill>
              <a:srgbClr val="27435F"/>
            </a:solidFill>
            <a:prstDash val="solid"/>
          </a:ln>
        </p:spPr>
      </p:sp>
      <p:sp>
        <p:nvSpPr>
          <p:cNvPr id="6" name="Shape 3"/>
          <p:cNvSpPr/>
          <p:nvPr/>
        </p:nvSpPr>
        <p:spPr>
          <a:xfrm>
            <a:off x="594360" y="1975104"/>
            <a:ext cx="64008" cy="987552"/>
          </a:xfrm>
          <a:prstGeom prst="rect">
            <a:avLst/>
          </a:prstGeom>
          <a:solidFill>
            <a:srgbClr val="F5821F"/>
          </a:solidFill>
          <a:ln/>
        </p:spPr>
      </p:sp>
      <p:sp>
        <p:nvSpPr>
          <p:cNvPr id="7" name="Text 4"/>
          <p:cNvSpPr/>
          <p:nvPr/>
        </p:nvSpPr>
        <p:spPr>
          <a:xfrm>
            <a:off x="795528" y="1993392"/>
            <a:ext cx="2286000"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Live corridor tracking</a:t>
            </a:r>
            <a:endParaRPr lang="en-US" sz="1400" dirty="0"/>
          </a:p>
        </p:txBody>
      </p:sp>
      <p:sp>
        <p:nvSpPr>
          <p:cNvPr id="8" name="Text 5"/>
          <p:cNvSpPr/>
          <p:nvPr/>
        </p:nvSpPr>
        <p:spPr>
          <a:xfrm>
            <a:off x="795528" y="2432304"/>
            <a:ext cx="2286000" cy="548640"/>
          </a:xfrm>
          <a:prstGeom prst="rect">
            <a:avLst/>
          </a:prstGeom>
          <a:noFill/>
          <a:ln/>
        </p:spPr>
        <p:txBody>
          <a:bodyPr wrap="square" rtlCol="0" anchor="ctr"/>
          <a:lstStyle/>
          <a:p>
            <a:pPr indent="0" marL="0">
              <a:buNone/>
            </a:pPr>
            <a:r>
              <a:rPr lang="en-US" sz="1150" dirty="0">
                <a:solidFill>
                  <a:srgbClr val="9DB2C8"/>
                </a:solidFill>
                <a:latin typeface="Calibri" pitchFamily="34" charset="0"/>
                <a:ea typeface="Calibri" pitchFamily="34" charset="-122"/>
                <a:cs typeface="Calibri" pitchFamily="34" charset="-120"/>
              </a:rPr>
              <a:t>Vehicles and routes on one map</a:t>
            </a:r>
            <a:endParaRPr lang="en-US" sz="1150" dirty="0"/>
          </a:p>
        </p:txBody>
      </p:sp>
      <p:sp>
        <p:nvSpPr>
          <p:cNvPr id="9" name="Shape 6"/>
          <p:cNvSpPr/>
          <p:nvPr/>
        </p:nvSpPr>
        <p:spPr>
          <a:xfrm>
            <a:off x="3410712" y="1828800"/>
            <a:ext cx="2606040" cy="1280160"/>
          </a:xfrm>
          <a:prstGeom prst="roundRect">
            <a:avLst>
              <a:gd name="adj" fmla="val 5714"/>
            </a:avLst>
          </a:prstGeom>
          <a:solidFill>
            <a:srgbClr val="13263D"/>
          </a:solidFill>
          <a:ln w="12700">
            <a:solidFill>
              <a:srgbClr val="27435F"/>
            </a:solidFill>
            <a:prstDash val="solid"/>
          </a:ln>
        </p:spPr>
      </p:sp>
      <p:sp>
        <p:nvSpPr>
          <p:cNvPr id="10" name="Shape 7"/>
          <p:cNvSpPr/>
          <p:nvPr/>
        </p:nvSpPr>
        <p:spPr>
          <a:xfrm>
            <a:off x="3410712" y="1975104"/>
            <a:ext cx="64008" cy="987552"/>
          </a:xfrm>
          <a:prstGeom prst="rect">
            <a:avLst/>
          </a:prstGeom>
          <a:solidFill>
            <a:srgbClr val="10B981"/>
          </a:solidFill>
          <a:ln/>
        </p:spPr>
      </p:sp>
      <p:sp>
        <p:nvSpPr>
          <p:cNvPr id="11" name="Text 8"/>
          <p:cNvSpPr/>
          <p:nvPr/>
        </p:nvSpPr>
        <p:spPr>
          <a:xfrm>
            <a:off x="3611880" y="1993392"/>
            <a:ext cx="2286000"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Telemetry ingestion</a:t>
            </a:r>
            <a:endParaRPr lang="en-US" sz="1400" dirty="0"/>
          </a:p>
        </p:txBody>
      </p:sp>
      <p:sp>
        <p:nvSpPr>
          <p:cNvPr id="12" name="Text 9"/>
          <p:cNvSpPr/>
          <p:nvPr/>
        </p:nvSpPr>
        <p:spPr>
          <a:xfrm>
            <a:off x="3611880" y="2432304"/>
            <a:ext cx="2286000" cy="548640"/>
          </a:xfrm>
          <a:prstGeom prst="rect">
            <a:avLst/>
          </a:prstGeom>
          <a:noFill/>
          <a:ln/>
        </p:spPr>
        <p:txBody>
          <a:bodyPr wrap="square" rtlCol="0" anchor="ctr"/>
          <a:lstStyle/>
          <a:p>
            <a:pPr indent="0" marL="0">
              <a:buNone/>
            </a:pPr>
            <a:r>
              <a:rPr lang="en-US" sz="1150" dirty="0">
                <a:solidFill>
                  <a:srgbClr val="9DB2C8"/>
                </a:solidFill>
                <a:latin typeface="Calibri" pitchFamily="34" charset="0"/>
                <a:ea typeface="Calibri" pitchFamily="34" charset="-122"/>
                <a:cs typeface="Calibri" pitchFamily="34" charset="-120"/>
              </a:rPr>
              <a:t>Location, speed, heading, time</a:t>
            </a:r>
            <a:endParaRPr lang="en-US" sz="1150" dirty="0"/>
          </a:p>
        </p:txBody>
      </p:sp>
      <p:sp>
        <p:nvSpPr>
          <p:cNvPr id="13" name="Shape 10"/>
          <p:cNvSpPr/>
          <p:nvPr/>
        </p:nvSpPr>
        <p:spPr>
          <a:xfrm>
            <a:off x="6227064" y="1828800"/>
            <a:ext cx="2606040" cy="1280160"/>
          </a:xfrm>
          <a:prstGeom prst="roundRect">
            <a:avLst>
              <a:gd name="adj" fmla="val 5714"/>
            </a:avLst>
          </a:prstGeom>
          <a:solidFill>
            <a:srgbClr val="13263D"/>
          </a:solidFill>
          <a:ln w="12700">
            <a:solidFill>
              <a:srgbClr val="27435F"/>
            </a:solidFill>
            <a:prstDash val="solid"/>
          </a:ln>
        </p:spPr>
      </p:sp>
      <p:sp>
        <p:nvSpPr>
          <p:cNvPr id="14" name="Shape 11"/>
          <p:cNvSpPr/>
          <p:nvPr/>
        </p:nvSpPr>
        <p:spPr>
          <a:xfrm>
            <a:off x="6227064" y="1975104"/>
            <a:ext cx="64008" cy="987552"/>
          </a:xfrm>
          <a:prstGeom prst="rect">
            <a:avLst/>
          </a:prstGeom>
          <a:solidFill>
            <a:srgbClr val="F5821F"/>
          </a:solidFill>
          <a:ln/>
        </p:spPr>
      </p:sp>
      <p:sp>
        <p:nvSpPr>
          <p:cNvPr id="15" name="Text 12"/>
          <p:cNvSpPr/>
          <p:nvPr/>
        </p:nvSpPr>
        <p:spPr>
          <a:xfrm>
            <a:off x="6428232" y="1993392"/>
            <a:ext cx="2286000"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Geofence monitoring</a:t>
            </a:r>
            <a:endParaRPr lang="en-US" sz="1400" dirty="0"/>
          </a:p>
        </p:txBody>
      </p:sp>
      <p:sp>
        <p:nvSpPr>
          <p:cNvPr id="16" name="Text 13"/>
          <p:cNvSpPr/>
          <p:nvPr/>
        </p:nvSpPr>
        <p:spPr>
          <a:xfrm>
            <a:off x="6428232" y="2432304"/>
            <a:ext cx="2286000" cy="548640"/>
          </a:xfrm>
          <a:prstGeom prst="rect">
            <a:avLst/>
          </a:prstGeom>
          <a:noFill/>
          <a:ln/>
        </p:spPr>
        <p:txBody>
          <a:bodyPr wrap="square" rtlCol="0" anchor="ctr"/>
          <a:lstStyle/>
          <a:p>
            <a:pPr indent="0" marL="0">
              <a:buNone/>
            </a:pPr>
            <a:r>
              <a:rPr lang="en-US" sz="1150" dirty="0">
                <a:solidFill>
                  <a:srgbClr val="9DB2C8"/>
                </a:solidFill>
                <a:latin typeface="Calibri" pitchFamily="34" charset="0"/>
                <a:ea typeface="Calibri" pitchFamily="34" charset="-122"/>
                <a:cs typeface="Calibri" pitchFamily="34" charset="-120"/>
              </a:rPr>
              <a:t>Facilities and corridor zones</a:t>
            </a:r>
            <a:endParaRPr lang="en-US" sz="1150" dirty="0"/>
          </a:p>
        </p:txBody>
      </p:sp>
      <p:sp>
        <p:nvSpPr>
          <p:cNvPr id="17" name="Shape 14"/>
          <p:cNvSpPr/>
          <p:nvPr/>
        </p:nvSpPr>
        <p:spPr>
          <a:xfrm>
            <a:off x="9043416" y="1828800"/>
            <a:ext cx="2606040" cy="1280160"/>
          </a:xfrm>
          <a:prstGeom prst="roundRect">
            <a:avLst>
              <a:gd name="adj" fmla="val 5714"/>
            </a:avLst>
          </a:prstGeom>
          <a:solidFill>
            <a:srgbClr val="13263D"/>
          </a:solidFill>
          <a:ln w="12700">
            <a:solidFill>
              <a:srgbClr val="27435F"/>
            </a:solidFill>
            <a:prstDash val="solid"/>
          </a:ln>
        </p:spPr>
      </p:sp>
      <p:sp>
        <p:nvSpPr>
          <p:cNvPr id="18" name="Shape 15"/>
          <p:cNvSpPr/>
          <p:nvPr/>
        </p:nvSpPr>
        <p:spPr>
          <a:xfrm>
            <a:off x="9043416" y="1975104"/>
            <a:ext cx="64008" cy="987552"/>
          </a:xfrm>
          <a:prstGeom prst="rect">
            <a:avLst/>
          </a:prstGeom>
          <a:solidFill>
            <a:srgbClr val="10B981"/>
          </a:solidFill>
          <a:ln/>
        </p:spPr>
      </p:sp>
      <p:sp>
        <p:nvSpPr>
          <p:cNvPr id="19" name="Text 16"/>
          <p:cNvSpPr/>
          <p:nvPr/>
        </p:nvSpPr>
        <p:spPr>
          <a:xfrm>
            <a:off x="9244584" y="1993392"/>
            <a:ext cx="2286000"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Dwell detection</a:t>
            </a:r>
            <a:endParaRPr lang="en-US" sz="1400" dirty="0"/>
          </a:p>
        </p:txBody>
      </p:sp>
      <p:sp>
        <p:nvSpPr>
          <p:cNvPr id="20" name="Text 17"/>
          <p:cNvSpPr/>
          <p:nvPr/>
        </p:nvSpPr>
        <p:spPr>
          <a:xfrm>
            <a:off x="9244584" y="2432304"/>
            <a:ext cx="2286000" cy="548640"/>
          </a:xfrm>
          <a:prstGeom prst="rect">
            <a:avLst/>
          </a:prstGeom>
          <a:noFill/>
          <a:ln/>
        </p:spPr>
        <p:txBody>
          <a:bodyPr wrap="square" rtlCol="0" anchor="ctr"/>
          <a:lstStyle/>
          <a:p>
            <a:pPr indent="0" marL="0">
              <a:buNone/>
            </a:pPr>
            <a:r>
              <a:rPr lang="en-US" sz="1150" dirty="0">
                <a:solidFill>
                  <a:srgbClr val="9DB2C8"/>
                </a:solidFill>
                <a:latin typeface="Calibri" pitchFamily="34" charset="0"/>
                <a:ea typeface="Calibri" pitchFamily="34" charset="-122"/>
                <a:cs typeface="Calibri" pitchFamily="34" charset="-120"/>
              </a:rPr>
              <a:t>Arrival, dwell and departure states</a:t>
            </a:r>
            <a:endParaRPr lang="en-US" sz="1150" dirty="0"/>
          </a:p>
        </p:txBody>
      </p:sp>
      <p:sp>
        <p:nvSpPr>
          <p:cNvPr id="21" name="Shape 18"/>
          <p:cNvSpPr/>
          <p:nvPr/>
        </p:nvSpPr>
        <p:spPr>
          <a:xfrm>
            <a:off x="594360" y="3310128"/>
            <a:ext cx="2606040" cy="1280160"/>
          </a:xfrm>
          <a:prstGeom prst="roundRect">
            <a:avLst>
              <a:gd name="adj" fmla="val 5714"/>
            </a:avLst>
          </a:prstGeom>
          <a:solidFill>
            <a:srgbClr val="13263D"/>
          </a:solidFill>
          <a:ln w="12700">
            <a:solidFill>
              <a:srgbClr val="27435F"/>
            </a:solidFill>
            <a:prstDash val="solid"/>
          </a:ln>
        </p:spPr>
      </p:sp>
      <p:sp>
        <p:nvSpPr>
          <p:cNvPr id="22" name="Shape 19"/>
          <p:cNvSpPr/>
          <p:nvPr/>
        </p:nvSpPr>
        <p:spPr>
          <a:xfrm>
            <a:off x="594360" y="3456432"/>
            <a:ext cx="64008" cy="987552"/>
          </a:xfrm>
          <a:prstGeom prst="rect">
            <a:avLst/>
          </a:prstGeom>
          <a:solidFill>
            <a:srgbClr val="F5821F"/>
          </a:solidFill>
          <a:ln/>
        </p:spPr>
      </p:sp>
      <p:sp>
        <p:nvSpPr>
          <p:cNvPr id="23" name="Text 20"/>
          <p:cNvSpPr/>
          <p:nvPr/>
        </p:nvSpPr>
        <p:spPr>
          <a:xfrm>
            <a:off x="795528" y="3474720"/>
            <a:ext cx="2286000"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SLA and delay analysis</a:t>
            </a:r>
            <a:endParaRPr lang="en-US" sz="1400" dirty="0"/>
          </a:p>
        </p:txBody>
      </p:sp>
      <p:sp>
        <p:nvSpPr>
          <p:cNvPr id="24" name="Text 21"/>
          <p:cNvSpPr/>
          <p:nvPr/>
        </p:nvSpPr>
        <p:spPr>
          <a:xfrm>
            <a:off x="795528" y="3913632"/>
            <a:ext cx="2286000" cy="548640"/>
          </a:xfrm>
          <a:prstGeom prst="rect">
            <a:avLst/>
          </a:prstGeom>
          <a:noFill/>
          <a:ln/>
        </p:spPr>
        <p:txBody>
          <a:bodyPr wrap="square" rtlCol="0" anchor="ctr"/>
          <a:lstStyle/>
          <a:p>
            <a:pPr indent="0" marL="0">
              <a:buNone/>
            </a:pPr>
            <a:r>
              <a:rPr lang="en-US" sz="1150" dirty="0">
                <a:solidFill>
                  <a:srgbClr val="9DB2C8"/>
                </a:solidFill>
                <a:latin typeface="Calibri" pitchFamily="34" charset="0"/>
                <a:ea typeface="Calibri" pitchFamily="34" charset="-122"/>
                <a:cs typeface="Calibri" pitchFamily="34" charset="-120"/>
              </a:rPr>
              <a:t>Actual versus expected dwell</a:t>
            </a:r>
            <a:endParaRPr lang="en-US" sz="1150" dirty="0"/>
          </a:p>
        </p:txBody>
      </p:sp>
      <p:sp>
        <p:nvSpPr>
          <p:cNvPr id="25" name="Shape 22"/>
          <p:cNvSpPr/>
          <p:nvPr/>
        </p:nvSpPr>
        <p:spPr>
          <a:xfrm>
            <a:off x="3410712" y="3310128"/>
            <a:ext cx="2606040" cy="1280160"/>
          </a:xfrm>
          <a:prstGeom prst="roundRect">
            <a:avLst>
              <a:gd name="adj" fmla="val 5714"/>
            </a:avLst>
          </a:prstGeom>
          <a:solidFill>
            <a:srgbClr val="13263D"/>
          </a:solidFill>
          <a:ln w="12700">
            <a:solidFill>
              <a:srgbClr val="27435F"/>
            </a:solidFill>
            <a:prstDash val="solid"/>
          </a:ln>
        </p:spPr>
      </p:sp>
      <p:sp>
        <p:nvSpPr>
          <p:cNvPr id="26" name="Shape 23"/>
          <p:cNvSpPr/>
          <p:nvPr/>
        </p:nvSpPr>
        <p:spPr>
          <a:xfrm>
            <a:off x="3410712" y="3456432"/>
            <a:ext cx="64008" cy="987552"/>
          </a:xfrm>
          <a:prstGeom prst="rect">
            <a:avLst/>
          </a:prstGeom>
          <a:solidFill>
            <a:srgbClr val="10B981"/>
          </a:solidFill>
          <a:ln/>
        </p:spPr>
      </p:sp>
      <p:sp>
        <p:nvSpPr>
          <p:cNvPr id="27" name="Text 24"/>
          <p:cNvSpPr/>
          <p:nvPr/>
        </p:nvSpPr>
        <p:spPr>
          <a:xfrm>
            <a:off x="3611880" y="3474720"/>
            <a:ext cx="2286000"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Operating-cost impact</a:t>
            </a:r>
            <a:endParaRPr lang="en-US" sz="1400" dirty="0"/>
          </a:p>
        </p:txBody>
      </p:sp>
      <p:sp>
        <p:nvSpPr>
          <p:cNvPr id="28" name="Text 25"/>
          <p:cNvSpPr/>
          <p:nvPr/>
        </p:nvSpPr>
        <p:spPr>
          <a:xfrm>
            <a:off x="3611880" y="3913632"/>
            <a:ext cx="2286000" cy="548640"/>
          </a:xfrm>
          <a:prstGeom prst="rect">
            <a:avLst/>
          </a:prstGeom>
          <a:noFill/>
          <a:ln/>
        </p:spPr>
        <p:txBody>
          <a:bodyPr wrap="square" rtlCol="0" anchor="ctr"/>
          <a:lstStyle/>
          <a:p>
            <a:pPr indent="0" marL="0">
              <a:buNone/>
            </a:pPr>
            <a:r>
              <a:rPr lang="en-US" sz="1150" dirty="0">
                <a:solidFill>
                  <a:srgbClr val="9DB2C8"/>
                </a:solidFill>
                <a:latin typeface="Calibri" pitchFamily="34" charset="0"/>
                <a:ea typeface="Calibri" pitchFamily="34" charset="-122"/>
                <a:cs typeface="Calibri" pitchFamily="34" charset="-120"/>
              </a:rPr>
              <a:t>Excess minutes priced as loss</a:t>
            </a:r>
            <a:endParaRPr lang="en-US" sz="1150" dirty="0"/>
          </a:p>
        </p:txBody>
      </p:sp>
      <p:sp>
        <p:nvSpPr>
          <p:cNvPr id="29" name="Shape 26"/>
          <p:cNvSpPr/>
          <p:nvPr/>
        </p:nvSpPr>
        <p:spPr>
          <a:xfrm>
            <a:off x="6227064" y="3310128"/>
            <a:ext cx="2606040" cy="1280160"/>
          </a:xfrm>
          <a:prstGeom prst="roundRect">
            <a:avLst>
              <a:gd name="adj" fmla="val 5714"/>
            </a:avLst>
          </a:prstGeom>
          <a:solidFill>
            <a:srgbClr val="13263D"/>
          </a:solidFill>
          <a:ln w="12700">
            <a:solidFill>
              <a:srgbClr val="27435F"/>
            </a:solidFill>
            <a:prstDash val="solid"/>
          </a:ln>
        </p:spPr>
      </p:sp>
      <p:sp>
        <p:nvSpPr>
          <p:cNvPr id="30" name="Shape 27"/>
          <p:cNvSpPr/>
          <p:nvPr/>
        </p:nvSpPr>
        <p:spPr>
          <a:xfrm>
            <a:off x="6227064" y="3456432"/>
            <a:ext cx="64008" cy="987552"/>
          </a:xfrm>
          <a:prstGeom prst="rect">
            <a:avLst/>
          </a:prstGeom>
          <a:solidFill>
            <a:srgbClr val="F5821F"/>
          </a:solidFill>
          <a:ln/>
        </p:spPr>
      </p:sp>
      <p:sp>
        <p:nvSpPr>
          <p:cNvPr id="31" name="Text 28"/>
          <p:cNvSpPr/>
          <p:nvPr/>
        </p:nvSpPr>
        <p:spPr>
          <a:xfrm>
            <a:off x="6428232" y="3474720"/>
            <a:ext cx="2286000"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Dispatch and containers</a:t>
            </a:r>
            <a:endParaRPr lang="en-US" sz="1400" dirty="0"/>
          </a:p>
        </p:txBody>
      </p:sp>
      <p:sp>
        <p:nvSpPr>
          <p:cNvPr id="32" name="Text 29"/>
          <p:cNvSpPr/>
          <p:nvPr/>
        </p:nvSpPr>
        <p:spPr>
          <a:xfrm>
            <a:off x="6428232" y="3913632"/>
            <a:ext cx="2286000" cy="548640"/>
          </a:xfrm>
          <a:prstGeom prst="rect">
            <a:avLst/>
          </a:prstGeom>
          <a:noFill/>
          <a:ln/>
        </p:spPr>
        <p:txBody>
          <a:bodyPr wrap="square" rtlCol="0" anchor="ctr"/>
          <a:lstStyle/>
          <a:p>
            <a:pPr indent="0" marL="0">
              <a:buNone/>
            </a:pPr>
            <a:r>
              <a:rPr lang="en-US" sz="1150" dirty="0">
                <a:solidFill>
                  <a:srgbClr val="9DB2C8"/>
                </a:solidFill>
                <a:latin typeface="Calibri" pitchFamily="34" charset="0"/>
                <a:ea typeface="Calibri" pitchFamily="34" charset="-122"/>
                <a:cs typeface="Calibri" pitchFamily="34" charset="-120"/>
              </a:rPr>
              <a:t>Trips, cargo equipment, seals</a:t>
            </a:r>
            <a:endParaRPr lang="en-US" sz="1150" dirty="0"/>
          </a:p>
        </p:txBody>
      </p:sp>
      <p:sp>
        <p:nvSpPr>
          <p:cNvPr id="33" name="Shape 30"/>
          <p:cNvSpPr/>
          <p:nvPr/>
        </p:nvSpPr>
        <p:spPr>
          <a:xfrm>
            <a:off x="9043416" y="3310128"/>
            <a:ext cx="2606040" cy="1280160"/>
          </a:xfrm>
          <a:prstGeom prst="roundRect">
            <a:avLst>
              <a:gd name="adj" fmla="val 5714"/>
            </a:avLst>
          </a:prstGeom>
          <a:solidFill>
            <a:srgbClr val="13263D"/>
          </a:solidFill>
          <a:ln w="12700">
            <a:solidFill>
              <a:srgbClr val="27435F"/>
            </a:solidFill>
            <a:prstDash val="solid"/>
          </a:ln>
        </p:spPr>
      </p:sp>
      <p:sp>
        <p:nvSpPr>
          <p:cNvPr id="34" name="Shape 31"/>
          <p:cNvSpPr/>
          <p:nvPr/>
        </p:nvSpPr>
        <p:spPr>
          <a:xfrm>
            <a:off x="9043416" y="3456432"/>
            <a:ext cx="64008" cy="987552"/>
          </a:xfrm>
          <a:prstGeom prst="rect">
            <a:avLst/>
          </a:prstGeom>
          <a:solidFill>
            <a:srgbClr val="10B981"/>
          </a:solidFill>
          <a:ln/>
        </p:spPr>
      </p:sp>
      <p:sp>
        <p:nvSpPr>
          <p:cNvPr id="35" name="Text 32"/>
          <p:cNvSpPr/>
          <p:nvPr/>
        </p:nvSpPr>
        <p:spPr>
          <a:xfrm>
            <a:off x="9244584" y="3474720"/>
            <a:ext cx="2286000"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Fleet and driver view</a:t>
            </a:r>
            <a:endParaRPr lang="en-US" sz="1400" dirty="0"/>
          </a:p>
        </p:txBody>
      </p:sp>
      <p:sp>
        <p:nvSpPr>
          <p:cNvPr id="36" name="Text 33"/>
          <p:cNvSpPr/>
          <p:nvPr/>
        </p:nvSpPr>
        <p:spPr>
          <a:xfrm>
            <a:off x="9244584" y="3913632"/>
            <a:ext cx="2286000" cy="548640"/>
          </a:xfrm>
          <a:prstGeom prst="rect">
            <a:avLst/>
          </a:prstGeom>
          <a:noFill/>
          <a:ln/>
        </p:spPr>
        <p:txBody>
          <a:bodyPr wrap="square" rtlCol="0" anchor="ctr"/>
          <a:lstStyle/>
          <a:p>
            <a:pPr indent="0" marL="0">
              <a:buNone/>
            </a:pPr>
            <a:r>
              <a:rPr lang="en-US" sz="1150" dirty="0">
                <a:solidFill>
                  <a:srgbClr val="9DB2C8"/>
                </a:solidFill>
                <a:latin typeface="Calibri" pitchFamily="34" charset="0"/>
                <a:ea typeface="Calibri" pitchFamily="34" charset="-122"/>
                <a:cs typeface="Calibri" pitchFamily="34" charset="-120"/>
              </a:rPr>
              <a:t>Assets, drivers, availability</a:t>
            </a:r>
            <a:endParaRPr lang="en-US" sz="1150" dirty="0"/>
          </a:p>
        </p:txBody>
      </p:sp>
      <p:sp>
        <p:nvSpPr>
          <p:cNvPr id="37" name="Shape 34"/>
          <p:cNvSpPr/>
          <p:nvPr/>
        </p:nvSpPr>
        <p:spPr>
          <a:xfrm>
            <a:off x="594360" y="5029200"/>
            <a:ext cx="10954512" cy="868680"/>
          </a:xfrm>
          <a:prstGeom prst="roundRect">
            <a:avLst>
              <a:gd name="adj" fmla="val 8421"/>
            </a:avLst>
          </a:prstGeom>
          <a:solidFill>
            <a:srgbClr val="1B3350"/>
          </a:solidFill>
          <a:ln w="12700">
            <a:solidFill>
              <a:srgbClr val="27435F"/>
            </a:solidFill>
            <a:prstDash val="solid"/>
          </a:ln>
        </p:spPr>
      </p:sp>
      <p:sp>
        <p:nvSpPr>
          <p:cNvPr id="38" name="Text 35"/>
          <p:cNvSpPr/>
          <p:nvPr/>
        </p:nvSpPr>
        <p:spPr>
          <a:xfrm>
            <a:off x="868680" y="5029200"/>
            <a:ext cx="10424160" cy="868680"/>
          </a:xfrm>
          <a:prstGeom prst="rect">
            <a:avLst/>
          </a:prstGeom>
          <a:noFill/>
          <a:ln/>
        </p:spPr>
        <p:txBody>
          <a:bodyPr wrap="square" rtlCol="0" anchor="ctr"/>
          <a:lstStyle/>
          <a:p>
            <a:pPr indent="0" marL="0">
              <a:buNone/>
            </a:pPr>
            <a:r>
              <a:rPr lang="en-US" sz="1300" b="1" dirty="0">
                <a:solidFill>
                  <a:srgbClr val="10B981"/>
                </a:solidFill>
                <a:latin typeface="Calibri" pitchFamily="34" charset="0"/>
                <a:ea typeface="Calibri" pitchFamily="34" charset="-122"/>
                <a:cs typeface="Calibri" pitchFamily="34" charset="-120"/>
              </a:rPr>
              <a:t>Outcome   </a:t>
            </a:r>
            <a:pPr indent="0" marL="0">
              <a:buNone/>
            </a:pPr>
            <a:r>
              <a:rPr lang="en-US" sz="1500" dirty="0">
                <a:solidFill>
                  <a:srgbClr val="FFFFFF"/>
                </a:solidFill>
                <a:latin typeface="Calibri" pitchFamily="34" charset="0"/>
                <a:ea typeface="Calibri" pitchFamily="34" charset="-122"/>
                <a:cs typeface="Calibri" pitchFamily="34" charset="-120"/>
              </a:rPr>
              <a:t>Identify bottlenecks earlier, respond faster, and reduce unrecovered idle costs.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594360" y="384048"/>
            <a:ext cx="7315200" cy="274320"/>
          </a:xfrm>
          <a:prstGeom prst="rect">
            <a:avLst/>
          </a:prstGeom>
          <a:noFill/>
          <a:ln/>
        </p:spPr>
        <p:txBody>
          <a:bodyPr wrap="square" rtlCol="0" anchor="ctr"/>
          <a:lstStyle/>
          <a:p>
            <a:pPr indent="0" marL="0">
              <a:buNone/>
            </a:pPr>
            <a:r>
              <a:rPr lang="en-US" sz="1300" b="1" spc="300" kern="0" dirty="0">
                <a:solidFill>
                  <a:srgbClr val="F5821F"/>
                </a:solidFill>
                <a:latin typeface="Calibri" pitchFamily="34" charset="0"/>
                <a:ea typeface="Calibri" pitchFamily="34" charset="-122"/>
                <a:cs typeface="Calibri" pitchFamily="34" charset="-120"/>
              </a:rPr>
              <a:t>HOW IT WORKS</a:t>
            </a:r>
            <a:endParaRPr lang="en-US" sz="1300" dirty="0"/>
          </a:p>
        </p:txBody>
      </p:sp>
      <p:sp>
        <p:nvSpPr>
          <p:cNvPr id="4" name="Text 1"/>
          <p:cNvSpPr/>
          <p:nvPr/>
        </p:nvSpPr>
        <p:spPr>
          <a:xfrm>
            <a:off x="548640" y="685800"/>
            <a:ext cx="10607040" cy="777240"/>
          </a:xfrm>
          <a:prstGeom prst="rect">
            <a:avLst/>
          </a:prstGeom>
          <a:noFill/>
          <a:ln/>
        </p:spPr>
        <p:txBody>
          <a:bodyPr wrap="square" rtlCol="0" anchor="ctr"/>
          <a:lstStyle/>
          <a:p>
            <a:pPr indent="0" marL="0">
              <a:buNone/>
            </a:pPr>
            <a:r>
              <a:rPr lang="en-US" sz="4000" dirty="0">
                <a:solidFill>
                  <a:srgbClr val="FFFFFF"/>
                </a:solidFill>
                <a:latin typeface="Arial Black" pitchFamily="34" charset="0"/>
                <a:ea typeface="Arial Black" pitchFamily="34" charset="-122"/>
                <a:cs typeface="Arial Black" pitchFamily="34" charset="-120"/>
              </a:rPr>
              <a:t>GPS signal to business intelligence</a:t>
            </a:r>
            <a:endParaRPr lang="en-US" sz="4000" dirty="0"/>
          </a:p>
        </p:txBody>
      </p:sp>
      <p:sp>
        <p:nvSpPr>
          <p:cNvPr id="5" name="Shape 2"/>
          <p:cNvSpPr/>
          <p:nvPr/>
        </p:nvSpPr>
        <p:spPr>
          <a:xfrm>
            <a:off x="594360" y="1828800"/>
            <a:ext cx="2468880" cy="1463040"/>
          </a:xfrm>
          <a:prstGeom prst="roundRect">
            <a:avLst>
              <a:gd name="adj" fmla="val 5000"/>
            </a:avLst>
          </a:prstGeom>
          <a:solidFill>
            <a:srgbClr val="13263D"/>
          </a:solidFill>
          <a:ln w="12700">
            <a:solidFill>
              <a:srgbClr val="27435F"/>
            </a:solidFill>
            <a:prstDash val="solid"/>
          </a:ln>
        </p:spPr>
      </p:sp>
      <p:sp>
        <p:nvSpPr>
          <p:cNvPr id="6" name="Shape 3"/>
          <p:cNvSpPr/>
          <p:nvPr/>
        </p:nvSpPr>
        <p:spPr>
          <a:xfrm>
            <a:off x="758952" y="1993392"/>
            <a:ext cx="384048" cy="384048"/>
          </a:xfrm>
          <a:prstGeom prst="ellipse">
            <a:avLst/>
          </a:prstGeom>
          <a:solidFill>
            <a:srgbClr val="F5821F"/>
          </a:solidFill>
          <a:ln/>
        </p:spPr>
      </p:sp>
      <p:sp>
        <p:nvSpPr>
          <p:cNvPr id="7" name="Text 4"/>
          <p:cNvSpPr/>
          <p:nvPr/>
        </p:nvSpPr>
        <p:spPr>
          <a:xfrm>
            <a:off x="758952" y="1993392"/>
            <a:ext cx="384048" cy="384048"/>
          </a:xfrm>
          <a:prstGeom prst="rect">
            <a:avLst/>
          </a:prstGeom>
          <a:noFill/>
          <a:ln/>
        </p:spPr>
        <p:txBody>
          <a:bodyPr wrap="square" lIns="0" tIns="0" rIns="0" bIns="0" rtlCol="0" anchor="ctr"/>
          <a:lstStyle/>
          <a:p>
            <a:pPr algn="ctr" indent="0" marL="0">
              <a:buNone/>
            </a:pPr>
            <a:r>
              <a:rPr lang="en-US" sz="1100" b="1" dirty="0">
                <a:solidFill>
                  <a:srgbClr val="0B1A2E"/>
                </a:solidFill>
                <a:latin typeface="Calibri" pitchFamily="34" charset="0"/>
                <a:ea typeface="Calibri" pitchFamily="34" charset="-122"/>
                <a:cs typeface="Calibri" pitchFamily="34" charset="-120"/>
              </a:rPr>
              <a:t>01</a:t>
            </a:r>
            <a:endParaRPr lang="en-US" sz="1100" dirty="0"/>
          </a:p>
        </p:txBody>
      </p:sp>
      <p:sp>
        <p:nvSpPr>
          <p:cNvPr id="8" name="Text 5"/>
          <p:cNvSpPr/>
          <p:nvPr/>
        </p:nvSpPr>
        <p:spPr>
          <a:xfrm>
            <a:off x="758952" y="2468880"/>
            <a:ext cx="214884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GPS Device</a:t>
            </a:r>
            <a:endParaRPr lang="en-US" sz="1400" dirty="0"/>
          </a:p>
        </p:txBody>
      </p:sp>
      <p:sp>
        <p:nvSpPr>
          <p:cNvPr id="9" name="Text 6"/>
          <p:cNvSpPr/>
          <p:nvPr/>
        </p:nvSpPr>
        <p:spPr>
          <a:xfrm>
            <a:off x="758952" y="2788920"/>
            <a:ext cx="2148840" cy="411480"/>
          </a:xfrm>
          <a:prstGeom prst="rect">
            <a:avLst/>
          </a:prstGeom>
          <a:noFill/>
          <a:ln/>
        </p:spPr>
        <p:txBody>
          <a:bodyPr wrap="square" rtlCol="0" anchor="ctr"/>
          <a:lstStyle/>
          <a:p>
            <a:pPr indent="0" marL="0">
              <a:buNone/>
            </a:pPr>
            <a:r>
              <a:rPr lang="en-US" sz="1100" dirty="0">
                <a:solidFill>
                  <a:srgbClr val="9DB2C8"/>
                </a:solidFill>
                <a:latin typeface="Calibri" pitchFamily="34" charset="0"/>
                <a:ea typeface="Calibri" pitchFamily="34" charset="-122"/>
                <a:cs typeface="Calibri" pitchFamily="34" charset="-120"/>
              </a:rPr>
              <a:t>Location, speed, heading</a:t>
            </a:r>
            <a:endParaRPr lang="en-US" sz="1100" dirty="0"/>
          </a:p>
        </p:txBody>
      </p:sp>
      <p:sp>
        <p:nvSpPr>
          <p:cNvPr id="10" name="Shape 7"/>
          <p:cNvSpPr/>
          <p:nvPr/>
        </p:nvSpPr>
        <p:spPr>
          <a:xfrm>
            <a:off x="3118104" y="2487168"/>
            <a:ext cx="237744" cy="164592"/>
          </a:xfrm>
          <a:prstGeom prst="rightArrow">
            <a:avLst/>
          </a:prstGeom>
          <a:solidFill>
            <a:srgbClr val="F5821F"/>
          </a:solidFill>
          <a:ln w="12700">
            <a:solidFill>
              <a:srgbClr val="F5821F"/>
            </a:solidFill>
            <a:prstDash val="solid"/>
          </a:ln>
        </p:spPr>
      </p:sp>
      <p:sp>
        <p:nvSpPr>
          <p:cNvPr id="11" name="Shape 8"/>
          <p:cNvSpPr/>
          <p:nvPr/>
        </p:nvSpPr>
        <p:spPr>
          <a:xfrm>
            <a:off x="3410712" y="1828800"/>
            <a:ext cx="2468880" cy="1463040"/>
          </a:xfrm>
          <a:prstGeom prst="roundRect">
            <a:avLst>
              <a:gd name="adj" fmla="val 5000"/>
            </a:avLst>
          </a:prstGeom>
          <a:solidFill>
            <a:srgbClr val="13263D"/>
          </a:solidFill>
          <a:ln w="12700">
            <a:solidFill>
              <a:srgbClr val="27435F"/>
            </a:solidFill>
            <a:prstDash val="solid"/>
          </a:ln>
        </p:spPr>
      </p:sp>
      <p:sp>
        <p:nvSpPr>
          <p:cNvPr id="12" name="Shape 9"/>
          <p:cNvSpPr/>
          <p:nvPr/>
        </p:nvSpPr>
        <p:spPr>
          <a:xfrm>
            <a:off x="3575304" y="1993392"/>
            <a:ext cx="384048" cy="384048"/>
          </a:xfrm>
          <a:prstGeom prst="ellipse">
            <a:avLst/>
          </a:prstGeom>
          <a:solidFill>
            <a:srgbClr val="F5821F"/>
          </a:solidFill>
          <a:ln/>
        </p:spPr>
      </p:sp>
      <p:sp>
        <p:nvSpPr>
          <p:cNvPr id="13" name="Text 10"/>
          <p:cNvSpPr/>
          <p:nvPr/>
        </p:nvSpPr>
        <p:spPr>
          <a:xfrm>
            <a:off x="3575304" y="1993392"/>
            <a:ext cx="384048" cy="384048"/>
          </a:xfrm>
          <a:prstGeom prst="rect">
            <a:avLst/>
          </a:prstGeom>
          <a:noFill/>
          <a:ln/>
        </p:spPr>
        <p:txBody>
          <a:bodyPr wrap="square" lIns="0" tIns="0" rIns="0" bIns="0" rtlCol="0" anchor="ctr"/>
          <a:lstStyle/>
          <a:p>
            <a:pPr algn="ctr" indent="0" marL="0">
              <a:buNone/>
            </a:pPr>
            <a:r>
              <a:rPr lang="en-US" sz="1100" b="1" dirty="0">
                <a:solidFill>
                  <a:srgbClr val="0B1A2E"/>
                </a:solidFill>
                <a:latin typeface="Calibri" pitchFamily="34" charset="0"/>
                <a:ea typeface="Calibri" pitchFamily="34" charset="-122"/>
                <a:cs typeface="Calibri" pitchFamily="34" charset="-120"/>
              </a:rPr>
              <a:t>02</a:t>
            </a:r>
            <a:endParaRPr lang="en-US" sz="1100" dirty="0"/>
          </a:p>
        </p:txBody>
      </p:sp>
      <p:sp>
        <p:nvSpPr>
          <p:cNvPr id="14" name="Text 11"/>
          <p:cNvSpPr/>
          <p:nvPr/>
        </p:nvSpPr>
        <p:spPr>
          <a:xfrm>
            <a:off x="3575304" y="2468880"/>
            <a:ext cx="214884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Telemetry Ingestion</a:t>
            </a:r>
            <a:endParaRPr lang="en-US" sz="1400" dirty="0"/>
          </a:p>
        </p:txBody>
      </p:sp>
      <p:sp>
        <p:nvSpPr>
          <p:cNvPr id="15" name="Text 12"/>
          <p:cNvSpPr/>
          <p:nvPr/>
        </p:nvSpPr>
        <p:spPr>
          <a:xfrm>
            <a:off x="3575304" y="2788920"/>
            <a:ext cx="2148840" cy="411480"/>
          </a:xfrm>
          <a:prstGeom prst="rect">
            <a:avLst/>
          </a:prstGeom>
          <a:noFill/>
          <a:ln/>
        </p:spPr>
        <p:txBody>
          <a:bodyPr wrap="square" rtlCol="0" anchor="ctr"/>
          <a:lstStyle/>
          <a:p>
            <a:pPr indent="0" marL="0">
              <a:buNone/>
            </a:pPr>
            <a:r>
              <a:rPr lang="en-US" sz="1100" dirty="0">
                <a:solidFill>
                  <a:srgbClr val="9DB2C8"/>
                </a:solidFill>
                <a:latin typeface="Calibri" pitchFamily="34" charset="0"/>
                <a:ea typeface="Calibri" pitchFamily="34" charset="-122"/>
                <a:cs typeface="Calibri" pitchFamily="34" charset="-120"/>
              </a:rPr>
              <a:t>Normalized event stream</a:t>
            </a:r>
            <a:endParaRPr lang="en-US" sz="1100" dirty="0"/>
          </a:p>
        </p:txBody>
      </p:sp>
      <p:sp>
        <p:nvSpPr>
          <p:cNvPr id="16" name="Shape 13"/>
          <p:cNvSpPr/>
          <p:nvPr/>
        </p:nvSpPr>
        <p:spPr>
          <a:xfrm>
            <a:off x="5934456" y="2487168"/>
            <a:ext cx="237744" cy="164592"/>
          </a:xfrm>
          <a:prstGeom prst="rightArrow">
            <a:avLst/>
          </a:prstGeom>
          <a:solidFill>
            <a:srgbClr val="F5821F"/>
          </a:solidFill>
          <a:ln w="12700">
            <a:solidFill>
              <a:srgbClr val="F5821F"/>
            </a:solidFill>
            <a:prstDash val="solid"/>
          </a:ln>
        </p:spPr>
      </p:sp>
      <p:sp>
        <p:nvSpPr>
          <p:cNvPr id="17" name="Shape 14"/>
          <p:cNvSpPr/>
          <p:nvPr/>
        </p:nvSpPr>
        <p:spPr>
          <a:xfrm>
            <a:off x="6227064" y="1828800"/>
            <a:ext cx="2468880" cy="1463040"/>
          </a:xfrm>
          <a:prstGeom prst="roundRect">
            <a:avLst>
              <a:gd name="adj" fmla="val 5000"/>
            </a:avLst>
          </a:prstGeom>
          <a:solidFill>
            <a:srgbClr val="13263D"/>
          </a:solidFill>
          <a:ln w="12700">
            <a:solidFill>
              <a:srgbClr val="27435F"/>
            </a:solidFill>
            <a:prstDash val="solid"/>
          </a:ln>
        </p:spPr>
      </p:sp>
      <p:sp>
        <p:nvSpPr>
          <p:cNvPr id="18" name="Shape 15"/>
          <p:cNvSpPr/>
          <p:nvPr/>
        </p:nvSpPr>
        <p:spPr>
          <a:xfrm>
            <a:off x="6391656" y="1993392"/>
            <a:ext cx="384048" cy="384048"/>
          </a:xfrm>
          <a:prstGeom prst="ellipse">
            <a:avLst/>
          </a:prstGeom>
          <a:solidFill>
            <a:srgbClr val="F5821F"/>
          </a:solidFill>
          <a:ln/>
        </p:spPr>
      </p:sp>
      <p:sp>
        <p:nvSpPr>
          <p:cNvPr id="19" name="Text 16"/>
          <p:cNvSpPr/>
          <p:nvPr/>
        </p:nvSpPr>
        <p:spPr>
          <a:xfrm>
            <a:off x="6391656" y="1993392"/>
            <a:ext cx="384048" cy="384048"/>
          </a:xfrm>
          <a:prstGeom prst="rect">
            <a:avLst/>
          </a:prstGeom>
          <a:noFill/>
          <a:ln/>
        </p:spPr>
        <p:txBody>
          <a:bodyPr wrap="square" lIns="0" tIns="0" rIns="0" bIns="0" rtlCol="0" anchor="ctr"/>
          <a:lstStyle/>
          <a:p>
            <a:pPr algn="ctr" indent="0" marL="0">
              <a:buNone/>
            </a:pPr>
            <a:r>
              <a:rPr lang="en-US" sz="1100" b="1" dirty="0">
                <a:solidFill>
                  <a:srgbClr val="0B1A2E"/>
                </a:solidFill>
                <a:latin typeface="Calibri" pitchFamily="34" charset="0"/>
                <a:ea typeface="Calibri" pitchFamily="34" charset="-122"/>
                <a:cs typeface="Calibri" pitchFamily="34" charset="-120"/>
              </a:rPr>
              <a:t>03</a:t>
            </a:r>
            <a:endParaRPr lang="en-US" sz="1100" dirty="0"/>
          </a:p>
        </p:txBody>
      </p:sp>
      <p:sp>
        <p:nvSpPr>
          <p:cNvPr id="20" name="Text 17"/>
          <p:cNvSpPr/>
          <p:nvPr/>
        </p:nvSpPr>
        <p:spPr>
          <a:xfrm>
            <a:off x="6391656" y="2468880"/>
            <a:ext cx="214884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Geofence Detection</a:t>
            </a:r>
            <a:endParaRPr lang="en-US" sz="1400" dirty="0"/>
          </a:p>
        </p:txBody>
      </p:sp>
      <p:sp>
        <p:nvSpPr>
          <p:cNvPr id="21" name="Text 18"/>
          <p:cNvSpPr/>
          <p:nvPr/>
        </p:nvSpPr>
        <p:spPr>
          <a:xfrm>
            <a:off x="6391656" y="2788920"/>
            <a:ext cx="2148840" cy="411480"/>
          </a:xfrm>
          <a:prstGeom prst="rect">
            <a:avLst/>
          </a:prstGeom>
          <a:noFill/>
          <a:ln/>
        </p:spPr>
        <p:txBody>
          <a:bodyPr wrap="square" rtlCol="0" anchor="ctr"/>
          <a:lstStyle/>
          <a:p>
            <a:pPr indent="0" marL="0">
              <a:buNone/>
            </a:pPr>
            <a:r>
              <a:rPr lang="en-US" sz="1100" dirty="0">
                <a:solidFill>
                  <a:srgbClr val="9DB2C8"/>
                </a:solidFill>
                <a:latin typeface="Calibri" pitchFamily="34" charset="0"/>
                <a:ea typeface="Calibri" pitchFamily="34" charset="-122"/>
                <a:cs typeface="Calibri" pitchFamily="34" charset="-120"/>
              </a:rPr>
              <a:t>Facility and corridor match</a:t>
            </a:r>
            <a:endParaRPr lang="en-US" sz="1100" dirty="0"/>
          </a:p>
        </p:txBody>
      </p:sp>
      <p:sp>
        <p:nvSpPr>
          <p:cNvPr id="22" name="Shape 19"/>
          <p:cNvSpPr/>
          <p:nvPr/>
        </p:nvSpPr>
        <p:spPr>
          <a:xfrm>
            <a:off x="8750808" y="2487168"/>
            <a:ext cx="237744" cy="164592"/>
          </a:xfrm>
          <a:prstGeom prst="rightArrow">
            <a:avLst/>
          </a:prstGeom>
          <a:solidFill>
            <a:srgbClr val="F5821F"/>
          </a:solidFill>
          <a:ln w="12700">
            <a:solidFill>
              <a:srgbClr val="F5821F"/>
            </a:solidFill>
            <a:prstDash val="solid"/>
          </a:ln>
        </p:spPr>
      </p:sp>
      <p:sp>
        <p:nvSpPr>
          <p:cNvPr id="23" name="Shape 20"/>
          <p:cNvSpPr/>
          <p:nvPr/>
        </p:nvSpPr>
        <p:spPr>
          <a:xfrm>
            <a:off x="9043416" y="1828800"/>
            <a:ext cx="2468880" cy="1463040"/>
          </a:xfrm>
          <a:prstGeom prst="roundRect">
            <a:avLst>
              <a:gd name="adj" fmla="val 5000"/>
            </a:avLst>
          </a:prstGeom>
          <a:solidFill>
            <a:srgbClr val="13263D"/>
          </a:solidFill>
          <a:ln w="12700">
            <a:solidFill>
              <a:srgbClr val="27435F"/>
            </a:solidFill>
            <a:prstDash val="solid"/>
          </a:ln>
        </p:spPr>
      </p:sp>
      <p:sp>
        <p:nvSpPr>
          <p:cNvPr id="24" name="Shape 21"/>
          <p:cNvSpPr/>
          <p:nvPr/>
        </p:nvSpPr>
        <p:spPr>
          <a:xfrm>
            <a:off x="9208008" y="1993392"/>
            <a:ext cx="384048" cy="384048"/>
          </a:xfrm>
          <a:prstGeom prst="ellipse">
            <a:avLst/>
          </a:prstGeom>
          <a:solidFill>
            <a:srgbClr val="F5821F"/>
          </a:solidFill>
          <a:ln/>
        </p:spPr>
      </p:sp>
      <p:sp>
        <p:nvSpPr>
          <p:cNvPr id="25" name="Text 22"/>
          <p:cNvSpPr/>
          <p:nvPr/>
        </p:nvSpPr>
        <p:spPr>
          <a:xfrm>
            <a:off x="9208008" y="1993392"/>
            <a:ext cx="384048" cy="384048"/>
          </a:xfrm>
          <a:prstGeom prst="rect">
            <a:avLst/>
          </a:prstGeom>
          <a:noFill/>
          <a:ln/>
        </p:spPr>
        <p:txBody>
          <a:bodyPr wrap="square" lIns="0" tIns="0" rIns="0" bIns="0" rtlCol="0" anchor="ctr"/>
          <a:lstStyle/>
          <a:p>
            <a:pPr algn="ctr" indent="0" marL="0">
              <a:buNone/>
            </a:pPr>
            <a:r>
              <a:rPr lang="en-US" sz="1100" b="1" dirty="0">
                <a:solidFill>
                  <a:srgbClr val="0B1A2E"/>
                </a:solidFill>
                <a:latin typeface="Calibri" pitchFamily="34" charset="0"/>
                <a:ea typeface="Calibri" pitchFamily="34" charset="-122"/>
                <a:cs typeface="Calibri" pitchFamily="34" charset="-120"/>
              </a:rPr>
              <a:t>04</a:t>
            </a:r>
            <a:endParaRPr lang="en-US" sz="1100" dirty="0"/>
          </a:p>
        </p:txBody>
      </p:sp>
      <p:sp>
        <p:nvSpPr>
          <p:cNvPr id="26" name="Text 23"/>
          <p:cNvSpPr/>
          <p:nvPr/>
        </p:nvSpPr>
        <p:spPr>
          <a:xfrm>
            <a:off x="9208008" y="2468880"/>
            <a:ext cx="214884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Dwell Lifecycle</a:t>
            </a:r>
            <a:endParaRPr lang="en-US" sz="1400" dirty="0"/>
          </a:p>
        </p:txBody>
      </p:sp>
      <p:sp>
        <p:nvSpPr>
          <p:cNvPr id="27" name="Text 24"/>
          <p:cNvSpPr/>
          <p:nvPr/>
        </p:nvSpPr>
        <p:spPr>
          <a:xfrm>
            <a:off x="9208008" y="2788920"/>
            <a:ext cx="2148840" cy="411480"/>
          </a:xfrm>
          <a:prstGeom prst="rect">
            <a:avLst/>
          </a:prstGeom>
          <a:noFill/>
          <a:ln/>
        </p:spPr>
        <p:txBody>
          <a:bodyPr wrap="square" rtlCol="0" anchor="ctr"/>
          <a:lstStyle/>
          <a:p>
            <a:pPr indent="0" marL="0">
              <a:buNone/>
            </a:pPr>
            <a:r>
              <a:rPr lang="en-US" sz="1100" dirty="0">
                <a:solidFill>
                  <a:srgbClr val="9DB2C8"/>
                </a:solidFill>
                <a:latin typeface="Calibri" pitchFamily="34" charset="0"/>
                <a:ea typeface="Calibri" pitchFamily="34" charset="-122"/>
                <a:cs typeface="Calibri" pitchFamily="34" charset="-120"/>
              </a:rPr>
              <a:t>Arrival, dwell, departure</a:t>
            </a:r>
            <a:endParaRPr lang="en-US" sz="1100" dirty="0"/>
          </a:p>
        </p:txBody>
      </p:sp>
      <p:sp>
        <p:nvSpPr>
          <p:cNvPr id="28" name="Shape 25"/>
          <p:cNvSpPr/>
          <p:nvPr/>
        </p:nvSpPr>
        <p:spPr>
          <a:xfrm>
            <a:off x="594360" y="3703320"/>
            <a:ext cx="2468880" cy="1463040"/>
          </a:xfrm>
          <a:prstGeom prst="roundRect">
            <a:avLst>
              <a:gd name="adj" fmla="val 5000"/>
            </a:avLst>
          </a:prstGeom>
          <a:solidFill>
            <a:srgbClr val="13263D"/>
          </a:solidFill>
          <a:ln w="12700">
            <a:solidFill>
              <a:srgbClr val="27435F"/>
            </a:solidFill>
            <a:prstDash val="solid"/>
          </a:ln>
        </p:spPr>
      </p:sp>
      <p:sp>
        <p:nvSpPr>
          <p:cNvPr id="29" name="Shape 26"/>
          <p:cNvSpPr/>
          <p:nvPr/>
        </p:nvSpPr>
        <p:spPr>
          <a:xfrm>
            <a:off x="758952" y="3867912"/>
            <a:ext cx="384048" cy="384048"/>
          </a:xfrm>
          <a:prstGeom prst="ellipse">
            <a:avLst/>
          </a:prstGeom>
          <a:solidFill>
            <a:srgbClr val="10B981"/>
          </a:solidFill>
          <a:ln/>
        </p:spPr>
      </p:sp>
      <p:sp>
        <p:nvSpPr>
          <p:cNvPr id="30" name="Text 27"/>
          <p:cNvSpPr/>
          <p:nvPr/>
        </p:nvSpPr>
        <p:spPr>
          <a:xfrm>
            <a:off x="758952" y="3867912"/>
            <a:ext cx="384048" cy="384048"/>
          </a:xfrm>
          <a:prstGeom prst="rect">
            <a:avLst/>
          </a:prstGeom>
          <a:noFill/>
          <a:ln/>
        </p:spPr>
        <p:txBody>
          <a:bodyPr wrap="square" lIns="0" tIns="0" rIns="0" bIns="0" rtlCol="0" anchor="ctr"/>
          <a:lstStyle/>
          <a:p>
            <a:pPr algn="ctr" indent="0" marL="0">
              <a:buNone/>
            </a:pPr>
            <a:r>
              <a:rPr lang="en-US" sz="1100" b="1" dirty="0">
                <a:solidFill>
                  <a:srgbClr val="0B1A2E"/>
                </a:solidFill>
                <a:latin typeface="Calibri" pitchFamily="34" charset="0"/>
                <a:ea typeface="Calibri" pitchFamily="34" charset="-122"/>
                <a:cs typeface="Calibri" pitchFamily="34" charset="-120"/>
              </a:rPr>
              <a:t>05</a:t>
            </a:r>
            <a:endParaRPr lang="en-US" sz="1100" dirty="0"/>
          </a:p>
        </p:txBody>
      </p:sp>
      <p:sp>
        <p:nvSpPr>
          <p:cNvPr id="31" name="Text 28"/>
          <p:cNvSpPr/>
          <p:nvPr/>
        </p:nvSpPr>
        <p:spPr>
          <a:xfrm>
            <a:off x="758952" y="4343400"/>
            <a:ext cx="214884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SLA Comparison</a:t>
            </a:r>
            <a:endParaRPr lang="en-US" sz="1400" dirty="0"/>
          </a:p>
        </p:txBody>
      </p:sp>
      <p:sp>
        <p:nvSpPr>
          <p:cNvPr id="32" name="Text 29"/>
          <p:cNvSpPr/>
          <p:nvPr/>
        </p:nvSpPr>
        <p:spPr>
          <a:xfrm>
            <a:off x="758952" y="4663440"/>
            <a:ext cx="2148840" cy="411480"/>
          </a:xfrm>
          <a:prstGeom prst="rect">
            <a:avLst/>
          </a:prstGeom>
          <a:noFill/>
          <a:ln/>
        </p:spPr>
        <p:txBody>
          <a:bodyPr wrap="square" rtlCol="0" anchor="ctr"/>
          <a:lstStyle/>
          <a:p>
            <a:pPr indent="0" marL="0">
              <a:buNone/>
            </a:pPr>
            <a:r>
              <a:rPr lang="en-US" sz="1100" dirty="0">
                <a:solidFill>
                  <a:srgbClr val="9DB2C8"/>
                </a:solidFill>
                <a:latin typeface="Calibri" pitchFamily="34" charset="0"/>
                <a:ea typeface="Calibri" pitchFamily="34" charset="-122"/>
                <a:cs typeface="Calibri" pitchFamily="34" charset="-120"/>
              </a:rPr>
              <a:t>Actual vs expected dwell</a:t>
            </a:r>
            <a:endParaRPr lang="en-US" sz="1100" dirty="0"/>
          </a:p>
        </p:txBody>
      </p:sp>
      <p:sp>
        <p:nvSpPr>
          <p:cNvPr id="33" name="Shape 30"/>
          <p:cNvSpPr/>
          <p:nvPr/>
        </p:nvSpPr>
        <p:spPr>
          <a:xfrm>
            <a:off x="3118104" y="4361688"/>
            <a:ext cx="237744" cy="164592"/>
          </a:xfrm>
          <a:prstGeom prst="rightArrow">
            <a:avLst/>
          </a:prstGeom>
          <a:solidFill>
            <a:srgbClr val="10B981"/>
          </a:solidFill>
          <a:ln w="12700">
            <a:solidFill>
              <a:srgbClr val="10B981"/>
            </a:solidFill>
            <a:prstDash val="solid"/>
          </a:ln>
        </p:spPr>
      </p:sp>
      <p:sp>
        <p:nvSpPr>
          <p:cNvPr id="34" name="Shape 31"/>
          <p:cNvSpPr/>
          <p:nvPr/>
        </p:nvSpPr>
        <p:spPr>
          <a:xfrm>
            <a:off x="3410712" y="3703320"/>
            <a:ext cx="2468880" cy="1463040"/>
          </a:xfrm>
          <a:prstGeom prst="roundRect">
            <a:avLst>
              <a:gd name="adj" fmla="val 5000"/>
            </a:avLst>
          </a:prstGeom>
          <a:solidFill>
            <a:srgbClr val="13263D"/>
          </a:solidFill>
          <a:ln w="12700">
            <a:solidFill>
              <a:srgbClr val="27435F"/>
            </a:solidFill>
            <a:prstDash val="solid"/>
          </a:ln>
        </p:spPr>
      </p:sp>
      <p:sp>
        <p:nvSpPr>
          <p:cNvPr id="35" name="Shape 32"/>
          <p:cNvSpPr/>
          <p:nvPr/>
        </p:nvSpPr>
        <p:spPr>
          <a:xfrm>
            <a:off x="3575304" y="3867912"/>
            <a:ext cx="384048" cy="384048"/>
          </a:xfrm>
          <a:prstGeom prst="ellipse">
            <a:avLst/>
          </a:prstGeom>
          <a:solidFill>
            <a:srgbClr val="10B981"/>
          </a:solidFill>
          <a:ln/>
        </p:spPr>
      </p:sp>
      <p:sp>
        <p:nvSpPr>
          <p:cNvPr id="36" name="Text 33"/>
          <p:cNvSpPr/>
          <p:nvPr/>
        </p:nvSpPr>
        <p:spPr>
          <a:xfrm>
            <a:off x="3575304" y="3867912"/>
            <a:ext cx="384048" cy="384048"/>
          </a:xfrm>
          <a:prstGeom prst="rect">
            <a:avLst/>
          </a:prstGeom>
          <a:noFill/>
          <a:ln/>
        </p:spPr>
        <p:txBody>
          <a:bodyPr wrap="square" lIns="0" tIns="0" rIns="0" bIns="0" rtlCol="0" anchor="ctr"/>
          <a:lstStyle/>
          <a:p>
            <a:pPr algn="ctr" indent="0" marL="0">
              <a:buNone/>
            </a:pPr>
            <a:r>
              <a:rPr lang="en-US" sz="1100" b="1" dirty="0">
                <a:solidFill>
                  <a:srgbClr val="0B1A2E"/>
                </a:solidFill>
                <a:latin typeface="Calibri" pitchFamily="34" charset="0"/>
                <a:ea typeface="Calibri" pitchFamily="34" charset="-122"/>
                <a:cs typeface="Calibri" pitchFamily="34" charset="-120"/>
              </a:rPr>
              <a:t>06</a:t>
            </a:r>
            <a:endParaRPr lang="en-US" sz="1100" dirty="0"/>
          </a:p>
        </p:txBody>
      </p:sp>
      <p:sp>
        <p:nvSpPr>
          <p:cNvPr id="37" name="Text 34"/>
          <p:cNvSpPr/>
          <p:nvPr/>
        </p:nvSpPr>
        <p:spPr>
          <a:xfrm>
            <a:off x="3575304" y="4343400"/>
            <a:ext cx="214884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Financial Impact</a:t>
            </a:r>
            <a:endParaRPr lang="en-US" sz="1400" dirty="0"/>
          </a:p>
        </p:txBody>
      </p:sp>
      <p:sp>
        <p:nvSpPr>
          <p:cNvPr id="38" name="Text 35"/>
          <p:cNvSpPr/>
          <p:nvPr/>
        </p:nvSpPr>
        <p:spPr>
          <a:xfrm>
            <a:off x="3575304" y="4663440"/>
            <a:ext cx="2148840" cy="411480"/>
          </a:xfrm>
          <a:prstGeom prst="rect">
            <a:avLst/>
          </a:prstGeom>
          <a:noFill/>
          <a:ln/>
        </p:spPr>
        <p:txBody>
          <a:bodyPr wrap="square" rtlCol="0" anchor="ctr"/>
          <a:lstStyle/>
          <a:p>
            <a:pPr indent="0" marL="0">
              <a:buNone/>
            </a:pPr>
            <a:r>
              <a:rPr lang="en-US" sz="1100" dirty="0">
                <a:solidFill>
                  <a:srgbClr val="9DB2C8"/>
                </a:solidFill>
                <a:latin typeface="Calibri" pitchFamily="34" charset="0"/>
                <a:ea typeface="Calibri" pitchFamily="34" charset="-122"/>
                <a:cs typeface="Calibri" pitchFamily="34" charset="-120"/>
              </a:rPr>
              <a:t>Excess minutes priced</a:t>
            </a:r>
            <a:endParaRPr lang="en-US" sz="1100" dirty="0"/>
          </a:p>
        </p:txBody>
      </p:sp>
      <p:sp>
        <p:nvSpPr>
          <p:cNvPr id="39" name="Shape 36"/>
          <p:cNvSpPr/>
          <p:nvPr/>
        </p:nvSpPr>
        <p:spPr>
          <a:xfrm>
            <a:off x="5934456" y="4361688"/>
            <a:ext cx="237744" cy="164592"/>
          </a:xfrm>
          <a:prstGeom prst="rightArrow">
            <a:avLst/>
          </a:prstGeom>
          <a:solidFill>
            <a:srgbClr val="10B981"/>
          </a:solidFill>
          <a:ln w="12700">
            <a:solidFill>
              <a:srgbClr val="10B981"/>
            </a:solidFill>
            <a:prstDash val="solid"/>
          </a:ln>
        </p:spPr>
      </p:sp>
      <p:sp>
        <p:nvSpPr>
          <p:cNvPr id="40" name="Shape 37"/>
          <p:cNvSpPr/>
          <p:nvPr/>
        </p:nvSpPr>
        <p:spPr>
          <a:xfrm>
            <a:off x="6227064" y="3703320"/>
            <a:ext cx="2468880" cy="1463040"/>
          </a:xfrm>
          <a:prstGeom prst="roundRect">
            <a:avLst>
              <a:gd name="adj" fmla="val 5000"/>
            </a:avLst>
          </a:prstGeom>
          <a:solidFill>
            <a:srgbClr val="13263D"/>
          </a:solidFill>
          <a:ln w="12700">
            <a:solidFill>
              <a:srgbClr val="27435F"/>
            </a:solidFill>
            <a:prstDash val="solid"/>
          </a:ln>
        </p:spPr>
      </p:sp>
      <p:sp>
        <p:nvSpPr>
          <p:cNvPr id="41" name="Shape 38"/>
          <p:cNvSpPr/>
          <p:nvPr/>
        </p:nvSpPr>
        <p:spPr>
          <a:xfrm>
            <a:off x="6391656" y="3867912"/>
            <a:ext cx="384048" cy="384048"/>
          </a:xfrm>
          <a:prstGeom prst="ellipse">
            <a:avLst/>
          </a:prstGeom>
          <a:solidFill>
            <a:srgbClr val="10B981"/>
          </a:solidFill>
          <a:ln/>
        </p:spPr>
      </p:sp>
      <p:sp>
        <p:nvSpPr>
          <p:cNvPr id="42" name="Text 39"/>
          <p:cNvSpPr/>
          <p:nvPr/>
        </p:nvSpPr>
        <p:spPr>
          <a:xfrm>
            <a:off x="6391656" y="3867912"/>
            <a:ext cx="384048" cy="384048"/>
          </a:xfrm>
          <a:prstGeom prst="rect">
            <a:avLst/>
          </a:prstGeom>
          <a:noFill/>
          <a:ln/>
        </p:spPr>
        <p:txBody>
          <a:bodyPr wrap="square" lIns="0" tIns="0" rIns="0" bIns="0" rtlCol="0" anchor="ctr"/>
          <a:lstStyle/>
          <a:p>
            <a:pPr algn="ctr" indent="0" marL="0">
              <a:buNone/>
            </a:pPr>
            <a:r>
              <a:rPr lang="en-US" sz="1100" b="1" dirty="0">
                <a:solidFill>
                  <a:srgbClr val="0B1A2E"/>
                </a:solidFill>
                <a:latin typeface="Calibri" pitchFamily="34" charset="0"/>
                <a:ea typeface="Calibri" pitchFamily="34" charset="-122"/>
                <a:cs typeface="Calibri" pitchFamily="34" charset="-120"/>
              </a:rPr>
              <a:t>07</a:t>
            </a:r>
            <a:endParaRPr lang="en-US" sz="1100" dirty="0"/>
          </a:p>
        </p:txBody>
      </p:sp>
      <p:sp>
        <p:nvSpPr>
          <p:cNvPr id="43" name="Text 40"/>
          <p:cNvSpPr/>
          <p:nvPr/>
        </p:nvSpPr>
        <p:spPr>
          <a:xfrm>
            <a:off x="6391656" y="4343400"/>
            <a:ext cx="214884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Dispatcher Action</a:t>
            </a:r>
            <a:endParaRPr lang="en-US" sz="1400" dirty="0"/>
          </a:p>
        </p:txBody>
      </p:sp>
      <p:sp>
        <p:nvSpPr>
          <p:cNvPr id="44" name="Text 41"/>
          <p:cNvSpPr/>
          <p:nvPr/>
        </p:nvSpPr>
        <p:spPr>
          <a:xfrm>
            <a:off x="6391656" y="4663440"/>
            <a:ext cx="2148840" cy="411480"/>
          </a:xfrm>
          <a:prstGeom prst="rect">
            <a:avLst/>
          </a:prstGeom>
          <a:noFill/>
          <a:ln/>
        </p:spPr>
        <p:txBody>
          <a:bodyPr wrap="square" rtlCol="0" anchor="ctr"/>
          <a:lstStyle/>
          <a:p>
            <a:pPr indent="0" marL="0">
              <a:buNone/>
            </a:pPr>
            <a:r>
              <a:rPr lang="en-US" sz="1100" dirty="0">
                <a:solidFill>
                  <a:srgbClr val="9DB2C8"/>
                </a:solidFill>
                <a:latin typeface="Calibri" pitchFamily="34" charset="0"/>
                <a:ea typeface="Calibri" pitchFamily="34" charset="-122"/>
                <a:cs typeface="Calibri" pitchFamily="34" charset="-120"/>
              </a:rPr>
              <a:t>Escalate, reroute, notify</a:t>
            </a:r>
            <a:endParaRPr lang="en-US" sz="1100" dirty="0"/>
          </a:p>
        </p:txBody>
      </p:sp>
      <p:sp>
        <p:nvSpPr>
          <p:cNvPr id="45" name="Shape 42"/>
          <p:cNvSpPr/>
          <p:nvPr/>
        </p:nvSpPr>
        <p:spPr>
          <a:xfrm>
            <a:off x="8750808" y="4361688"/>
            <a:ext cx="237744" cy="164592"/>
          </a:xfrm>
          <a:prstGeom prst="rightArrow">
            <a:avLst/>
          </a:prstGeom>
          <a:solidFill>
            <a:srgbClr val="10B981"/>
          </a:solidFill>
          <a:ln w="12700">
            <a:solidFill>
              <a:srgbClr val="10B981"/>
            </a:solidFill>
            <a:prstDash val="solid"/>
          </a:ln>
        </p:spPr>
      </p:sp>
      <p:sp>
        <p:nvSpPr>
          <p:cNvPr id="46" name="Shape 43"/>
          <p:cNvSpPr/>
          <p:nvPr/>
        </p:nvSpPr>
        <p:spPr>
          <a:xfrm>
            <a:off x="9043416" y="3703320"/>
            <a:ext cx="2468880" cy="1463040"/>
          </a:xfrm>
          <a:prstGeom prst="roundRect">
            <a:avLst>
              <a:gd name="adj" fmla="val 5000"/>
            </a:avLst>
          </a:prstGeom>
          <a:solidFill>
            <a:srgbClr val="13263D"/>
          </a:solidFill>
          <a:ln w="12700">
            <a:solidFill>
              <a:srgbClr val="27435F"/>
            </a:solidFill>
            <a:prstDash val="solid"/>
          </a:ln>
        </p:spPr>
      </p:sp>
      <p:sp>
        <p:nvSpPr>
          <p:cNvPr id="47" name="Shape 44"/>
          <p:cNvSpPr/>
          <p:nvPr/>
        </p:nvSpPr>
        <p:spPr>
          <a:xfrm>
            <a:off x="9208008" y="3867912"/>
            <a:ext cx="384048" cy="384048"/>
          </a:xfrm>
          <a:prstGeom prst="ellipse">
            <a:avLst/>
          </a:prstGeom>
          <a:solidFill>
            <a:srgbClr val="10B981"/>
          </a:solidFill>
          <a:ln/>
        </p:spPr>
      </p:sp>
      <p:sp>
        <p:nvSpPr>
          <p:cNvPr id="48" name="Text 45"/>
          <p:cNvSpPr/>
          <p:nvPr/>
        </p:nvSpPr>
        <p:spPr>
          <a:xfrm>
            <a:off x="9208008" y="3867912"/>
            <a:ext cx="384048" cy="384048"/>
          </a:xfrm>
          <a:prstGeom prst="rect">
            <a:avLst/>
          </a:prstGeom>
          <a:noFill/>
          <a:ln/>
        </p:spPr>
        <p:txBody>
          <a:bodyPr wrap="square" lIns="0" tIns="0" rIns="0" bIns="0" rtlCol="0" anchor="ctr"/>
          <a:lstStyle/>
          <a:p>
            <a:pPr algn="ctr" indent="0" marL="0">
              <a:buNone/>
            </a:pPr>
            <a:r>
              <a:rPr lang="en-US" sz="1100" b="1" dirty="0">
                <a:solidFill>
                  <a:srgbClr val="0B1A2E"/>
                </a:solidFill>
                <a:latin typeface="Calibri" pitchFamily="34" charset="0"/>
                <a:ea typeface="Calibri" pitchFamily="34" charset="-122"/>
                <a:cs typeface="Calibri" pitchFamily="34" charset="-120"/>
              </a:rPr>
              <a:t>08</a:t>
            </a:r>
            <a:endParaRPr lang="en-US" sz="1100" dirty="0"/>
          </a:p>
        </p:txBody>
      </p:sp>
      <p:sp>
        <p:nvSpPr>
          <p:cNvPr id="49" name="Text 46"/>
          <p:cNvSpPr/>
          <p:nvPr/>
        </p:nvSpPr>
        <p:spPr>
          <a:xfrm>
            <a:off x="9208008" y="4343400"/>
            <a:ext cx="214884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Improved Turnaround</a:t>
            </a:r>
            <a:endParaRPr lang="en-US" sz="1400" dirty="0"/>
          </a:p>
        </p:txBody>
      </p:sp>
      <p:sp>
        <p:nvSpPr>
          <p:cNvPr id="50" name="Text 47"/>
          <p:cNvSpPr/>
          <p:nvPr/>
        </p:nvSpPr>
        <p:spPr>
          <a:xfrm>
            <a:off x="9208008" y="4663440"/>
            <a:ext cx="2148840" cy="411480"/>
          </a:xfrm>
          <a:prstGeom prst="rect">
            <a:avLst/>
          </a:prstGeom>
          <a:noFill/>
          <a:ln/>
        </p:spPr>
        <p:txBody>
          <a:bodyPr wrap="square" rtlCol="0" anchor="ctr"/>
          <a:lstStyle/>
          <a:p>
            <a:pPr indent="0" marL="0">
              <a:buNone/>
            </a:pPr>
            <a:r>
              <a:rPr lang="en-US" sz="1100" dirty="0">
                <a:solidFill>
                  <a:srgbClr val="9DB2C8"/>
                </a:solidFill>
                <a:latin typeface="Calibri" pitchFamily="34" charset="0"/>
                <a:ea typeface="Calibri" pitchFamily="34" charset="-122"/>
                <a:cs typeface="Calibri" pitchFamily="34" charset="-120"/>
              </a:rPr>
              <a:t>Less idle, better SLA</a:t>
            </a:r>
            <a:endParaRPr lang="en-US" sz="1100" dirty="0"/>
          </a:p>
        </p:txBody>
      </p:sp>
      <p:sp>
        <p:nvSpPr>
          <p:cNvPr id="51" name="Text 48"/>
          <p:cNvSpPr/>
          <p:nvPr/>
        </p:nvSpPr>
        <p:spPr>
          <a:xfrm>
            <a:off x="594360" y="5440680"/>
            <a:ext cx="10881360" cy="365760"/>
          </a:xfrm>
          <a:prstGeom prst="rect">
            <a:avLst/>
          </a:prstGeom>
          <a:noFill/>
          <a:ln/>
        </p:spPr>
        <p:txBody>
          <a:bodyPr wrap="square" rtlCol="0" anchor="ctr"/>
          <a:lstStyle/>
          <a:p>
            <a:pPr indent="0" marL="0">
              <a:buNone/>
            </a:pPr>
            <a:r>
              <a:rPr lang="en-US" sz="1300" i="1" dirty="0">
                <a:solidFill>
                  <a:srgbClr val="9DB2C8"/>
                </a:solidFill>
                <a:latin typeface="Calibri" pitchFamily="34" charset="0"/>
                <a:ea typeface="Calibri" pitchFamily="34" charset="-122"/>
                <a:cs typeface="Calibri" pitchFamily="34" charset="-120"/>
              </a:rPr>
              <a:t>Telemetry in — priced, actionable delay out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594360" y="384048"/>
            <a:ext cx="7315200" cy="274320"/>
          </a:xfrm>
          <a:prstGeom prst="rect">
            <a:avLst/>
          </a:prstGeom>
          <a:noFill/>
          <a:ln/>
        </p:spPr>
        <p:txBody>
          <a:bodyPr wrap="square" rtlCol="0" anchor="ctr"/>
          <a:lstStyle/>
          <a:p>
            <a:pPr indent="0" marL="0">
              <a:buNone/>
            </a:pPr>
            <a:r>
              <a:rPr lang="en-US" sz="1300" b="1" spc="300" kern="0" dirty="0">
                <a:solidFill>
                  <a:srgbClr val="F5821F"/>
                </a:solidFill>
                <a:latin typeface="Calibri" pitchFamily="34" charset="0"/>
                <a:ea typeface="Calibri" pitchFamily="34" charset="-122"/>
                <a:cs typeface="Calibri" pitchFamily="34" charset="-120"/>
              </a:rPr>
              <a:t>PRODUCT EXPERIENCE</a:t>
            </a:r>
            <a:endParaRPr lang="en-US" sz="1300" dirty="0"/>
          </a:p>
        </p:txBody>
      </p:sp>
      <p:sp>
        <p:nvSpPr>
          <p:cNvPr id="4" name="Text 1"/>
          <p:cNvSpPr/>
          <p:nvPr/>
        </p:nvSpPr>
        <p:spPr>
          <a:xfrm>
            <a:off x="548640" y="685800"/>
            <a:ext cx="10607040" cy="777240"/>
          </a:xfrm>
          <a:prstGeom prst="rect">
            <a:avLst/>
          </a:prstGeom>
          <a:noFill/>
          <a:ln/>
        </p:spPr>
        <p:txBody>
          <a:bodyPr wrap="square" rtlCol="0" anchor="ctr"/>
          <a:lstStyle/>
          <a:p>
            <a:pPr indent="0" marL="0">
              <a:buNone/>
            </a:pPr>
            <a:r>
              <a:rPr lang="en-US" sz="4000" dirty="0">
                <a:solidFill>
                  <a:srgbClr val="FFFFFF"/>
                </a:solidFill>
                <a:latin typeface="Arial Black" pitchFamily="34" charset="0"/>
                <a:ea typeface="Arial Black" pitchFamily="34" charset="-122"/>
                <a:cs typeface="Arial Black" pitchFamily="34" charset="-120"/>
              </a:rPr>
              <a:t>Live corridor tracker</a:t>
            </a:r>
            <a:endParaRPr lang="en-US" sz="4000" dirty="0"/>
          </a:p>
        </p:txBody>
      </p:sp>
      <p:sp>
        <p:nvSpPr>
          <p:cNvPr id="5" name="Shape 2"/>
          <p:cNvSpPr/>
          <p:nvPr/>
        </p:nvSpPr>
        <p:spPr>
          <a:xfrm>
            <a:off x="594360" y="1783080"/>
            <a:ext cx="7315200" cy="4343400"/>
          </a:xfrm>
          <a:prstGeom prst="roundRect">
            <a:avLst>
              <a:gd name="adj" fmla="val 1684"/>
            </a:avLst>
          </a:prstGeom>
          <a:solidFill>
            <a:srgbClr val="13263D"/>
          </a:solidFill>
          <a:ln w="12700">
            <a:solidFill>
              <a:srgbClr val="27435F"/>
            </a:solidFill>
            <a:prstDash val="solid"/>
          </a:ln>
        </p:spPr>
      </p:sp>
      <p:pic>
        <p:nvPicPr>
          <p:cNvPr id="6" name="Image 0" descr="preencoded.png">    </p:cNvPr>
          <p:cNvPicPr>
            <a:picLocks noChangeAspect="1"/>
          </p:cNvPicPr>
          <p:nvPr/>
        </p:nvPicPr>
        <p:blipFill>
          <a:blip r:embed="rId1"/>
          <a:srcRect l="0" r="0" t="0" b="0"/>
          <a:stretch/>
        </p:blipFill>
        <p:spPr>
          <a:xfrm>
            <a:off x="685800" y="1874520"/>
            <a:ext cx="7132320" cy="4160520"/>
          </a:xfrm>
          <a:prstGeom prst="rect">
            <a:avLst/>
          </a:prstGeom>
        </p:spPr>
      </p:pic>
      <p:sp>
        <p:nvSpPr>
          <p:cNvPr id="7" name="Shape 3"/>
          <p:cNvSpPr/>
          <p:nvPr/>
        </p:nvSpPr>
        <p:spPr>
          <a:xfrm>
            <a:off x="1737360" y="2514600"/>
            <a:ext cx="237744" cy="237744"/>
          </a:xfrm>
          <a:prstGeom prst="ellipse">
            <a:avLst/>
          </a:prstGeom>
          <a:solidFill>
            <a:srgbClr val="10B981"/>
          </a:solidFill>
          <a:ln w="12700">
            <a:solidFill>
              <a:srgbClr val="FFFFFF"/>
            </a:solidFill>
            <a:prstDash val="solid"/>
          </a:ln>
        </p:spPr>
      </p:sp>
      <p:sp>
        <p:nvSpPr>
          <p:cNvPr id="8" name="Shape 4"/>
          <p:cNvSpPr/>
          <p:nvPr/>
        </p:nvSpPr>
        <p:spPr>
          <a:xfrm>
            <a:off x="2029968" y="2468880"/>
            <a:ext cx="1600200" cy="329184"/>
          </a:xfrm>
          <a:prstGeom prst="roundRect">
            <a:avLst>
              <a:gd name="adj" fmla="val 13889"/>
            </a:avLst>
          </a:prstGeom>
          <a:solidFill>
            <a:srgbClr val="0B1A2E">
              <a:alpha val="85000"/>
            </a:srgbClr>
          </a:solidFill>
          <a:ln w="12700">
            <a:solidFill>
              <a:srgbClr val="10B981"/>
            </a:solidFill>
            <a:prstDash val="solid"/>
          </a:ln>
        </p:spPr>
      </p:sp>
      <p:sp>
        <p:nvSpPr>
          <p:cNvPr id="9" name="Text 5"/>
          <p:cNvSpPr/>
          <p:nvPr/>
        </p:nvSpPr>
        <p:spPr>
          <a:xfrm>
            <a:off x="2029968" y="2468880"/>
            <a:ext cx="1600200" cy="32918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KDE 421X • 78 km/h</a:t>
            </a:r>
            <a:endParaRPr lang="en-US" sz="950" dirty="0"/>
          </a:p>
        </p:txBody>
      </p:sp>
      <p:sp>
        <p:nvSpPr>
          <p:cNvPr id="10" name="Shape 6"/>
          <p:cNvSpPr/>
          <p:nvPr/>
        </p:nvSpPr>
        <p:spPr>
          <a:xfrm>
            <a:off x="3200400" y="4023360"/>
            <a:ext cx="237744" cy="237744"/>
          </a:xfrm>
          <a:prstGeom prst="ellipse">
            <a:avLst/>
          </a:prstGeom>
          <a:solidFill>
            <a:srgbClr val="F5821F"/>
          </a:solidFill>
          <a:ln w="12700">
            <a:solidFill>
              <a:srgbClr val="FFFFFF"/>
            </a:solidFill>
            <a:prstDash val="solid"/>
          </a:ln>
        </p:spPr>
      </p:sp>
      <p:sp>
        <p:nvSpPr>
          <p:cNvPr id="11" name="Shape 7"/>
          <p:cNvSpPr/>
          <p:nvPr/>
        </p:nvSpPr>
        <p:spPr>
          <a:xfrm>
            <a:off x="3493008" y="3977640"/>
            <a:ext cx="1600200" cy="329184"/>
          </a:xfrm>
          <a:prstGeom prst="roundRect">
            <a:avLst>
              <a:gd name="adj" fmla="val 13889"/>
            </a:avLst>
          </a:prstGeom>
          <a:solidFill>
            <a:srgbClr val="0B1A2E">
              <a:alpha val="85000"/>
            </a:srgbClr>
          </a:solidFill>
          <a:ln w="12700">
            <a:solidFill>
              <a:srgbClr val="F5821F"/>
            </a:solidFill>
            <a:prstDash val="solid"/>
          </a:ln>
        </p:spPr>
      </p:sp>
      <p:sp>
        <p:nvSpPr>
          <p:cNvPr id="12" name="Text 8"/>
          <p:cNvSpPr/>
          <p:nvPr/>
        </p:nvSpPr>
        <p:spPr>
          <a:xfrm>
            <a:off x="3493008" y="3977640"/>
            <a:ext cx="1600200" cy="32918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KCX 118M • dwelling</a:t>
            </a:r>
            <a:endParaRPr lang="en-US" sz="950" dirty="0"/>
          </a:p>
        </p:txBody>
      </p:sp>
      <p:sp>
        <p:nvSpPr>
          <p:cNvPr id="13" name="Shape 9"/>
          <p:cNvSpPr/>
          <p:nvPr/>
        </p:nvSpPr>
        <p:spPr>
          <a:xfrm>
            <a:off x="5394960" y="3108960"/>
            <a:ext cx="237744" cy="237744"/>
          </a:xfrm>
          <a:prstGeom prst="ellipse">
            <a:avLst/>
          </a:prstGeom>
          <a:solidFill>
            <a:srgbClr val="10B981"/>
          </a:solidFill>
          <a:ln w="12700">
            <a:solidFill>
              <a:srgbClr val="FFFFFF"/>
            </a:solidFill>
            <a:prstDash val="solid"/>
          </a:ln>
        </p:spPr>
      </p:sp>
      <p:sp>
        <p:nvSpPr>
          <p:cNvPr id="14" name="Shape 10"/>
          <p:cNvSpPr/>
          <p:nvPr/>
        </p:nvSpPr>
        <p:spPr>
          <a:xfrm>
            <a:off x="5687568" y="3063240"/>
            <a:ext cx="1600200" cy="329184"/>
          </a:xfrm>
          <a:prstGeom prst="roundRect">
            <a:avLst>
              <a:gd name="adj" fmla="val 13889"/>
            </a:avLst>
          </a:prstGeom>
          <a:solidFill>
            <a:srgbClr val="0B1A2E">
              <a:alpha val="85000"/>
            </a:srgbClr>
          </a:solidFill>
          <a:ln w="12700">
            <a:solidFill>
              <a:srgbClr val="10B981"/>
            </a:solidFill>
            <a:prstDash val="solid"/>
          </a:ln>
        </p:spPr>
      </p:sp>
      <p:sp>
        <p:nvSpPr>
          <p:cNvPr id="15" name="Text 11"/>
          <p:cNvSpPr/>
          <p:nvPr/>
        </p:nvSpPr>
        <p:spPr>
          <a:xfrm>
            <a:off x="5687568" y="3063240"/>
            <a:ext cx="1600200" cy="32918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KBZ 902L • en route</a:t>
            </a:r>
            <a:endParaRPr lang="en-US" sz="950" dirty="0"/>
          </a:p>
        </p:txBody>
      </p:sp>
      <p:sp>
        <p:nvSpPr>
          <p:cNvPr id="16" name="Shape 12"/>
          <p:cNvSpPr/>
          <p:nvPr/>
        </p:nvSpPr>
        <p:spPr>
          <a:xfrm>
            <a:off x="868680" y="5532120"/>
            <a:ext cx="3200400" cy="384048"/>
          </a:xfrm>
          <a:prstGeom prst="roundRect">
            <a:avLst>
              <a:gd name="adj" fmla="val 11905"/>
            </a:avLst>
          </a:prstGeom>
          <a:solidFill>
            <a:srgbClr val="0B1A2E">
              <a:alpha val="90000"/>
            </a:srgbClr>
          </a:solidFill>
          <a:ln w="12700">
            <a:solidFill>
              <a:srgbClr val="27435F"/>
            </a:solidFill>
            <a:prstDash val="solid"/>
          </a:ln>
        </p:spPr>
      </p:sp>
      <p:sp>
        <p:nvSpPr>
          <p:cNvPr id="17" name="Text 13"/>
          <p:cNvSpPr/>
          <p:nvPr/>
        </p:nvSpPr>
        <p:spPr>
          <a:xfrm>
            <a:off x="868680" y="5532120"/>
            <a:ext cx="3200400" cy="384048"/>
          </a:xfrm>
          <a:prstGeom prst="rect">
            <a:avLst/>
          </a:prstGeom>
          <a:noFill/>
          <a:ln/>
        </p:spPr>
        <p:txBody>
          <a:bodyPr wrap="square" lIns="0" tIns="0" rIns="0" bIns="0" rtlCol="0" anchor="ctr"/>
          <a:lstStyle/>
          <a:p>
            <a:pPr algn="ctr" indent="0" marL="0">
              <a:buNone/>
            </a:pPr>
            <a:r>
              <a:rPr lang="en-US" sz="1000" dirty="0">
                <a:solidFill>
                  <a:srgbClr val="10B981"/>
                </a:solidFill>
                <a:latin typeface="Calibri" pitchFamily="34" charset="0"/>
                <a:ea typeface="Calibri" pitchFamily="34" charset="-122"/>
                <a:cs typeface="Calibri" pitchFamily="34" charset="-120"/>
              </a:rPr>
              <a:t>Route: Mombasa Port → Nairobi ICD</a:t>
            </a:r>
            <a:endParaRPr lang="en-US" sz="1000" dirty="0"/>
          </a:p>
        </p:txBody>
      </p:sp>
      <p:sp>
        <p:nvSpPr>
          <p:cNvPr id="18" name="Shape 14"/>
          <p:cNvSpPr/>
          <p:nvPr/>
        </p:nvSpPr>
        <p:spPr>
          <a:xfrm>
            <a:off x="8092440" y="1783080"/>
            <a:ext cx="3456432" cy="4343400"/>
          </a:xfrm>
          <a:prstGeom prst="roundRect">
            <a:avLst>
              <a:gd name="adj" fmla="val 2116"/>
            </a:avLst>
          </a:prstGeom>
          <a:solidFill>
            <a:srgbClr val="13263D"/>
          </a:solidFill>
          <a:ln w="12700">
            <a:solidFill>
              <a:srgbClr val="27435F"/>
            </a:solidFill>
            <a:prstDash val="solid"/>
          </a:ln>
        </p:spPr>
      </p:sp>
      <p:sp>
        <p:nvSpPr>
          <p:cNvPr id="19" name="Text 15"/>
          <p:cNvSpPr/>
          <p:nvPr/>
        </p:nvSpPr>
        <p:spPr>
          <a:xfrm>
            <a:off x="8275320" y="1920240"/>
            <a:ext cx="3108960" cy="274320"/>
          </a:xfrm>
          <a:prstGeom prst="rect">
            <a:avLst/>
          </a:prstGeom>
          <a:noFill/>
          <a:ln/>
        </p:spPr>
        <p:txBody>
          <a:bodyPr wrap="square" rtlCol="0" anchor="ctr"/>
          <a:lstStyle/>
          <a:p>
            <a:pPr indent="0" marL="0">
              <a:buNone/>
            </a:pPr>
            <a:r>
              <a:rPr lang="en-US" sz="1100" b="1" spc="150" kern="0" dirty="0">
                <a:solidFill>
                  <a:srgbClr val="F5821F"/>
                </a:solidFill>
                <a:latin typeface="Calibri" pitchFamily="34" charset="0"/>
                <a:ea typeface="Calibri" pitchFamily="34" charset="-122"/>
                <a:cs typeface="Calibri" pitchFamily="34" charset="-120"/>
              </a:rPr>
              <a:t>TOP 10 FLEET TRACKER</a:t>
            </a:r>
            <a:endParaRPr lang="en-US" sz="1100" dirty="0"/>
          </a:p>
        </p:txBody>
      </p:sp>
      <p:sp>
        <p:nvSpPr>
          <p:cNvPr id="20" name="Shape 16"/>
          <p:cNvSpPr/>
          <p:nvPr/>
        </p:nvSpPr>
        <p:spPr>
          <a:xfrm>
            <a:off x="8275320" y="2286000"/>
            <a:ext cx="3108960" cy="402336"/>
          </a:xfrm>
          <a:prstGeom prst="rect">
            <a:avLst/>
          </a:prstGeom>
          <a:solidFill>
            <a:srgbClr val="1B3350"/>
          </a:solidFill>
          <a:ln w="12700">
            <a:solidFill>
              <a:srgbClr val="1B3350"/>
            </a:solidFill>
            <a:prstDash val="solid"/>
          </a:ln>
        </p:spPr>
      </p:sp>
      <p:sp>
        <p:nvSpPr>
          <p:cNvPr id="21" name="Shape 17"/>
          <p:cNvSpPr/>
          <p:nvPr/>
        </p:nvSpPr>
        <p:spPr>
          <a:xfrm>
            <a:off x="8375904" y="2432304"/>
            <a:ext cx="118872" cy="118872"/>
          </a:xfrm>
          <a:prstGeom prst="ellipse">
            <a:avLst/>
          </a:prstGeom>
          <a:solidFill>
            <a:srgbClr val="10B981"/>
          </a:solidFill>
          <a:ln w="12700">
            <a:solidFill>
              <a:srgbClr val="10B981"/>
            </a:solidFill>
            <a:prstDash val="solid"/>
          </a:ln>
        </p:spPr>
      </p:sp>
      <p:sp>
        <p:nvSpPr>
          <p:cNvPr id="22" name="Text 18"/>
          <p:cNvSpPr/>
          <p:nvPr/>
        </p:nvSpPr>
        <p:spPr>
          <a:xfrm>
            <a:off x="8577072" y="2286000"/>
            <a:ext cx="1188720"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KDE 421X</a:t>
            </a:r>
            <a:endParaRPr lang="en-US" sz="1100" dirty="0"/>
          </a:p>
        </p:txBody>
      </p:sp>
      <p:sp>
        <p:nvSpPr>
          <p:cNvPr id="23" name="Text 19"/>
          <p:cNvSpPr/>
          <p:nvPr/>
        </p:nvSpPr>
        <p:spPr>
          <a:xfrm>
            <a:off x="9692640" y="2286000"/>
            <a:ext cx="1600200" cy="402336"/>
          </a:xfrm>
          <a:prstGeom prst="rect">
            <a:avLst/>
          </a:prstGeom>
          <a:noFill/>
          <a:ln/>
        </p:spPr>
        <p:txBody>
          <a:bodyPr wrap="square" lIns="0" tIns="0" rIns="0" bIns="0" rtlCol="0" anchor="ctr"/>
          <a:lstStyle/>
          <a:p>
            <a:pPr algn="r" indent="0" marL="0">
              <a:buNone/>
            </a:pPr>
            <a:r>
              <a:rPr lang="en-US" sz="1000" dirty="0">
                <a:solidFill>
                  <a:srgbClr val="10B981"/>
                </a:solidFill>
                <a:latin typeface="Calibri" pitchFamily="34" charset="0"/>
                <a:ea typeface="Calibri" pitchFamily="34" charset="-122"/>
                <a:cs typeface="Calibri" pitchFamily="34" charset="-120"/>
              </a:rPr>
              <a:t>Moving • 78 km/h</a:t>
            </a:r>
            <a:endParaRPr lang="en-US" sz="1000" dirty="0"/>
          </a:p>
        </p:txBody>
      </p:sp>
      <p:sp>
        <p:nvSpPr>
          <p:cNvPr id="24" name="Shape 20"/>
          <p:cNvSpPr/>
          <p:nvPr/>
        </p:nvSpPr>
        <p:spPr>
          <a:xfrm>
            <a:off x="8275320" y="2761488"/>
            <a:ext cx="3108960" cy="402336"/>
          </a:xfrm>
          <a:prstGeom prst="rect">
            <a:avLst/>
          </a:prstGeom>
          <a:solidFill>
            <a:srgbClr val="1B3350"/>
          </a:solidFill>
          <a:ln w="12700">
            <a:solidFill>
              <a:srgbClr val="1B3350"/>
            </a:solidFill>
            <a:prstDash val="solid"/>
          </a:ln>
        </p:spPr>
      </p:sp>
      <p:sp>
        <p:nvSpPr>
          <p:cNvPr id="25" name="Shape 21"/>
          <p:cNvSpPr/>
          <p:nvPr/>
        </p:nvSpPr>
        <p:spPr>
          <a:xfrm>
            <a:off x="8375904" y="2907792"/>
            <a:ext cx="118872" cy="118872"/>
          </a:xfrm>
          <a:prstGeom prst="ellipse">
            <a:avLst/>
          </a:prstGeom>
          <a:solidFill>
            <a:srgbClr val="F5821F"/>
          </a:solidFill>
          <a:ln w="12700">
            <a:solidFill>
              <a:srgbClr val="F5821F"/>
            </a:solidFill>
            <a:prstDash val="solid"/>
          </a:ln>
        </p:spPr>
      </p:sp>
      <p:sp>
        <p:nvSpPr>
          <p:cNvPr id="26" name="Text 22"/>
          <p:cNvSpPr/>
          <p:nvPr/>
        </p:nvSpPr>
        <p:spPr>
          <a:xfrm>
            <a:off x="8577072" y="2761488"/>
            <a:ext cx="1188720"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KCX 118M</a:t>
            </a:r>
            <a:endParaRPr lang="en-US" sz="1100" dirty="0"/>
          </a:p>
        </p:txBody>
      </p:sp>
      <p:sp>
        <p:nvSpPr>
          <p:cNvPr id="27" name="Text 23"/>
          <p:cNvSpPr/>
          <p:nvPr/>
        </p:nvSpPr>
        <p:spPr>
          <a:xfrm>
            <a:off x="9692640" y="2761488"/>
            <a:ext cx="1600200" cy="402336"/>
          </a:xfrm>
          <a:prstGeom prst="rect">
            <a:avLst/>
          </a:prstGeom>
          <a:noFill/>
          <a:ln/>
        </p:spPr>
        <p:txBody>
          <a:bodyPr wrap="square" lIns="0" tIns="0" rIns="0" bIns="0" rtlCol="0" anchor="ctr"/>
          <a:lstStyle/>
          <a:p>
            <a:pPr algn="r" indent="0" marL="0">
              <a:buNone/>
            </a:pPr>
            <a:r>
              <a:rPr lang="en-US" sz="1000" dirty="0">
                <a:solidFill>
                  <a:srgbClr val="F5821F"/>
                </a:solidFill>
                <a:latin typeface="Calibri" pitchFamily="34" charset="0"/>
                <a:ea typeface="Calibri" pitchFamily="34" charset="-122"/>
                <a:cs typeface="Calibri" pitchFamily="34" charset="-120"/>
              </a:rPr>
              <a:t>Dwell 3h 12m</a:t>
            </a:r>
            <a:endParaRPr lang="en-US" sz="1000" dirty="0"/>
          </a:p>
        </p:txBody>
      </p:sp>
      <p:sp>
        <p:nvSpPr>
          <p:cNvPr id="28" name="Shape 24"/>
          <p:cNvSpPr/>
          <p:nvPr/>
        </p:nvSpPr>
        <p:spPr>
          <a:xfrm>
            <a:off x="8275320" y="3236976"/>
            <a:ext cx="3108960" cy="402336"/>
          </a:xfrm>
          <a:prstGeom prst="rect">
            <a:avLst/>
          </a:prstGeom>
          <a:solidFill>
            <a:srgbClr val="1B3350"/>
          </a:solidFill>
          <a:ln w="12700">
            <a:solidFill>
              <a:srgbClr val="1B3350"/>
            </a:solidFill>
            <a:prstDash val="solid"/>
          </a:ln>
        </p:spPr>
      </p:sp>
      <p:sp>
        <p:nvSpPr>
          <p:cNvPr id="29" name="Shape 25"/>
          <p:cNvSpPr/>
          <p:nvPr/>
        </p:nvSpPr>
        <p:spPr>
          <a:xfrm>
            <a:off x="8375904" y="3383280"/>
            <a:ext cx="118872" cy="118872"/>
          </a:xfrm>
          <a:prstGeom prst="ellipse">
            <a:avLst/>
          </a:prstGeom>
          <a:solidFill>
            <a:srgbClr val="10B981"/>
          </a:solidFill>
          <a:ln w="12700">
            <a:solidFill>
              <a:srgbClr val="10B981"/>
            </a:solidFill>
            <a:prstDash val="solid"/>
          </a:ln>
        </p:spPr>
      </p:sp>
      <p:sp>
        <p:nvSpPr>
          <p:cNvPr id="30" name="Text 26"/>
          <p:cNvSpPr/>
          <p:nvPr/>
        </p:nvSpPr>
        <p:spPr>
          <a:xfrm>
            <a:off x="8577072" y="3236976"/>
            <a:ext cx="1188720"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KBZ 902L</a:t>
            </a:r>
            <a:endParaRPr lang="en-US" sz="1100" dirty="0"/>
          </a:p>
        </p:txBody>
      </p:sp>
      <p:sp>
        <p:nvSpPr>
          <p:cNvPr id="31" name="Text 27"/>
          <p:cNvSpPr/>
          <p:nvPr/>
        </p:nvSpPr>
        <p:spPr>
          <a:xfrm>
            <a:off x="9692640" y="3236976"/>
            <a:ext cx="1600200" cy="402336"/>
          </a:xfrm>
          <a:prstGeom prst="rect">
            <a:avLst/>
          </a:prstGeom>
          <a:noFill/>
          <a:ln/>
        </p:spPr>
        <p:txBody>
          <a:bodyPr wrap="square" lIns="0" tIns="0" rIns="0" bIns="0" rtlCol="0" anchor="ctr"/>
          <a:lstStyle/>
          <a:p>
            <a:pPr algn="r" indent="0" marL="0">
              <a:buNone/>
            </a:pPr>
            <a:r>
              <a:rPr lang="en-US" sz="1000" dirty="0">
                <a:solidFill>
                  <a:srgbClr val="10B981"/>
                </a:solidFill>
                <a:latin typeface="Calibri" pitchFamily="34" charset="0"/>
                <a:ea typeface="Calibri" pitchFamily="34" charset="-122"/>
                <a:cs typeface="Calibri" pitchFamily="34" charset="-120"/>
              </a:rPr>
              <a:t>Moving • 61 km/h</a:t>
            </a:r>
            <a:endParaRPr lang="en-US" sz="1000" dirty="0"/>
          </a:p>
        </p:txBody>
      </p:sp>
      <p:sp>
        <p:nvSpPr>
          <p:cNvPr id="32" name="Shape 28"/>
          <p:cNvSpPr/>
          <p:nvPr/>
        </p:nvSpPr>
        <p:spPr>
          <a:xfrm>
            <a:off x="8275320" y="3712464"/>
            <a:ext cx="3108960" cy="402336"/>
          </a:xfrm>
          <a:prstGeom prst="rect">
            <a:avLst/>
          </a:prstGeom>
          <a:solidFill>
            <a:srgbClr val="1B3350"/>
          </a:solidFill>
          <a:ln w="12700">
            <a:solidFill>
              <a:srgbClr val="1B3350"/>
            </a:solidFill>
            <a:prstDash val="solid"/>
          </a:ln>
        </p:spPr>
      </p:sp>
      <p:sp>
        <p:nvSpPr>
          <p:cNvPr id="33" name="Shape 29"/>
          <p:cNvSpPr/>
          <p:nvPr/>
        </p:nvSpPr>
        <p:spPr>
          <a:xfrm>
            <a:off x="8375904" y="3858768"/>
            <a:ext cx="118872" cy="118872"/>
          </a:xfrm>
          <a:prstGeom prst="ellipse">
            <a:avLst/>
          </a:prstGeom>
          <a:solidFill>
            <a:srgbClr val="F5821F"/>
          </a:solidFill>
          <a:ln w="12700">
            <a:solidFill>
              <a:srgbClr val="F5821F"/>
            </a:solidFill>
            <a:prstDash val="solid"/>
          </a:ln>
        </p:spPr>
      </p:sp>
      <p:sp>
        <p:nvSpPr>
          <p:cNvPr id="34" name="Text 30"/>
          <p:cNvSpPr/>
          <p:nvPr/>
        </p:nvSpPr>
        <p:spPr>
          <a:xfrm>
            <a:off x="8577072" y="3712464"/>
            <a:ext cx="1188720"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KDA 774T</a:t>
            </a:r>
            <a:endParaRPr lang="en-US" sz="1100" dirty="0"/>
          </a:p>
        </p:txBody>
      </p:sp>
      <p:sp>
        <p:nvSpPr>
          <p:cNvPr id="35" name="Text 31"/>
          <p:cNvSpPr/>
          <p:nvPr/>
        </p:nvSpPr>
        <p:spPr>
          <a:xfrm>
            <a:off x="9692640" y="3712464"/>
            <a:ext cx="1600200" cy="402336"/>
          </a:xfrm>
          <a:prstGeom prst="rect">
            <a:avLst/>
          </a:prstGeom>
          <a:noFill/>
          <a:ln/>
        </p:spPr>
        <p:txBody>
          <a:bodyPr wrap="square" lIns="0" tIns="0" rIns="0" bIns="0" rtlCol="0" anchor="ctr"/>
          <a:lstStyle/>
          <a:p>
            <a:pPr algn="r" indent="0" marL="0">
              <a:buNone/>
            </a:pPr>
            <a:r>
              <a:rPr lang="en-US" sz="1000" dirty="0">
                <a:solidFill>
                  <a:srgbClr val="F5821F"/>
                </a:solidFill>
                <a:latin typeface="Calibri" pitchFamily="34" charset="0"/>
                <a:ea typeface="Calibri" pitchFamily="34" charset="-122"/>
                <a:cs typeface="Calibri" pitchFamily="34" charset="-120"/>
              </a:rPr>
              <a:t>Idle at ICD</a:t>
            </a:r>
            <a:endParaRPr lang="en-US" sz="1000" dirty="0"/>
          </a:p>
        </p:txBody>
      </p:sp>
      <p:sp>
        <p:nvSpPr>
          <p:cNvPr id="36" name="Shape 32"/>
          <p:cNvSpPr/>
          <p:nvPr/>
        </p:nvSpPr>
        <p:spPr>
          <a:xfrm>
            <a:off x="8275320" y="4187952"/>
            <a:ext cx="3108960" cy="402336"/>
          </a:xfrm>
          <a:prstGeom prst="rect">
            <a:avLst/>
          </a:prstGeom>
          <a:solidFill>
            <a:srgbClr val="1B3350"/>
          </a:solidFill>
          <a:ln w="12700">
            <a:solidFill>
              <a:srgbClr val="1B3350"/>
            </a:solidFill>
            <a:prstDash val="solid"/>
          </a:ln>
        </p:spPr>
      </p:sp>
      <p:sp>
        <p:nvSpPr>
          <p:cNvPr id="37" name="Shape 33"/>
          <p:cNvSpPr/>
          <p:nvPr/>
        </p:nvSpPr>
        <p:spPr>
          <a:xfrm>
            <a:off x="8375904" y="4334256"/>
            <a:ext cx="118872" cy="118872"/>
          </a:xfrm>
          <a:prstGeom prst="ellipse">
            <a:avLst/>
          </a:prstGeom>
          <a:solidFill>
            <a:srgbClr val="10B981"/>
          </a:solidFill>
          <a:ln w="12700">
            <a:solidFill>
              <a:srgbClr val="10B981"/>
            </a:solidFill>
            <a:prstDash val="solid"/>
          </a:ln>
        </p:spPr>
      </p:sp>
      <p:sp>
        <p:nvSpPr>
          <p:cNvPr id="38" name="Text 34"/>
          <p:cNvSpPr/>
          <p:nvPr/>
        </p:nvSpPr>
        <p:spPr>
          <a:xfrm>
            <a:off x="8577072" y="4187952"/>
            <a:ext cx="1188720"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KCB 330P</a:t>
            </a:r>
            <a:endParaRPr lang="en-US" sz="1100" dirty="0"/>
          </a:p>
        </p:txBody>
      </p:sp>
      <p:sp>
        <p:nvSpPr>
          <p:cNvPr id="39" name="Text 35"/>
          <p:cNvSpPr/>
          <p:nvPr/>
        </p:nvSpPr>
        <p:spPr>
          <a:xfrm>
            <a:off x="9692640" y="4187952"/>
            <a:ext cx="1600200" cy="402336"/>
          </a:xfrm>
          <a:prstGeom prst="rect">
            <a:avLst/>
          </a:prstGeom>
          <a:noFill/>
          <a:ln/>
        </p:spPr>
        <p:txBody>
          <a:bodyPr wrap="square" lIns="0" tIns="0" rIns="0" bIns="0" rtlCol="0" anchor="ctr"/>
          <a:lstStyle/>
          <a:p>
            <a:pPr algn="r" indent="0" marL="0">
              <a:buNone/>
            </a:pPr>
            <a:r>
              <a:rPr lang="en-US" sz="1000" dirty="0">
                <a:solidFill>
                  <a:srgbClr val="10B981"/>
                </a:solidFill>
                <a:latin typeface="Calibri" pitchFamily="34" charset="0"/>
                <a:ea typeface="Calibri" pitchFamily="34" charset="-122"/>
                <a:cs typeface="Calibri" pitchFamily="34" charset="-120"/>
              </a:rPr>
              <a:t>Moving • 54 km/h</a:t>
            </a:r>
            <a:endParaRPr lang="en-US" sz="1000" dirty="0"/>
          </a:p>
        </p:txBody>
      </p:sp>
      <p:sp>
        <p:nvSpPr>
          <p:cNvPr id="40" name="Shape 36"/>
          <p:cNvSpPr/>
          <p:nvPr/>
        </p:nvSpPr>
        <p:spPr>
          <a:xfrm>
            <a:off x="8275320" y="4754880"/>
            <a:ext cx="3108960" cy="1207008"/>
          </a:xfrm>
          <a:prstGeom prst="rect">
            <a:avLst/>
          </a:prstGeom>
          <a:solidFill>
            <a:srgbClr val="1B3350"/>
          </a:solidFill>
          <a:ln w="12700">
            <a:solidFill>
              <a:srgbClr val="10B981"/>
            </a:solidFill>
            <a:prstDash val="solid"/>
          </a:ln>
        </p:spPr>
      </p:sp>
      <p:sp>
        <p:nvSpPr>
          <p:cNvPr id="41" name="Text 37"/>
          <p:cNvSpPr/>
          <p:nvPr/>
        </p:nvSpPr>
        <p:spPr>
          <a:xfrm>
            <a:off x="8394192" y="4828032"/>
            <a:ext cx="2834640" cy="274320"/>
          </a:xfrm>
          <a:prstGeom prst="rect">
            <a:avLst/>
          </a:prstGeom>
          <a:noFill/>
          <a:ln/>
        </p:spPr>
        <p:txBody>
          <a:bodyPr wrap="square" rtlCol="0" anchor="ctr"/>
          <a:lstStyle/>
          <a:p>
            <a:pPr indent="0" marL="0">
              <a:buNone/>
            </a:pPr>
            <a:r>
              <a:rPr lang="en-US" sz="1050" b="1" dirty="0">
                <a:solidFill>
                  <a:srgbClr val="10B981"/>
                </a:solidFill>
                <a:latin typeface="Calibri" pitchFamily="34" charset="0"/>
                <a:ea typeface="Calibri" pitchFamily="34" charset="-122"/>
                <a:cs typeface="Calibri" pitchFamily="34" charset="-120"/>
              </a:rPr>
              <a:t>KDE 421X — expanded</a:t>
            </a:r>
            <a:endParaRPr lang="en-US" sz="1050" dirty="0"/>
          </a:p>
        </p:txBody>
      </p:sp>
      <p:sp>
        <p:nvSpPr>
          <p:cNvPr id="42" name="Text 38"/>
          <p:cNvSpPr/>
          <p:nvPr/>
        </p:nvSpPr>
        <p:spPr>
          <a:xfrm>
            <a:off x="8394192" y="5102352"/>
            <a:ext cx="2880360" cy="822960"/>
          </a:xfrm>
          <a:prstGeom prst="rect">
            <a:avLst/>
          </a:prstGeom>
          <a:noFill/>
          <a:ln/>
        </p:spPr>
        <p:txBody>
          <a:bodyPr wrap="square" rtlCol="0" anchor="ctr"/>
          <a:lstStyle/>
          <a:p>
            <a:pPr indent="0" marL="0">
              <a:lnSpc>
                <a:spcPts val="1500"/>
              </a:lnSpc>
              <a:buNone/>
            </a:pPr>
            <a:r>
              <a:rPr lang="en-US" sz="1000" dirty="0">
                <a:solidFill>
                  <a:srgbClr val="9DB2C8"/>
                </a:solidFill>
                <a:latin typeface="Calibri" pitchFamily="34" charset="0"/>
                <a:ea typeface="Calibri" pitchFamily="34" charset="-122"/>
                <a:cs typeface="Calibri" pitchFamily="34" charset="-120"/>
              </a:rPr>
              <a:t>Driver: [name]   Co-driver: [name]</a:t>
            </a:r>
            <a:endParaRPr lang="en-US" sz="1000" dirty="0"/>
          </a:p>
          <a:p>
            <a:pPr indent="0" marL="0">
              <a:lnSpc>
                <a:spcPts val="1500"/>
              </a:lnSpc>
              <a:buNone/>
            </a:pPr>
            <a:r>
              <a:rPr lang="en-US" sz="1000" dirty="0">
                <a:solidFill>
                  <a:srgbClr val="9DB2C8"/>
                </a:solidFill>
                <a:latin typeface="Calibri" pitchFamily="34" charset="0"/>
                <a:ea typeface="Calibri" pitchFamily="34" charset="-122"/>
                <a:cs typeface="Calibri" pitchFamily="34" charset="-120"/>
              </a:rPr>
              <a:t>Availability: On trip</a:t>
            </a:r>
            <a:endParaRPr lang="en-US" sz="1000" dirty="0"/>
          </a:p>
          <a:p>
            <a:pPr indent="0" marL="0">
              <a:lnSpc>
                <a:spcPts val="1500"/>
              </a:lnSpc>
              <a:buNone/>
            </a:pPr>
            <a:r>
              <a:rPr lang="en-US" sz="1000" dirty="0">
                <a:solidFill>
                  <a:srgbClr val="9DB2C8"/>
                </a:solidFill>
                <a:latin typeface="Calibri" pitchFamily="34" charset="0"/>
                <a:ea typeface="Calibri" pitchFamily="34" charset="-122"/>
                <a:cs typeface="Calibri" pitchFamily="34" charset="-120"/>
              </a:rPr>
              <a:t>GPS: Connected • 12s ago</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594360" y="384048"/>
            <a:ext cx="7315200" cy="274320"/>
          </a:xfrm>
          <a:prstGeom prst="rect">
            <a:avLst/>
          </a:prstGeom>
          <a:noFill/>
          <a:ln/>
        </p:spPr>
        <p:txBody>
          <a:bodyPr wrap="square" rtlCol="0" anchor="ctr"/>
          <a:lstStyle/>
          <a:p>
            <a:pPr indent="0" marL="0">
              <a:buNone/>
            </a:pPr>
            <a:r>
              <a:rPr lang="en-US" sz="1300" b="1" spc="300" kern="0" dirty="0">
                <a:solidFill>
                  <a:srgbClr val="F5821F"/>
                </a:solidFill>
                <a:latin typeface="Calibri" pitchFamily="34" charset="0"/>
                <a:ea typeface="Calibri" pitchFamily="34" charset="-122"/>
                <a:cs typeface="Calibri" pitchFamily="34" charset="-120"/>
              </a:rPr>
              <a:t>PRODUCT EXPERIENCE</a:t>
            </a:r>
            <a:endParaRPr lang="en-US" sz="1300" dirty="0"/>
          </a:p>
        </p:txBody>
      </p:sp>
      <p:sp>
        <p:nvSpPr>
          <p:cNvPr id="4" name="Text 1"/>
          <p:cNvSpPr/>
          <p:nvPr/>
        </p:nvSpPr>
        <p:spPr>
          <a:xfrm>
            <a:off x="548640" y="685800"/>
            <a:ext cx="10607040" cy="777240"/>
          </a:xfrm>
          <a:prstGeom prst="rect">
            <a:avLst/>
          </a:prstGeom>
          <a:noFill/>
          <a:ln/>
        </p:spPr>
        <p:txBody>
          <a:bodyPr wrap="square" rtlCol="0" anchor="ctr"/>
          <a:lstStyle/>
          <a:p>
            <a:pPr indent="0" marL="0">
              <a:buNone/>
            </a:pPr>
            <a:r>
              <a:rPr lang="en-US" sz="4000" dirty="0">
                <a:solidFill>
                  <a:srgbClr val="FFFFFF"/>
                </a:solidFill>
                <a:latin typeface="Arial Black" pitchFamily="34" charset="0"/>
                <a:ea typeface="Arial Black" pitchFamily="34" charset="-122"/>
                <a:cs typeface="Arial Black" pitchFamily="34" charset="-120"/>
              </a:rPr>
              <a:t>Fleet and asset management</a:t>
            </a:r>
            <a:endParaRPr lang="en-US" sz="4000" dirty="0"/>
          </a:p>
        </p:txBody>
      </p:sp>
      <p:sp>
        <p:nvSpPr>
          <p:cNvPr id="5" name="Shape 2"/>
          <p:cNvSpPr/>
          <p:nvPr/>
        </p:nvSpPr>
        <p:spPr>
          <a:xfrm>
            <a:off x="594360" y="1874520"/>
            <a:ext cx="3474720" cy="1170432"/>
          </a:xfrm>
          <a:prstGeom prst="roundRect">
            <a:avLst>
              <a:gd name="adj" fmla="val 6250"/>
            </a:avLst>
          </a:prstGeom>
          <a:solidFill>
            <a:srgbClr val="13263D"/>
          </a:solidFill>
          <a:ln w="12700">
            <a:solidFill>
              <a:srgbClr val="27435F"/>
            </a:solidFill>
            <a:prstDash val="solid"/>
          </a:ln>
        </p:spPr>
      </p:sp>
      <p:sp>
        <p:nvSpPr>
          <p:cNvPr id="6" name="Text 3"/>
          <p:cNvSpPr/>
          <p:nvPr/>
        </p:nvSpPr>
        <p:spPr>
          <a:xfrm>
            <a:off x="822960" y="2039112"/>
            <a:ext cx="301752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Trucks</a:t>
            </a:r>
            <a:endParaRPr lang="en-US" sz="1600" dirty="0"/>
          </a:p>
        </p:txBody>
      </p:sp>
      <p:sp>
        <p:nvSpPr>
          <p:cNvPr id="7" name="Text 4"/>
          <p:cNvSpPr/>
          <p:nvPr/>
        </p:nvSpPr>
        <p:spPr>
          <a:xfrm>
            <a:off x="822960" y="2441448"/>
            <a:ext cx="3017520" cy="411480"/>
          </a:xfrm>
          <a:prstGeom prst="rect">
            <a:avLst/>
          </a:prstGeom>
          <a:noFill/>
          <a:ln/>
        </p:spPr>
        <p:txBody>
          <a:bodyPr wrap="square" rtlCol="0" anchor="ctr"/>
          <a:lstStyle/>
          <a:p>
            <a:pPr indent="0" marL="0">
              <a:buNone/>
            </a:pPr>
            <a:r>
              <a:rPr lang="en-US" sz="1200" dirty="0">
                <a:solidFill>
                  <a:srgbClr val="10B981"/>
                </a:solidFill>
                <a:latin typeface="Calibri" pitchFamily="34" charset="0"/>
                <a:ea typeface="Calibri" pitchFamily="34" charset="-122"/>
                <a:cs typeface="Calibri" pitchFamily="34" charset="-120"/>
              </a:rPr>
              <a:t>Powered • driver + co-driver</a:t>
            </a:r>
            <a:endParaRPr lang="en-US" sz="1200" dirty="0"/>
          </a:p>
        </p:txBody>
      </p:sp>
      <p:sp>
        <p:nvSpPr>
          <p:cNvPr id="8" name="Shape 5"/>
          <p:cNvSpPr/>
          <p:nvPr/>
        </p:nvSpPr>
        <p:spPr>
          <a:xfrm>
            <a:off x="4297680" y="1874520"/>
            <a:ext cx="3474720" cy="1170432"/>
          </a:xfrm>
          <a:prstGeom prst="roundRect">
            <a:avLst>
              <a:gd name="adj" fmla="val 6250"/>
            </a:avLst>
          </a:prstGeom>
          <a:solidFill>
            <a:srgbClr val="13263D"/>
          </a:solidFill>
          <a:ln w="12700">
            <a:solidFill>
              <a:srgbClr val="27435F"/>
            </a:solidFill>
            <a:prstDash val="solid"/>
          </a:ln>
        </p:spPr>
      </p:sp>
      <p:sp>
        <p:nvSpPr>
          <p:cNvPr id="9" name="Text 6"/>
          <p:cNvSpPr/>
          <p:nvPr/>
        </p:nvSpPr>
        <p:spPr>
          <a:xfrm>
            <a:off x="4526280" y="2039112"/>
            <a:ext cx="301752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Tankers</a:t>
            </a:r>
            <a:endParaRPr lang="en-US" sz="1600" dirty="0"/>
          </a:p>
        </p:txBody>
      </p:sp>
      <p:sp>
        <p:nvSpPr>
          <p:cNvPr id="10" name="Text 7"/>
          <p:cNvSpPr/>
          <p:nvPr/>
        </p:nvSpPr>
        <p:spPr>
          <a:xfrm>
            <a:off x="4526280" y="2441448"/>
            <a:ext cx="3017520" cy="411480"/>
          </a:xfrm>
          <a:prstGeom prst="rect">
            <a:avLst/>
          </a:prstGeom>
          <a:noFill/>
          <a:ln/>
        </p:spPr>
        <p:txBody>
          <a:bodyPr wrap="square" rtlCol="0" anchor="ctr"/>
          <a:lstStyle/>
          <a:p>
            <a:pPr indent="0" marL="0">
              <a:buNone/>
            </a:pPr>
            <a:r>
              <a:rPr lang="en-US" sz="1200" dirty="0">
                <a:solidFill>
                  <a:srgbClr val="10B981"/>
                </a:solidFill>
                <a:latin typeface="Calibri" pitchFamily="34" charset="0"/>
                <a:ea typeface="Calibri" pitchFamily="34" charset="-122"/>
                <a:cs typeface="Calibri" pitchFamily="34" charset="-120"/>
              </a:rPr>
              <a:t>Powered • driver + co-driver</a:t>
            </a:r>
            <a:endParaRPr lang="en-US" sz="1200" dirty="0"/>
          </a:p>
        </p:txBody>
      </p:sp>
      <p:sp>
        <p:nvSpPr>
          <p:cNvPr id="11" name="Shape 8"/>
          <p:cNvSpPr/>
          <p:nvPr/>
        </p:nvSpPr>
        <p:spPr>
          <a:xfrm>
            <a:off x="8001000" y="1874520"/>
            <a:ext cx="3474720" cy="1170432"/>
          </a:xfrm>
          <a:prstGeom prst="roundRect">
            <a:avLst>
              <a:gd name="adj" fmla="val 6250"/>
            </a:avLst>
          </a:prstGeom>
          <a:solidFill>
            <a:srgbClr val="13263D"/>
          </a:solidFill>
          <a:ln w="12700">
            <a:solidFill>
              <a:srgbClr val="27435F"/>
            </a:solidFill>
            <a:prstDash val="solid"/>
          </a:ln>
        </p:spPr>
      </p:sp>
      <p:sp>
        <p:nvSpPr>
          <p:cNvPr id="12" name="Text 9"/>
          <p:cNvSpPr/>
          <p:nvPr/>
        </p:nvSpPr>
        <p:spPr>
          <a:xfrm>
            <a:off x="8229600" y="2039112"/>
            <a:ext cx="301752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Trailers</a:t>
            </a:r>
            <a:endParaRPr lang="en-US" sz="1600" dirty="0"/>
          </a:p>
        </p:txBody>
      </p:sp>
      <p:sp>
        <p:nvSpPr>
          <p:cNvPr id="13" name="Text 10"/>
          <p:cNvSpPr/>
          <p:nvPr/>
        </p:nvSpPr>
        <p:spPr>
          <a:xfrm>
            <a:off x="8229600" y="2441448"/>
            <a:ext cx="3017520" cy="411480"/>
          </a:xfrm>
          <a:prstGeom prst="rect">
            <a:avLst/>
          </a:prstGeom>
          <a:noFill/>
          <a:ln/>
        </p:spPr>
        <p:txBody>
          <a:bodyPr wrap="square" rtlCol="0" anchor="ctr"/>
          <a:lstStyle/>
          <a:p>
            <a:pPr indent="0" marL="0">
              <a:buNone/>
            </a:pPr>
            <a:r>
              <a:rPr lang="en-US" sz="1200" dirty="0">
                <a:solidFill>
                  <a:srgbClr val="F5821F"/>
                </a:solidFill>
                <a:latin typeface="Calibri" pitchFamily="34" charset="0"/>
                <a:ea typeface="Calibri" pitchFamily="34" charset="-122"/>
                <a:cs typeface="Calibri" pitchFamily="34" charset="-120"/>
              </a:rPr>
              <a:t>Towed equipment</a:t>
            </a:r>
            <a:endParaRPr lang="en-US" sz="1200" dirty="0"/>
          </a:p>
        </p:txBody>
      </p:sp>
      <p:sp>
        <p:nvSpPr>
          <p:cNvPr id="14" name="Shape 11"/>
          <p:cNvSpPr/>
          <p:nvPr/>
        </p:nvSpPr>
        <p:spPr>
          <a:xfrm>
            <a:off x="594360" y="3246120"/>
            <a:ext cx="3474720" cy="1170432"/>
          </a:xfrm>
          <a:prstGeom prst="roundRect">
            <a:avLst>
              <a:gd name="adj" fmla="val 6250"/>
            </a:avLst>
          </a:prstGeom>
          <a:solidFill>
            <a:srgbClr val="13263D"/>
          </a:solidFill>
          <a:ln w="12700">
            <a:solidFill>
              <a:srgbClr val="27435F"/>
            </a:solidFill>
            <a:prstDash val="solid"/>
          </a:ln>
        </p:spPr>
      </p:sp>
      <p:sp>
        <p:nvSpPr>
          <p:cNvPr id="15" name="Text 12"/>
          <p:cNvSpPr/>
          <p:nvPr/>
        </p:nvSpPr>
        <p:spPr>
          <a:xfrm>
            <a:off x="822960" y="3410712"/>
            <a:ext cx="301752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Chassis</a:t>
            </a:r>
            <a:endParaRPr lang="en-US" sz="1600" dirty="0"/>
          </a:p>
        </p:txBody>
      </p:sp>
      <p:sp>
        <p:nvSpPr>
          <p:cNvPr id="16" name="Text 13"/>
          <p:cNvSpPr/>
          <p:nvPr/>
        </p:nvSpPr>
        <p:spPr>
          <a:xfrm>
            <a:off x="822960" y="3813048"/>
            <a:ext cx="3017520" cy="411480"/>
          </a:xfrm>
          <a:prstGeom prst="rect">
            <a:avLst/>
          </a:prstGeom>
          <a:noFill/>
          <a:ln/>
        </p:spPr>
        <p:txBody>
          <a:bodyPr wrap="square" rtlCol="0" anchor="ctr"/>
          <a:lstStyle/>
          <a:p>
            <a:pPr indent="0" marL="0">
              <a:buNone/>
            </a:pPr>
            <a:r>
              <a:rPr lang="en-US" sz="1200" dirty="0">
                <a:solidFill>
                  <a:srgbClr val="F5821F"/>
                </a:solidFill>
                <a:latin typeface="Calibri" pitchFamily="34" charset="0"/>
                <a:ea typeface="Calibri" pitchFamily="34" charset="-122"/>
                <a:cs typeface="Calibri" pitchFamily="34" charset="-120"/>
              </a:rPr>
              <a:t>Towed equipment</a:t>
            </a:r>
            <a:endParaRPr lang="en-US" sz="1200" dirty="0"/>
          </a:p>
        </p:txBody>
      </p:sp>
      <p:sp>
        <p:nvSpPr>
          <p:cNvPr id="17" name="Shape 14"/>
          <p:cNvSpPr/>
          <p:nvPr/>
        </p:nvSpPr>
        <p:spPr>
          <a:xfrm>
            <a:off x="4297680" y="3246120"/>
            <a:ext cx="3474720" cy="1170432"/>
          </a:xfrm>
          <a:prstGeom prst="roundRect">
            <a:avLst>
              <a:gd name="adj" fmla="val 6250"/>
            </a:avLst>
          </a:prstGeom>
          <a:solidFill>
            <a:srgbClr val="13263D"/>
          </a:solidFill>
          <a:ln w="12700">
            <a:solidFill>
              <a:srgbClr val="27435F"/>
            </a:solidFill>
            <a:prstDash val="solid"/>
          </a:ln>
        </p:spPr>
      </p:sp>
      <p:sp>
        <p:nvSpPr>
          <p:cNvPr id="18" name="Text 15"/>
          <p:cNvSpPr/>
          <p:nvPr/>
        </p:nvSpPr>
        <p:spPr>
          <a:xfrm>
            <a:off x="4526280" y="3410712"/>
            <a:ext cx="301752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Ships</a:t>
            </a:r>
            <a:endParaRPr lang="en-US" sz="1600" dirty="0"/>
          </a:p>
        </p:txBody>
      </p:sp>
      <p:sp>
        <p:nvSpPr>
          <p:cNvPr id="19" name="Text 16"/>
          <p:cNvSpPr/>
          <p:nvPr/>
        </p:nvSpPr>
        <p:spPr>
          <a:xfrm>
            <a:off x="4526280" y="3813048"/>
            <a:ext cx="3017520" cy="411480"/>
          </a:xfrm>
          <a:prstGeom prst="rect">
            <a:avLst/>
          </a:prstGeom>
          <a:noFill/>
          <a:ln/>
        </p:spPr>
        <p:txBody>
          <a:bodyPr wrap="square" rtlCol="0" anchor="ctr"/>
          <a:lstStyle/>
          <a:p>
            <a:pPr indent="0" marL="0">
              <a:buNone/>
            </a:pPr>
            <a:r>
              <a:rPr lang="en-US" sz="1200" dirty="0">
                <a:solidFill>
                  <a:srgbClr val="F5821F"/>
                </a:solidFill>
                <a:latin typeface="Calibri" pitchFamily="34" charset="0"/>
                <a:ea typeface="Calibri" pitchFamily="34" charset="-122"/>
                <a:cs typeface="Calibri" pitchFamily="34" charset="-120"/>
              </a:rPr>
              <a:t>Vessel asset record</a:t>
            </a:r>
            <a:endParaRPr lang="en-US" sz="1200" dirty="0"/>
          </a:p>
        </p:txBody>
      </p:sp>
      <p:sp>
        <p:nvSpPr>
          <p:cNvPr id="20" name="Shape 17"/>
          <p:cNvSpPr/>
          <p:nvPr/>
        </p:nvSpPr>
        <p:spPr>
          <a:xfrm>
            <a:off x="8001000" y="3246120"/>
            <a:ext cx="3474720" cy="1170432"/>
          </a:xfrm>
          <a:prstGeom prst="roundRect">
            <a:avLst>
              <a:gd name="adj" fmla="val 6250"/>
            </a:avLst>
          </a:prstGeom>
          <a:solidFill>
            <a:srgbClr val="13263D"/>
          </a:solidFill>
          <a:ln w="12700">
            <a:solidFill>
              <a:srgbClr val="27435F"/>
            </a:solidFill>
            <a:prstDash val="solid"/>
          </a:ln>
        </p:spPr>
      </p:sp>
      <p:sp>
        <p:nvSpPr>
          <p:cNvPr id="21" name="Text 18"/>
          <p:cNvSpPr/>
          <p:nvPr/>
        </p:nvSpPr>
        <p:spPr>
          <a:xfrm>
            <a:off x="8229600" y="3410712"/>
            <a:ext cx="301752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Containers</a:t>
            </a:r>
            <a:endParaRPr lang="en-US" sz="1600" dirty="0"/>
          </a:p>
        </p:txBody>
      </p:sp>
      <p:sp>
        <p:nvSpPr>
          <p:cNvPr id="22" name="Text 19"/>
          <p:cNvSpPr/>
          <p:nvPr/>
        </p:nvSpPr>
        <p:spPr>
          <a:xfrm>
            <a:off x="8229600" y="3813048"/>
            <a:ext cx="3017520" cy="411480"/>
          </a:xfrm>
          <a:prstGeom prst="rect">
            <a:avLst/>
          </a:prstGeom>
          <a:noFill/>
          <a:ln/>
        </p:spPr>
        <p:txBody>
          <a:bodyPr wrap="square" rtlCol="0" anchor="ctr"/>
          <a:lstStyle/>
          <a:p>
            <a:pPr indent="0" marL="0">
              <a:buNone/>
            </a:pPr>
            <a:r>
              <a:rPr lang="en-US" sz="1200" dirty="0">
                <a:solidFill>
                  <a:srgbClr val="F5821F"/>
                </a:solidFill>
                <a:latin typeface="Calibri" pitchFamily="34" charset="0"/>
                <a:ea typeface="Calibri" pitchFamily="34" charset="-122"/>
                <a:cs typeface="Calibri" pitchFamily="34" charset="-120"/>
              </a:rPr>
              <a:t>Cargo equipment • no driver</a:t>
            </a:r>
            <a:endParaRPr lang="en-US" sz="1200" dirty="0"/>
          </a:p>
        </p:txBody>
      </p:sp>
      <p:sp>
        <p:nvSpPr>
          <p:cNvPr id="23" name="Shape 20"/>
          <p:cNvSpPr/>
          <p:nvPr/>
        </p:nvSpPr>
        <p:spPr>
          <a:xfrm>
            <a:off x="594360" y="4754880"/>
            <a:ext cx="10954512" cy="1234440"/>
          </a:xfrm>
          <a:prstGeom prst="roundRect">
            <a:avLst>
              <a:gd name="adj" fmla="val 5926"/>
            </a:avLst>
          </a:prstGeom>
          <a:solidFill>
            <a:srgbClr val="1B3350"/>
          </a:solidFill>
          <a:ln w="12700">
            <a:solidFill>
              <a:srgbClr val="27435F"/>
            </a:solidFill>
            <a:prstDash val="solid"/>
          </a:ln>
        </p:spPr>
      </p:sp>
      <p:sp>
        <p:nvSpPr>
          <p:cNvPr id="24" name="Text 21"/>
          <p:cNvSpPr/>
          <p:nvPr/>
        </p:nvSpPr>
        <p:spPr>
          <a:xfrm>
            <a:off x="868680" y="4864608"/>
            <a:ext cx="10424160" cy="1005840"/>
          </a:xfrm>
          <a:prstGeom prst="rect">
            <a:avLst/>
          </a:prstGeom>
          <a:noFill/>
          <a:ln/>
        </p:spPr>
        <p:txBody>
          <a:bodyPr wrap="square" rtlCol="0" anchor="t"/>
          <a:lstStyle/>
          <a:p>
            <a:pPr marL="342900" indent="-342900">
              <a:lnSpc>
                <a:spcPts val="1800"/>
              </a:lnSpc>
              <a:buSzPct val="100000"/>
              <a:buChar char="▪"/>
            </a:pPr>
            <a:r>
              <a:rPr lang="en-US" sz="1350" dirty="0">
                <a:solidFill>
                  <a:srgbClr val="9DB2C8"/>
                </a:solidFill>
                <a:latin typeface="Calibri" pitchFamily="34" charset="0"/>
                <a:ea typeface="Calibri" pitchFamily="34" charset="-122"/>
                <a:cs typeface="Calibri" pitchFamily="34" charset="-120"/>
              </a:rPr>
              <a:t>Category-aware registration</a:t>
            </a:r>
            <a:endParaRPr lang="en-US" sz="1350" dirty="0"/>
          </a:p>
          <a:p>
            <a:pPr marL="342900" indent="-342900">
              <a:lnSpc>
                <a:spcPts val="1800"/>
              </a:lnSpc>
              <a:buSzPct val="100000"/>
              <a:buChar char="▪"/>
            </a:pPr>
            <a:r>
              <a:rPr lang="en-US" sz="1350" dirty="0">
                <a:solidFill>
                  <a:srgbClr val="9DB2C8"/>
                </a:solidFill>
                <a:latin typeface="Calibri" pitchFamily="34" charset="0"/>
                <a:ea typeface="Calibri" pitchFamily="34" charset="-122"/>
                <a:cs typeface="Calibri" pitchFamily="34" charset="-120"/>
              </a:rPr>
              <a:t>Container registry and assignment</a:t>
            </a:r>
            <a:endParaRPr lang="en-US" sz="1350" dirty="0"/>
          </a:p>
          <a:p>
            <a:pPr marL="342900" indent="-342900">
              <a:lnSpc>
                <a:spcPts val="1800"/>
              </a:lnSpc>
              <a:buSzPct val="100000"/>
              <a:buChar char="▪"/>
            </a:pPr>
            <a:r>
              <a:rPr lang="en-US" sz="1350" dirty="0">
                <a:solidFill>
                  <a:srgbClr val="9DB2C8"/>
                </a:solidFill>
                <a:latin typeface="Calibri" pitchFamily="34" charset="0"/>
                <a:ea typeface="Calibri" pitchFamily="34" charset="-122"/>
                <a:cs typeface="Calibri" pitchFamily="34" charset="-120"/>
              </a:rPr>
              <a:t>Telematics and tracker details per asset</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594360" y="384048"/>
            <a:ext cx="7315200" cy="274320"/>
          </a:xfrm>
          <a:prstGeom prst="rect">
            <a:avLst/>
          </a:prstGeom>
          <a:noFill/>
          <a:ln/>
        </p:spPr>
        <p:txBody>
          <a:bodyPr wrap="square" rtlCol="0" anchor="ctr"/>
          <a:lstStyle/>
          <a:p>
            <a:pPr indent="0" marL="0">
              <a:buNone/>
            </a:pPr>
            <a:r>
              <a:rPr lang="en-US" sz="1300" b="1" spc="300" kern="0" dirty="0">
                <a:solidFill>
                  <a:srgbClr val="F5821F"/>
                </a:solidFill>
                <a:latin typeface="Calibri" pitchFamily="34" charset="0"/>
                <a:ea typeface="Calibri" pitchFamily="34" charset="-122"/>
                <a:cs typeface="Calibri" pitchFamily="34" charset="-120"/>
              </a:rPr>
              <a:t>OPERATIONAL INTELLIGENCE</a:t>
            </a:r>
            <a:endParaRPr lang="en-US" sz="1300" dirty="0"/>
          </a:p>
        </p:txBody>
      </p:sp>
      <p:sp>
        <p:nvSpPr>
          <p:cNvPr id="4" name="Text 1"/>
          <p:cNvSpPr/>
          <p:nvPr/>
        </p:nvSpPr>
        <p:spPr>
          <a:xfrm>
            <a:off x="548640" y="685800"/>
            <a:ext cx="10607040" cy="777240"/>
          </a:xfrm>
          <a:prstGeom prst="rect">
            <a:avLst/>
          </a:prstGeom>
          <a:noFill/>
          <a:ln/>
        </p:spPr>
        <p:txBody>
          <a:bodyPr wrap="square" rtlCol="0" anchor="ctr"/>
          <a:lstStyle/>
          <a:p>
            <a:pPr indent="0" marL="0">
              <a:buNone/>
            </a:pPr>
            <a:r>
              <a:rPr lang="en-US" sz="4000" dirty="0">
                <a:solidFill>
                  <a:srgbClr val="FFFFFF"/>
                </a:solidFill>
                <a:latin typeface="Arial Black" pitchFamily="34" charset="0"/>
                <a:ea typeface="Arial Black" pitchFamily="34" charset="-122"/>
                <a:cs typeface="Arial Black" pitchFamily="34" charset="-120"/>
              </a:rPr>
              <a:t>From movement data to money</a:t>
            </a:r>
            <a:endParaRPr lang="en-US" sz="4000" dirty="0"/>
          </a:p>
        </p:txBody>
      </p:sp>
      <p:sp>
        <p:nvSpPr>
          <p:cNvPr id="5" name="Text 2"/>
          <p:cNvSpPr/>
          <p:nvPr/>
        </p:nvSpPr>
        <p:spPr>
          <a:xfrm>
            <a:off x="594360" y="1783080"/>
            <a:ext cx="5577840" cy="4206240"/>
          </a:xfrm>
          <a:prstGeom prst="rect">
            <a:avLst/>
          </a:prstGeom>
          <a:noFill/>
          <a:ln/>
        </p:spPr>
        <p:txBody>
          <a:bodyPr wrap="square" rtlCol="0" anchor="t"/>
          <a:lstStyle/>
          <a:p>
            <a:pPr marL="342900" indent="-342900">
              <a:lnSpc>
                <a:spcPts val="2800"/>
              </a:lnSpc>
              <a:buSzPct val="100000"/>
              <a:buChar char="▪"/>
            </a:pPr>
            <a:r>
              <a:rPr lang="en-US" sz="1650" dirty="0">
                <a:solidFill>
                  <a:srgbClr val="9DB2C8"/>
                </a:solidFill>
                <a:latin typeface="Calibri" pitchFamily="34" charset="0"/>
                <a:ea typeface="Calibri" pitchFamily="34" charset="-122"/>
                <a:cs typeface="Calibri" pitchFamily="34" charset="-120"/>
              </a:rPr>
              <a:t>Detects excessive dwell time and recurring facility bottlenecks</a:t>
            </a:r>
            <a:endParaRPr lang="en-US" sz="1650" dirty="0"/>
          </a:p>
          <a:p>
            <a:pPr marL="342900" indent="-342900">
              <a:lnSpc>
                <a:spcPts val="2800"/>
              </a:lnSpc>
              <a:buSzPct val="100000"/>
              <a:buChar char="▪"/>
            </a:pPr>
            <a:r>
              <a:rPr lang="en-US" sz="1650" dirty="0">
                <a:solidFill>
                  <a:srgbClr val="9DB2C8"/>
                </a:solidFill>
                <a:latin typeface="Calibri" pitchFamily="34" charset="0"/>
                <a:ea typeface="Calibri" pitchFamily="34" charset="-122"/>
                <a:cs typeface="Calibri" pitchFamily="34" charset="-120"/>
              </a:rPr>
              <a:t>Tracks active and completed dwell events</a:t>
            </a:r>
            <a:endParaRPr lang="en-US" sz="1650" dirty="0"/>
          </a:p>
          <a:p>
            <a:pPr marL="342900" indent="-342900">
              <a:lnSpc>
                <a:spcPts val="2800"/>
              </a:lnSpc>
              <a:buSzPct val="100000"/>
              <a:buChar char="▪"/>
            </a:pPr>
            <a:r>
              <a:rPr lang="en-US" sz="1650" dirty="0">
                <a:solidFill>
                  <a:srgbClr val="9DB2C8"/>
                </a:solidFill>
                <a:latin typeface="Calibri" pitchFamily="34" charset="0"/>
                <a:ea typeface="Calibri" pitchFamily="34" charset="-122"/>
                <a:cs typeface="Calibri" pitchFamily="34" charset="-120"/>
              </a:rPr>
              <a:t>Calculates excess delay minutes and estimated idle cost</a:t>
            </a:r>
            <a:endParaRPr lang="en-US" sz="1650" dirty="0"/>
          </a:p>
          <a:p>
            <a:pPr marL="342900" indent="-342900">
              <a:lnSpc>
                <a:spcPts val="2800"/>
              </a:lnSpc>
              <a:buSzPct val="100000"/>
              <a:buChar char="▪"/>
            </a:pPr>
            <a:r>
              <a:rPr lang="en-US" sz="1650" dirty="0">
                <a:solidFill>
                  <a:srgbClr val="9DB2C8"/>
                </a:solidFill>
                <a:latin typeface="Calibri" pitchFamily="34" charset="0"/>
                <a:ea typeface="Calibri" pitchFamily="34" charset="-122"/>
                <a:cs typeface="Calibri" pitchFamily="34" charset="-120"/>
              </a:rPr>
              <a:t>Highlights demurrage risk</a:t>
            </a:r>
            <a:endParaRPr lang="en-US" sz="1650" dirty="0"/>
          </a:p>
          <a:p>
            <a:pPr marL="342900" indent="-342900">
              <a:lnSpc>
                <a:spcPts val="2800"/>
              </a:lnSpc>
              <a:buSzPct val="100000"/>
              <a:buChar char="▪"/>
            </a:pPr>
            <a:r>
              <a:rPr lang="en-US" sz="1650" dirty="0">
                <a:solidFill>
                  <a:srgbClr val="9DB2C8"/>
                </a:solidFill>
                <a:latin typeface="Calibri" pitchFamily="34" charset="0"/>
                <a:ea typeface="Calibri" pitchFamily="34" charset="-122"/>
                <a:cs typeface="Calibri" pitchFamily="34" charset="-120"/>
              </a:rPr>
              <a:t>Supports historical facility benchmarking</a:t>
            </a:r>
            <a:endParaRPr lang="en-US" sz="1650" dirty="0"/>
          </a:p>
          <a:p>
            <a:pPr marL="342900" indent="-342900">
              <a:lnSpc>
                <a:spcPts val="2800"/>
              </a:lnSpc>
              <a:buSzPct val="100000"/>
              <a:buChar char="▪"/>
            </a:pPr>
            <a:r>
              <a:rPr lang="en-US" sz="1650" dirty="0">
                <a:solidFill>
                  <a:srgbClr val="9DB2C8"/>
                </a:solidFill>
                <a:latin typeface="Calibri" pitchFamily="34" charset="0"/>
                <a:ea typeface="Calibri" pitchFamily="34" charset="-122"/>
                <a:cs typeface="Calibri" pitchFamily="34" charset="-120"/>
              </a:rPr>
              <a:t>Gives dispatchers actionable operational context</a:t>
            </a:r>
            <a:endParaRPr lang="en-US" sz="1650" dirty="0"/>
          </a:p>
        </p:txBody>
      </p:sp>
      <p:sp>
        <p:nvSpPr>
          <p:cNvPr id="6" name="Shape 3"/>
          <p:cNvSpPr/>
          <p:nvPr/>
        </p:nvSpPr>
        <p:spPr>
          <a:xfrm>
            <a:off x="6446520" y="1783080"/>
            <a:ext cx="5102352" cy="1965960"/>
          </a:xfrm>
          <a:prstGeom prst="roundRect">
            <a:avLst>
              <a:gd name="adj" fmla="val 3721"/>
            </a:avLst>
          </a:prstGeom>
          <a:solidFill>
            <a:srgbClr val="13263D"/>
          </a:solidFill>
          <a:ln w="12700">
            <a:solidFill>
              <a:srgbClr val="27435F"/>
            </a:solidFill>
            <a:prstDash val="solid"/>
          </a:ln>
        </p:spPr>
      </p:sp>
      <p:sp>
        <p:nvSpPr>
          <p:cNvPr id="7" name="Text 4"/>
          <p:cNvSpPr/>
          <p:nvPr/>
        </p:nvSpPr>
        <p:spPr>
          <a:xfrm>
            <a:off x="6675120" y="1901952"/>
            <a:ext cx="4572000" cy="274320"/>
          </a:xfrm>
          <a:prstGeom prst="rect">
            <a:avLst/>
          </a:prstGeom>
          <a:noFill/>
          <a:ln/>
        </p:spPr>
        <p:txBody>
          <a:bodyPr wrap="square" rtlCol="0" anchor="ctr"/>
          <a:lstStyle/>
          <a:p>
            <a:pPr indent="0" marL="0">
              <a:buNone/>
            </a:pPr>
            <a:r>
              <a:rPr lang="en-US" sz="1100" b="1" spc="150" kern="0" dirty="0">
                <a:solidFill>
                  <a:srgbClr val="F5821F"/>
                </a:solidFill>
                <a:latin typeface="Calibri" pitchFamily="34" charset="0"/>
                <a:ea typeface="Calibri" pitchFamily="34" charset="-122"/>
                <a:cs typeface="Calibri" pitchFamily="34" charset="-120"/>
              </a:rPr>
              <a:t>FINANCIAL LOSS FORMULA</a:t>
            </a:r>
            <a:endParaRPr lang="en-US" sz="1100" dirty="0"/>
          </a:p>
        </p:txBody>
      </p:sp>
      <p:sp>
        <p:nvSpPr>
          <p:cNvPr id="8" name="Text 5"/>
          <p:cNvSpPr/>
          <p:nvPr/>
        </p:nvSpPr>
        <p:spPr>
          <a:xfrm>
            <a:off x="6675120" y="2240280"/>
            <a:ext cx="466344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Loss = max(0, Actual Dwell − Expected Dwell)</a:t>
            </a:r>
            <a:endParaRPr lang="en-US" sz="1700" dirty="0"/>
          </a:p>
        </p:txBody>
      </p:sp>
      <p:sp>
        <p:nvSpPr>
          <p:cNvPr id="9" name="Text 6"/>
          <p:cNvSpPr/>
          <p:nvPr/>
        </p:nvSpPr>
        <p:spPr>
          <a:xfrm>
            <a:off x="6675120" y="2651760"/>
            <a:ext cx="4663440" cy="411480"/>
          </a:xfrm>
          <a:prstGeom prst="rect">
            <a:avLst/>
          </a:prstGeom>
          <a:noFill/>
          <a:ln/>
        </p:spPr>
        <p:txBody>
          <a:bodyPr wrap="square" rtlCol="0" anchor="ctr"/>
          <a:lstStyle/>
          <a:p>
            <a:pPr indent="0" marL="0">
              <a:buNone/>
            </a:pPr>
            <a:r>
              <a:rPr lang="en-US" sz="1700" b="1" dirty="0">
                <a:solidFill>
                  <a:srgbClr val="10B981"/>
                </a:solidFill>
                <a:latin typeface="Calibri" pitchFamily="34" charset="0"/>
                <a:ea typeface="Calibri" pitchFamily="34" charset="-122"/>
                <a:cs typeface="Calibri" pitchFamily="34" charset="-120"/>
              </a:rPr>
              <a:t>× (Hourly Operating Cost ÷ 60)</a:t>
            </a:r>
            <a:endParaRPr lang="en-US" sz="1700" dirty="0"/>
          </a:p>
        </p:txBody>
      </p:sp>
      <p:sp>
        <p:nvSpPr>
          <p:cNvPr id="10" name="Text 7"/>
          <p:cNvSpPr/>
          <p:nvPr/>
        </p:nvSpPr>
        <p:spPr>
          <a:xfrm>
            <a:off x="6675120" y="3127248"/>
            <a:ext cx="4663440" cy="502920"/>
          </a:xfrm>
          <a:prstGeom prst="rect">
            <a:avLst/>
          </a:prstGeom>
          <a:noFill/>
          <a:ln/>
        </p:spPr>
        <p:txBody>
          <a:bodyPr wrap="square" rtlCol="0" anchor="ctr"/>
          <a:lstStyle/>
          <a:p>
            <a:pPr indent="0" marL="0">
              <a:buNone/>
            </a:pPr>
            <a:r>
              <a:rPr lang="en-US" sz="1150" dirty="0">
                <a:solidFill>
                  <a:srgbClr val="9DB2C8"/>
                </a:solidFill>
                <a:latin typeface="Calibri" pitchFamily="34" charset="0"/>
                <a:ea typeface="Calibri" pitchFamily="34" charset="-122"/>
                <a:cs typeface="Calibri" pitchFamily="34" charset="-120"/>
              </a:rPr>
              <a:t>Excess minutes of dwell, priced at the vehicle's hourly operating cost.</a:t>
            </a:r>
            <a:endParaRPr lang="en-US" sz="1150" dirty="0"/>
          </a:p>
        </p:txBody>
      </p:sp>
      <p:sp>
        <p:nvSpPr>
          <p:cNvPr id="11" name="Shape 8"/>
          <p:cNvSpPr/>
          <p:nvPr/>
        </p:nvSpPr>
        <p:spPr>
          <a:xfrm>
            <a:off x="6446520" y="3931920"/>
            <a:ext cx="5102352" cy="2194560"/>
          </a:xfrm>
          <a:prstGeom prst="roundRect">
            <a:avLst>
              <a:gd name="adj" fmla="val 3333"/>
            </a:avLst>
          </a:prstGeom>
          <a:solidFill>
            <a:srgbClr val="1B3350"/>
          </a:solidFill>
          <a:ln w="12700">
            <a:solidFill>
              <a:srgbClr val="27435F"/>
            </a:solidFill>
            <a:prstDash val="solid"/>
          </a:ln>
        </p:spPr>
      </p:sp>
      <p:sp>
        <p:nvSpPr>
          <p:cNvPr id="12" name="Text 9"/>
          <p:cNvSpPr/>
          <p:nvPr/>
        </p:nvSpPr>
        <p:spPr>
          <a:xfrm>
            <a:off x="6675120" y="4041648"/>
            <a:ext cx="4663440" cy="274320"/>
          </a:xfrm>
          <a:prstGeom prst="rect">
            <a:avLst/>
          </a:prstGeom>
          <a:noFill/>
          <a:ln/>
        </p:spPr>
        <p:txBody>
          <a:bodyPr wrap="square" rtlCol="0" anchor="ctr"/>
          <a:lstStyle/>
          <a:p>
            <a:pPr indent="0" marL="0">
              <a:buNone/>
            </a:pPr>
            <a:r>
              <a:rPr lang="en-US" sz="1050" b="1" spc="100" kern="0" dirty="0">
                <a:solidFill>
                  <a:srgbClr val="9DB2C8"/>
                </a:solidFill>
                <a:latin typeface="Calibri" pitchFamily="34" charset="0"/>
                <a:ea typeface="Calibri" pitchFamily="34" charset="-122"/>
                <a:cs typeface="Calibri" pitchFamily="34" charset="-120"/>
              </a:rPr>
              <a:t>DWELL-COST ANALYSIS  (illustrative)</a:t>
            </a:r>
            <a:endParaRPr lang="en-US" sz="1050" dirty="0"/>
          </a:p>
        </p:txBody>
      </p:sp>
      <p:sp>
        <p:nvSpPr>
          <p:cNvPr id="13" name="Text 10"/>
          <p:cNvSpPr/>
          <p:nvPr/>
        </p:nvSpPr>
        <p:spPr>
          <a:xfrm>
            <a:off x="6675120" y="4370832"/>
            <a:ext cx="2011680" cy="365760"/>
          </a:xfrm>
          <a:prstGeom prst="rect">
            <a:avLst/>
          </a:prstGeom>
          <a:noFill/>
          <a:ln/>
        </p:spPr>
        <p:txBody>
          <a:bodyPr wrap="square" lIns="0" tIns="0" rIns="0" bIns="0" rtlCol="0" anchor="ctr"/>
          <a:lstStyle/>
          <a:p>
            <a:pPr indent="0" marL="0">
              <a:buNone/>
            </a:pPr>
            <a:r>
              <a:rPr lang="en-US" sz="1200" b="1" dirty="0">
                <a:solidFill>
                  <a:srgbClr val="F5821F"/>
                </a:solidFill>
                <a:latin typeface="Calibri" pitchFamily="34" charset="0"/>
                <a:ea typeface="Calibri" pitchFamily="34" charset="-122"/>
                <a:cs typeface="Calibri" pitchFamily="34" charset="-120"/>
              </a:rPr>
              <a:t>Facility</a:t>
            </a:r>
            <a:endParaRPr lang="en-US" sz="1200" dirty="0"/>
          </a:p>
        </p:txBody>
      </p:sp>
      <p:sp>
        <p:nvSpPr>
          <p:cNvPr id="14" name="Text 11"/>
          <p:cNvSpPr/>
          <p:nvPr/>
        </p:nvSpPr>
        <p:spPr>
          <a:xfrm>
            <a:off x="8686800" y="4370832"/>
            <a:ext cx="1280160" cy="365760"/>
          </a:xfrm>
          <a:prstGeom prst="rect">
            <a:avLst/>
          </a:prstGeom>
          <a:noFill/>
          <a:ln/>
        </p:spPr>
        <p:txBody>
          <a:bodyPr wrap="square" lIns="0" tIns="0" rIns="0" bIns="0" rtlCol="0" anchor="ctr"/>
          <a:lstStyle/>
          <a:p>
            <a:pPr algn="r" indent="0" marL="0">
              <a:buNone/>
            </a:pPr>
            <a:r>
              <a:rPr lang="en-US" sz="1200" dirty="0">
                <a:solidFill>
                  <a:srgbClr val="F5821F"/>
                </a:solidFill>
                <a:latin typeface="Calibri" pitchFamily="34" charset="0"/>
                <a:ea typeface="Calibri" pitchFamily="34" charset="-122"/>
                <a:cs typeface="Calibri" pitchFamily="34" charset="-120"/>
              </a:rPr>
              <a:t>Excess</a:t>
            </a:r>
            <a:endParaRPr lang="en-US" sz="1200" dirty="0"/>
          </a:p>
        </p:txBody>
      </p:sp>
      <p:sp>
        <p:nvSpPr>
          <p:cNvPr id="15" name="Text 12"/>
          <p:cNvSpPr/>
          <p:nvPr/>
        </p:nvSpPr>
        <p:spPr>
          <a:xfrm>
            <a:off x="9966960" y="4370832"/>
            <a:ext cx="1371600" cy="365760"/>
          </a:xfrm>
          <a:prstGeom prst="rect">
            <a:avLst/>
          </a:prstGeom>
          <a:noFill/>
          <a:ln/>
        </p:spPr>
        <p:txBody>
          <a:bodyPr wrap="square" lIns="0" tIns="0" rIns="0" bIns="0" rtlCol="0" anchor="ctr"/>
          <a:lstStyle/>
          <a:p>
            <a:pPr algn="r" indent="0" marL="0">
              <a:buNone/>
            </a:pPr>
            <a:r>
              <a:rPr lang="en-US" sz="1200" dirty="0">
                <a:solidFill>
                  <a:srgbClr val="F5821F"/>
                </a:solidFill>
                <a:latin typeface="Calibri" pitchFamily="34" charset="0"/>
                <a:ea typeface="Calibri" pitchFamily="34" charset="-122"/>
                <a:cs typeface="Calibri" pitchFamily="34" charset="-120"/>
              </a:rPr>
              <a:t>Est. cost</a:t>
            </a:r>
            <a:endParaRPr lang="en-US" sz="1200" dirty="0"/>
          </a:p>
        </p:txBody>
      </p:sp>
      <p:sp>
        <p:nvSpPr>
          <p:cNvPr id="16" name="Text 13"/>
          <p:cNvSpPr/>
          <p:nvPr/>
        </p:nvSpPr>
        <p:spPr>
          <a:xfrm>
            <a:off x="6675120" y="4773168"/>
            <a:ext cx="201168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[Facility A]</a:t>
            </a:r>
            <a:endParaRPr lang="en-US" sz="1200" dirty="0"/>
          </a:p>
        </p:txBody>
      </p:sp>
      <p:sp>
        <p:nvSpPr>
          <p:cNvPr id="17" name="Text 14"/>
          <p:cNvSpPr/>
          <p:nvPr/>
        </p:nvSpPr>
        <p:spPr>
          <a:xfrm>
            <a:off x="8686800" y="4773168"/>
            <a:ext cx="1280160" cy="365760"/>
          </a:xfrm>
          <a:prstGeom prst="rect">
            <a:avLst/>
          </a:prstGeom>
          <a:noFill/>
          <a:ln/>
        </p:spPr>
        <p:txBody>
          <a:bodyPr wrap="square" lIns="0" tIns="0" rIns="0" bIns="0" rtlCol="0" anchor="ctr"/>
          <a:lstStyle/>
          <a:p>
            <a:pPr algn="r" indent="0" marL="0">
              <a:buNone/>
            </a:pPr>
            <a:r>
              <a:rPr lang="en-US" sz="1200" dirty="0">
                <a:solidFill>
                  <a:srgbClr val="9DB2C8"/>
                </a:solidFill>
                <a:latin typeface="Calibri" pitchFamily="34" charset="0"/>
                <a:ea typeface="Calibri" pitchFamily="34" charset="-122"/>
                <a:cs typeface="Calibri" pitchFamily="34" charset="-120"/>
              </a:rPr>
              <a:t>[--] min</a:t>
            </a:r>
            <a:endParaRPr lang="en-US" sz="1200" dirty="0"/>
          </a:p>
        </p:txBody>
      </p:sp>
      <p:sp>
        <p:nvSpPr>
          <p:cNvPr id="18" name="Text 15"/>
          <p:cNvSpPr/>
          <p:nvPr/>
        </p:nvSpPr>
        <p:spPr>
          <a:xfrm>
            <a:off x="9966960" y="4773168"/>
            <a:ext cx="1371600" cy="365760"/>
          </a:xfrm>
          <a:prstGeom prst="rect">
            <a:avLst/>
          </a:prstGeom>
          <a:noFill/>
          <a:ln/>
        </p:spPr>
        <p:txBody>
          <a:bodyPr wrap="square" lIns="0" tIns="0" rIns="0" bIns="0" rtlCol="0" anchor="ctr"/>
          <a:lstStyle/>
          <a:p>
            <a:pPr algn="r" indent="0" marL="0">
              <a:buNone/>
            </a:pPr>
            <a:r>
              <a:rPr lang="en-US" sz="1200" b="1" dirty="0">
                <a:solidFill>
                  <a:srgbClr val="10B981"/>
                </a:solidFill>
                <a:latin typeface="Calibri" pitchFamily="34" charset="0"/>
                <a:ea typeface="Calibri" pitchFamily="34" charset="-122"/>
                <a:cs typeface="Calibri" pitchFamily="34" charset="-120"/>
              </a:rPr>
              <a:t>[--]</a:t>
            </a:r>
            <a:endParaRPr lang="en-US" sz="1200" dirty="0"/>
          </a:p>
        </p:txBody>
      </p:sp>
      <p:sp>
        <p:nvSpPr>
          <p:cNvPr id="19" name="Shape 16"/>
          <p:cNvSpPr/>
          <p:nvPr/>
        </p:nvSpPr>
        <p:spPr>
          <a:xfrm>
            <a:off x="6675120" y="5157216"/>
            <a:ext cx="4663440" cy="0"/>
          </a:xfrm>
          <a:prstGeom prst="line">
            <a:avLst/>
          </a:prstGeom>
          <a:noFill/>
          <a:ln w="9525">
            <a:solidFill>
              <a:srgbClr val="27435F"/>
            </a:solidFill>
            <a:prstDash val="solid"/>
          </a:ln>
        </p:spPr>
      </p:sp>
      <p:sp>
        <p:nvSpPr>
          <p:cNvPr id="20" name="Text 17"/>
          <p:cNvSpPr/>
          <p:nvPr/>
        </p:nvSpPr>
        <p:spPr>
          <a:xfrm>
            <a:off x="6675120" y="5175504"/>
            <a:ext cx="201168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[Facility B]</a:t>
            </a:r>
            <a:endParaRPr lang="en-US" sz="1200" dirty="0"/>
          </a:p>
        </p:txBody>
      </p:sp>
      <p:sp>
        <p:nvSpPr>
          <p:cNvPr id="21" name="Text 18"/>
          <p:cNvSpPr/>
          <p:nvPr/>
        </p:nvSpPr>
        <p:spPr>
          <a:xfrm>
            <a:off x="8686800" y="5175504"/>
            <a:ext cx="1280160" cy="365760"/>
          </a:xfrm>
          <a:prstGeom prst="rect">
            <a:avLst/>
          </a:prstGeom>
          <a:noFill/>
          <a:ln/>
        </p:spPr>
        <p:txBody>
          <a:bodyPr wrap="square" lIns="0" tIns="0" rIns="0" bIns="0" rtlCol="0" anchor="ctr"/>
          <a:lstStyle/>
          <a:p>
            <a:pPr algn="r" indent="0" marL="0">
              <a:buNone/>
            </a:pPr>
            <a:r>
              <a:rPr lang="en-US" sz="1200" dirty="0">
                <a:solidFill>
                  <a:srgbClr val="9DB2C8"/>
                </a:solidFill>
                <a:latin typeface="Calibri" pitchFamily="34" charset="0"/>
                <a:ea typeface="Calibri" pitchFamily="34" charset="-122"/>
                <a:cs typeface="Calibri" pitchFamily="34" charset="-120"/>
              </a:rPr>
              <a:t>[--] min</a:t>
            </a:r>
            <a:endParaRPr lang="en-US" sz="1200" dirty="0"/>
          </a:p>
        </p:txBody>
      </p:sp>
      <p:sp>
        <p:nvSpPr>
          <p:cNvPr id="22" name="Text 19"/>
          <p:cNvSpPr/>
          <p:nvPr/>
        </p:nvSpPr>
        <p:spPr>
          <a:xfrm>
            <a:off x="9966960" y="5175504"/>
            <a:ext cx="1371600" cy="365760"/>
          </a:xfrm>
          <a:prstGeom prst="rect">
            <a:avLst/>
          </a:prstGeom>
          <a:noFill/>
          <a:ln/>
        </p:spPr>
        <p:txBody>
          <a:bodyPr wrap="square" lIns="0" tIns="0" rIns="0" bIns="0" rtlCol="0" anchor="ctr"/>
          <a:lstStyle/>
          <a:p>
            <a:pPr algn="r" indent="0" marL="0">
              <a:buNone/>
            </a:pPr>
            <a:r>
              <a:rPr lang="en-US" sz="1200" b="1" dirty="0">
                <a:solidFill>
                  <a:srgbClr val="10B981"/>
                </a:solidFill>
                <a:latin typeface="Calibri" pitchFamily="34" charset="0"/>
                <a:ea typeface="Calibri" pitchFamily="34" charset="-122"/>
                <a:cs typeface="Calibri" pitchFamily="34" charset="-120"/>
              </a:rPr>
              <a:t>[--]</a:t>
            </a:r>
            <a:endParaRPr lang="en-US" sz="1200" dirty="0"/>
          </a:p>
        </p:txBody>
      </p:sp>
      <p:sp>
        <p:nvSpPr>
          <p:cNvPr id="23" name="Shape 20"/>
          <p:cNvSpPr/>
          <p:nvPr/>
        </p:nvSpPr>
        <p:spPr>
          <a:xfrm>
            <a:off x="6675120" y="5559552"/>
            <a:ext cx="4663440" cy="0"/>
          </a:xfrm>
          <a:prstGeom prst="line">
            <a:avLst/>
          </a:prstGeom>
          <a:noFill/>
          <a:ln w="9525">
            <a:solidFill>
              <a:srgbClr val="27435F"/>
            </a:solidFill>
            <a:prstDash val="solid"/>
          </a:ln>
        </p:spPr>
      </p:sp>
      <p:sp>
        <p:nvSpPr>
          <p:cNvPr id="24" name="Text 21"/>
          <p:cNvSpPr/>
          <p:nvPr/>
        </p:nvSpPr>
        <p:spPr>
          <a:xfrm>
            <a:off x="6675120" y="5577840"/>
            <a:ext cx="201168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[Facility C]</a:t>
            </a:r>
            <a:endParaRPr lang="en-US" sz="1200" dirty="0"/>
          </a:p>
        </p:txBody>
      </p:sp>
      <p:sp>
        <p:nvSpPr>
          <p:cNvPr id="25" name="Text 22"/>
          <p:cNvSpPr/>
          <p:nvPr/>
        </p:nvSpPr>
        <p:spPr>
          <a:xfrm>
            <a:off x="8686800" y="5577840"/>
            <a:ext cx="1280160" cy="365760"/>
          </a:xfrm>
          <a:prstGeom prst="rect">
            <a:avLst/>
          </a:prstGeom>
          <a:noFill/>
          <a:ln/>
        </p:spPr>
        <p:txBody>
          <a:bodyPr wrap="square" lIns="0" tIns="0" rIns="0" bIns="0" rtlCol="0" anchor="ctr"/>
          <a:lstStyle/>
          <a:p>
            <a:pPr algn="r" indent="0" marL="0">
              <a:buNone/>
            </a:pPr>
            <a:r>
              <a:rPr lang="en-US" sz="1200" dirty="0">
                <a:solidFill>
                  <a:srgbClr val="9DB2C8"/>
                </a:solidFill>
                <a:latin typeface="Calibri" pitchFamily="34" charset="0"/>
                <a:ea typeface="Calibri" pitchFamily="34" charset="-122"/>
                <a:cs typeface="Calibri" pitchFamily="34" charset="-120"/>
              </a:rPr>
              <a:t>[--] min</a:t>
            </a:r>
            <a:endParaRPr lang="en-US" sz="1200" dirty="0"/>
          </a:p>
        </p:txBody>
      </p:sp>
      <p:sp>
        <p:nvSpPr>
          <p:cNvPr id="26" name="Text 23"/>
          <p:cNvSpPr/>
          <p:nvPr/>
        </p:nvSpPr>
        <p:spPr>
          <a:xfrm>
            <a:off x="9966960" y="5577840"/>
            <a:ext cx="1371600" cy="365760"/>
          </a:xfrm>
          <a:prstGeom prst="rect">
            <a:avLst/>
          </a:prstGeom>
          <a:noFill/>
          <a:ln/>
        </p:spPr>
        <p:txBody>
          <a:bodyPr wrap="square" lIns="0" tIns="0" rIns="0" bIns="0" rtlCol="0" anchor="ctr"/>
          <a:lstStyle/>
          <a:p>
            <a:pPr algn="r" indent="0" marL="0">
              <a:buNone/>
            </a:pPr>
            <a:r>
              <a:rPr lang="en-US" sz="1200" b="1" dirty="0">
                <a:solidFill>
                  <a:srgbClr val="10B981"/>
                </a:solidFill>
                <a:latin typeface="Calibri" pitchFamily="34" charset="0"/>
                <a:ea typeface="Calibri" pitchFamily="34" charset="-122"/>
                <a:cs typeface="Calibri" pitchFamily="34" charset="-120"/>
              </a:rPr>
              <a:t>[--]</a:t>
            </a:r>
            <a:endParaRPr lang="en-US" sz="1200" dirty="0"/>
          </a:p>
        </p:txBody>
      </p:sp>
      <p:sp>
        <p:nvSpPr>
          <p:cNvPr id="27" name="Shape 24"/>
          <p:cNvSpPr/>
          <p:nvPr/>
        </p:nvSpPr>
        <p:spPr>
          <a:xfrm>
            <a:off x="6675120" y="5961888"/>
            <a:ext cx="4663440" cy="0"/>
          </a:xfrm>
          <a:prstGeom prst="line">
            <a:avLst/>
          </a:prstGeom>
          <a:noFill/>
          <a:ln w="9525">
            <a:solidFill>
              <a:srgbClr val="27435F"/>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594360" y="384048"/>
            <a:ext cx="7315200" cy="274320"/>
          </a:xfrm>
          <a:prstGeom prst="rect">
            <a:avLst/>
          </a:prstGeom>
          <a:noFill/>
          <a:ln/>
        </p:spPr>
        <p:txBody>
          <a:bodyPr wrap="square" rtlCol="0" anchor="ctr"/>
          <a:lstStyle/>
          <a:p>
            <a:pPr indent="0" marL="0">
              <a:buNone/>
            </a:pPr>
            <a:r>
              <a:rPr lang="en-US" sz="1300" b="1" spc="300" kern="0" dirty="0">
                <a:solidFill>
                  <a:srgbClr val="F5821F"/>
                </a:solidFill>
                <a:latin typeface="Calibri" pitchFamily="34" charset="0"/>
                <a:ea typeface="Calibri" pitchFamily="34" charset="-122"/>
                <a:cs typeface="Calibri" pitchFamily="34" charset="-120"/>
              </a:rPr>
              <a:t>DATA MODEL</a:t>
            </a:r>
            <a:endParaRPr lang="en-US" sz="1300" dirty="0"/>
          </a:p>
        </p:txBody>
      </p:sp>
      <p:sp>
        <p:nvSpPr>
          <p:cNvPr id="4" name="Text 1"/>
          <p:cNvSpPr/>
          <p:nvPr/>
        </p:nvSpPr>
        <p:spPr>
          <a:xfrm>
            <a:off x="548640" y="685800"/>
            <a:ext cx="10607040" cy="777240"/>
          </a:xfrm>
          <a:prstGeom prst="rect">
            <a:avLst/>
          </a:prstGeom>
          <a:noFill/>
          <a:ln/>
        </p:spPr>
        <p:txBody>
          <a:bodyPr wrap="square" rtlCol="0" anchor="ctr"/>
          <a:lstStyle/>
          <a:p>
            <a:pPr indent="0" marL="0">
              <a:buNone/>
            </a:pPr>
            <a:r>
              <a:rPr lang="en-US" sz="4000" dirty="0">
                <a:solidFill>
                  <a:srgbClr val="FFFFFF"/>
                </a:solidFill>
                <a:latin typeface="Arial Black" pitchFamily="34" charset="0"/>
                <a:ea typeface="Arial Black" pitchFamily="34" charset="-122"/>
                <a:cs typeface="Arial Black" pitchFamily="34" charset="-120"/>
              </a:rPr>
              <a:t>How vehicles, containers and delay connect</a:t>
            </a:r>
            <a:endParaRPr lang="en-US" sz="4000" dirty="0"/>
          </a:p>
        </p:txBody>
      </p:sp>
      <p:sp>
        <p:nvSpPr>
          <p:cNvPr id="5" name="Shape 2"/>
          <p:cNvSpPr/>
          <p:nvPr/>
        </p:nvSpPr>
        <p:spPr>
          <a:xfrm>
            <a:off x="594360" y="1920240"/>
            <a:ext cx="2286000" cy="914400"/>
          </a:xfrm>
          <a:prstGeom prst="roundRect">
            <a:avLst>
              <a:gd name="adj" fmla="val 8000"/>
            </a:avLst>
          </a:prstGeom>
          <a:solidFill>
            <a:srgbClr val="13263D"/>
          </a:solidFill>
          <a:ln w="22225">
            <a:solidFill>
              <a:srgbClr val="10B981"/>
            </a:solidFill>
            <a:prstDash val="solid"/>
          </a:ln>
        </p:spPr>
      </p:sp>
      <p:sp>
        <p:nvSpPr>
          <p:cNvPr id="6" name="Text 3"/>
          <p:cNvSpPr/>
          <p:nvPr/>
        </p:nvSpPr>
        <p:spPr>
          <a:xfrm>
            <a:off x="594360" y="2048256"/>
            <a:ext cx="2286000" cy="31089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Vehicle</a:t>
            </a:r>
            <a:endParaRPr lang="en-US" sz="1350" dirty="0"/>
          </a:p>
        </p:txBody>
      </p:sp>
      <p:sp>
        <p:nvSpPr>
          <p:cNvPr id="7" name="Text 4"/>
          <p:cNvSpPr/>
          <p:nvPr/>
        </p:nvSpPr>
        <p:spPr>
          <a:xfrm>
            <a:off x="685800" y="2359152"/>
            <a:ext cx="2103120" cy="365760"/>
          </a:xfrm>
          <a:prstGeom prst="rect">
            <a:avLst/>
          </a:prstGeom>
          <a:noFill/>
          <a:ln/>
        </p:spPr>
        <p:txBody>
          <a:bodyPr wrap="square" lIns="0" tIns="0" rIns="0" bIns="0" rtlCol="0" anchor="ctr"/>
          <a:lstStyle/>
          <a:p>
            <a:pPr algn="ctr" indent="0" marL="0">
              <a:buNone/>
            </a:pPr>
            <a:r>
              <a:rPr lang="en-US" sz="1000" dirty="0">
                <a:solidFill>
                  <a:srgbClr val="9DB2C8"/>
                </a:solidFill>
                <a:latin typeface="Calibri" pitchFamily="34" charset="0"/>
                <a:ea typeface="Calibri" pitchFamily="34" charset="-122"/>
                <a:cs typeface="Calibri" pitchFamily="34" charset="-120"/>
              </a:rPr>
              <a:t>Powered • driver + co-driver</a:t>
            </a:r>
            <a:endParaRPr lang="en-US" sz="1000" dirty="0"/>
          </a:p>
        </p:txBody>
      </p:sp>
      <p:sp>
        <p:nvSpPr>
          <p:cNvPr id="8" name="Shape 5"/>
          <p:cNvSpPr/>
          <p:nvPr/>
        </p:nvSpPr>
        <p:spPr>
          <a:xfrm>
            <a:off x="594360" y="3200400"/>
            <a:ext cx="2286000" cy="914400"/>
          </a:xfrm>
          <a:prstGeom prst="roundRect">
            <a:avLst>
              <a:gd name="adj" fmla="val 8000"/>
            </a:avLst>
          </a:prstGeom>
          <a:solidFill>
            <a:srgbClr val="13263D"/>
          </a:solidFill>
          <a:ln w="22225">
            <a:solidFill>
              <a:srgbClr val="F5821F"/>
            </a:solidFill>
            <a:prstDash val="solid"/>
          </a:ln>
        </p:spPr>
      </p:sp>
      <p:sp>
        <p:nvSpPr>
          <p:cNvPr id="9" name="Text 6"/>
          <p:cNvSpPr/>
          <p:nvPr/>
        </p:nvSpPr>
        <p:spPr>
          <a:xfrm>
            <a:off x="594360" y="3328416"/>
            <a:ext cx="2286000" cy="31089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Container</a:t>
            </a:r>
            <a:endParaRPr lang="en-US" sz="1350" dirty="0"/>
          </a:p>
        </p:txBody>
      </p:sp>
      <p:sp>
        <p:nvSpPr>
          <p:cNvPr id="10" name="Text 7"/>
          <p:cNvSpPr/>
          <p:nvPr/>
        </p:nvSpPr>
        <p:spPr>
          <a:xfrm>
            <a:off x="685800" y="3639312"/>
            <a:ext cx="2103120" cy="365760"/>
          </a:xfrm>
          <a:prstGeom prst="rect">
            <a:avLst/>
          </a:prstGeom>
          <a:noFill/>
          <a:ln/>
        </p:spPr>
        <p:txBody>
          <a:bodyPr wrap="square" lIns="0" tIns="0" rIns="0" bIns="0" rtlCol="0" anchor="ctr"/>
          <a:lstStyle/>
          <a:p>
            <a:pPr algn="ctr" indent="0" marL="0">
              <a:buNone/>
            </a:pPr>
            <a:r>
              <a:rPr lang="en-US" sz="1000" dirty="0">
                <a:solidFill>
                  <a:srgbClr val="9DB2C8"/>
                </a:solidFill>
                <a:latin typeface="Calibri" pitchFamily="34" charset="0"/>
                <a:ea typeface="Calibri" pitchFamily="34" charset="-122"/>
                <a:cs typeface="Calibri" pitchFamily="34" charset="-120"/>
              </a:rPr>
              <a:t>Cargo equipment • no driver</a:t>
            </a:r>
            <a:endParaRPr lang="en-US" sz="1000" dirty="0"/>
          </a:p>
        </p:txBody>
      </p:sp>
      <p:sp>
        <p:nvSpPr>
          <p:cNvPr id="11" name="Shape 8"/>
          <p:cNvSpPr/>
          <p:nvPr/>
        </p:nvSpPr>
        <p:spPr>
          <a:xfrm>
            <a:off x="594360" y="4480560"/>
            <a:ext cx="2286000" cy="914400"/>
          </a:xfrm>
          <a:prstGeom prst="roundRect">
            <a:avLst>
              <a:gd name="adj" fmla="val 8000"/>
            </a:avLst>
          </a:prstGeom>
          <a:solidFill>
            <a:srgbClr val="13263D"/>
          </a:solidFill>
          <a:ln w="22225">
            <a:solidFill>
              <a:srgbClr val="10B981"/>
            </a:solidFill>
            <a:prstDash val="solid"/>
          </a:ln>
        </p:spPr>
      </p:sp>
      <p:sp>
        <p:nvSpPr>
          <p:cNvPr id="12" name="Text 9"/>
          <p:cNvSpPr/>
          <p:nvPr/>
        </p:nvSpPr>
        <p:spPr>
          <a:xfrm>
            <a:off x="594360" y="4608576"/>
            <a:ext cx="2286000" cy="31089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GPS Device</a:t>
            </a:r>
            <a:endParaRPr lang="en-US" sz="1350" dirty="0"/>
          </a:p>
        </p:txBody>
      </p:sp>
      <p:sp>
        <p:nvSpPr>
          <p:cNvPr id="13" name="Text 10"/>
          <p:cNvSpPr/>
          <p:nvPr/>
        </p:nvSpPr>
        <p:spPr>
          <a:xfrm>
            <a:off x="685800" y="4919472"/>
            <a:ext cx="2103120" cy="365760"/>
          </a:xfrm>
          <a:prstGeom prst="rect">
            <a:avLst/>
          </a:prstGeom>
          <a:noFill/>
          <a:ln/>
        </p:spPr>
        <p:txBody>
          <a:bodyPr wrap="square" lIns="0" tIns="0" rIns="0" bIns="0" rtlCol="0" anchor="ctr"/>
          <a:lstStyle/>
          <a:p>
            <a:pPr algn="ctr" indent="0" marL="0">
              <a:buNone/>
            </a:pPr>
            <a:r>
              <a:rPr lang="en-US" sz="1000" dirty="0">
                <a:solidFill>
                  <a:srgbClr val="9DB2C8"/>
                </a:solidFill>
                <a:latin typeface="Calibri" pitchFamily="34" charset="0"/>
                <a:ea typeface="Calibri" pitchFamily="34" charset="-122"/>
                <a:cs typeface="Calibri" pitchFamily="34" charset="-120"/>
              </a:rPr>
              <a:t>Telemetry source</a:t>
            </a:r>
            <a:endParaRPr lang="en-US" sz="1000" dirty="0"/>
          </a:p>
        </p:txBody>
      </p:sp>
      <p:sp>
        <p:nvSpPr>
          <p:cNvPr id="14" name="Shape 11"/>
          <p:cNvSpPr/>
          <p:nvPr/>
        </p:nvSpPr>
        <p:spPr>
          <a:xfrm>
            <a:off x="3703320" y="3200400"/>
            <a:ext cx="2286000" cy="914400"/>
          </a:xfrm>
          <a:prstGeom prst="roundRect">
            <a:avLst>
              <a:gd name="adj" fmla="val 8000"/>
            </a:avLst>
          </a:prstGeom>
          <a:solidFill>
            <a:srgbClr val="13263D"/>
          </a:solidFill>
          <a:ln w="22225">
            <a:solidFill>
              <a:srgbClr val="FFFFFF"/>
            </a:solidFill>
            <a:prstDash val="solid"/>
          </a:ln>
        </p:spPr>
      </p:sp>
      <p:sp>
        <p:nvSpPr>
          <p:cNvPr id="15" name="Text 12"/>
          <p:cNvSpPr/>
          <p:nvPr/>
        </p:nvSpPr>
        <p:spPr>
          <a:xfrm>
            <a:off x="3703320" y="3328416"/>
            <a:ext cx="2286000" cy="31089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Trip</a:t>
            </a:r>
            <a:endParaRPr lang="en-US" sz="1350" dirty="0"/>
          </a:p>
        </p:txBody>
      </p:sp>
      <p:sp>
        <p:nvSpPr>
          <p:cNvPr id="16" name="Text 13"/>
          <p:cNvSpPr/>
          <p:nvPr/>
        </p:nvSpPr>
        <p:spPr>
          <a:xfrm>
            <a:off x="3794760" y="3639312"/>
            <a:ext cx="2103120" cy="365760"/>
          </a:xfrm>
          <a:prstGeom prst="rect">
            <a:avLst/>
          </a:prstGeom>
          <a:noFill/>
          <a:ln/>
        </p:spPr>
        <p:txBody>
          <a:bodyPr wrap="square" lIns="0" tIns="0" rIns="0" bIns="0" rtlCol="0" anchor="ctr"/>
          <a:lstStyle/>
          <a:p>
            <a:pPr algn="ctr" indent="0" marL="0">
              <a:buNone/>
            </a:pPr>
            <a:r>
              <a:rPr lang="en-US" sz="1000" dirty="0">
                <a:solidFill>
                  <a:srgbClr val="9DB2C8"/>
                </a:solidFill>
                <a:latin typeface="Calibri" pitchFamily="34" charset="0"/>
                <a:ea typeface="Calibri" pitchFamily="34" charset="-122"/>
                <a:cs typeface="Calibri" pitchFamily="34" charset="-120"/>
              </a:rPr>
              <a:t>Vehicle + container + route</a:t>
            </a:r>
            <a:endParaRPr lang="en-US" sz="1000" dirty="0"/>
          </a:p>
        </p:txBody>
      </p:sp>
      <p:sp>
        <p:nvSpPr>
          <p:cNvPr id="17" name="Shape 14"/>
          <p:cNvSpPr/>
          <p:nvPr/>
        </p:nvSpPr>
        <p:spPr>
          <a:xfrm>
            <a:off x="6812280" y="1920240"/>
            <a:ext cx="2286000" cy="914400"/>
          </a:xfrm>
          <a:prstGeom prst="roundRect">
            <a:avLst>
              <a:gd name="adj" fmla="val 8000"/>
            </a:avLst>
          </a:prstGeom>
          <a:solidFill>
            <a:srgbClr val="13263D"/>
          </a:solidFill>
          <a:ln w="22225">
            <a:solidFill>
              <a:srgbClr val="F5821F"/>
            </a:solidFill>
            <a:prstDash val="solid"/>
          </a:ln>
        </p:spPr>
      </p:sp>
      <p:sp>
        <p:nvSpPr>
          <p:cNvPr id="18" name="Text 15"/>
          <p:cNvSpPr/>
          <p:nvPr/>
        </p:nvSpPr>
        <p:spPr>
          <a:xfrm>
            <a:off x="6812280" y="2048256"/>
            <a:ext cx="2286000" cy="31089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Geofence</a:t>
            </a:r>
            <a:endParaRPr lang="en-US" sz="1350" dirty="0"/>
          </a:p>
        </p:txBody>
      </p:sp>
      <p:sp>
        <p:nvSpPr>
          <p:cNvPr id="19" name="Text 16"/>
          <p:cNvSpPr/>
          <p:nvPr/>
        </p:nvSpPr>
        <p:spPr>
          <a:xfrm>
            <a:off x="6903720" y="2359152"/>
            <a:ext cx="2103120" cy="365760"/>
          </a:xfrm>
          <a:prstGeom prst="rect">
            <a:avLst/>
          </a:prstGeom>
          <a:noFill/>
          <a:ln/>
        </p:spPr>
        <p:txBody>
          <a:bodyPr wrap="square" lIns="0" tIns="0" rIns="0" bIns="0" rtlCol="0" anchor="ctr"/>
          <a:lstStyle/>
          <a:p>
            <a:pPr algn="ctr" indent="0" marL="0">
              <a:buNone/>
            </a:pPr>
            <a:r>
              <a:rPr lang="en-US" sz="1000" dirty="0">
                <a:solidFill>
                  <a:srgbClr val="9DB2C8"/>
                </a:solidFill>
                <a:latin typeface="Calibri" pitchFamily="34" charset="0"/>
                <a:ea typeface="Calibri" pitchFamily="34" charset="-122"/>
                <a:cs typeface="Calibri" pitchFamily="34" charset="-120"/>
              </a:rPr>
              <a:t>Facility / corridor zone</a:t>
            </a:r>
            <a:endParaRPr lang="en-US" sz="1000" dirty="0"/>
          </a:p>
        </p:txBody>
      </p:sp>
      <p:sp>
        <p:nvSpPr>
          <p:cNvPr id="20" name="Shape 17"/>
          <p:cNvSpPr/>
          <p:nvPr/>
        </p:nvSpPr>
        <p:spPr>
          <a:xfrm>
            <a:off x="6812280" y="3200400"/>
            <a:ext cx="2286000" cy="914400"/>
          </a:xfrm>
          <a:prstGeom prst="roundRect">
            <a:avLst>
              <a:gd name="adj" fmla="val 8000"/>
            </a:avLst>
          </a:prstGeom>
          <a:solidFill>
            <a:srgbClr val="13263D"/>
          </a:solidFill>
          <a:ln w="22225">
            <a:solidFill>
              <a:srgbClr val="F5821F"/>
            </a:solidFill>
            <a:prstDash val="solid"/>
          </a:ln>
        </p:spPr>
      </p:sp>
      <p:sp>
        <p:nvSpPr>
          <p:cNvPr id="21" name="Text 18"/>
          <p:cNvSpPr/>
          <p:nvPr/>
        </p:nvSpPr>
        <p:spPr>
          <a:xfrm>
            <a:off x="6812280" y="3328416"/>
            <a:ext cx="2286000" cy="31089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Dwell Event</a:t>
            </a:r>
            <a:endParaRPr lang="en-US" sz="1350" dirty="0"/>
          </a:p>
        </p:txBody>
      </p:sp>
      <p:sp>
        <p:nvSpPr>
          <p:cNvPr id="22" name="Text 19"/>
          <p:cNvSpPr/>
          <p:nvPr/>
        </p:nvSpPr>
        <p:spPr>
          <a:xfrm>
            <a:off x="6903720" y="3639312"/>
            <a:ext cx="2103120" cy="365760"/>
          </a:xfrm>
          <a:prstGeom prst="rect">
            <a:avLst/>
          </a:prstGeom>
          <a:noFill/>
          <a:ln/>
        </p:spPr>
        <p:txBody>
          <a:bodyPr wrap="square" lIns="0" tIns="0" rIns="0" bIns="0" rtlCol="0" anchor="ctr"/>
          <a:lstStyle/>
          <a:p>
            <a:pPr algn="ctr" indent="0" marL="0">
              <a:buNone/>
            </a:pPr>
            <a:r>
              <a:rPr lang="en-US" sz="1000" dirty="0">
                <a:solidFill>
                  <a:srgbClr val="9DB2C8"/>
                </a:solidFill>
                <a:latin typeface="Calibri" pitchFamily="34" charset="0"/>
                <a:ea typeface="Calibri" pitchFamily="34" charset="-122"/>
                <a:cs typeface="Calibri" pitchFamily="34" charset="-120"/>
              </a:rPr>
              <a:t>Arrival → dwell → depart</a:t>
            </a:r>
            <a:endParaRPr lang="en-US" sz="1000" dirty="0"/>
          </a:p>
        </p:txBody>
      </p:sp>
      <p:sp>
        <p:nvSpPr>
          <p:cNvPr id="23" name="Shape 20"/>
          <p:cNvSpPr/>
          <p:nvPr/>
        </p:nvSpPr>
        <p:spPr>
          <a:xfrm>
            <a:off x="6812280" y="4480560"/>
            <a:ext cx="2286000" cy="914400"/>
          </a:xfrm>
          <a:prstGeom prst="roundRect">
            <a:avLst>
              <a:gd name="adj" fmla="val 8000"/>
            </a:avLst>
          </a:prstGeom>
          <a:solidFill>
            <a:srgbClr val="13263D"/>
          </a:solidFill>
          <a:ln w="22225">
            <a:solidFill>
              <a:srgbClr val="10B981"/>
            </a:solidFill>
            <a:prstDash val="solid"/>
          </a:ln>
        </p:spPr>
      </p:sp>
      <p:sp>
        <p:nvSpPr>
          <p:cNvPr id="24" name="Text 21"/>
          <p:cNvSpPr/>
          <p:nvPr/>
        </p:nvSpPr>
        <p:spPr>
          <a:xfrm>
            <a:off x="6812280" y="4608576"/>
            <a:ext cx="2286000" cy="31089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SLA</a:t>
            </a:r>
            <a:endParaRPr lang="en-US" sz="1350" dirty="0"/>
          </a:p>
        </p:txBody>
      </p:sp>
      <p:sp>
        <p:nvSpPr>
          <p:cNvPr id="25" name="Text 22"/>
          <p:cNvSpPr/>
          <p:nvPr/>
        </p:nvSpPr>
        <p:spPr>
          <a:xfrm>
            <a:off x="6903720" y="4919472"/>
            <a:ext cx="2103120" cy="365760"/>
          </a:xfrm>
          <a:prstGeom prst="rect">
            <a:avLst/>
          </a:prstGeom>
          <a:noFill/>
          <a:ln/>
        </p:spPr>
        <p:txBody>
          <a:bodyPr wrap="square" lIns="0" tIns="0" rIns="0" bIns="0" rtlCol="0" anchor="ctr"/>
          <a:lstStyle/>
          <a:p>
            <a:pPr algn="ctr" indent="0" marL="0">
              <a:buNone/>
            </a:pPr>
            <a:r>
              <a:rPr lang="en-US" sz="1000" dirty="0">
                <a:solidFill>
                  <a:srgbClr val="9DB2C8"/>
                </a:solidFill>
                <a:latin typeface="Calibri" pitchFamily="34" charset="0"/>
                <a:ea typeface="Calibri" pitchFamily="34" charset="-122"/>
                <a:cs typeface="Calibri" pitchFamily="34" charset="-120"/>
              </a:rPr>
              <a:t>Expected dwell</a:t>
            </a:r>
            <a:endParaRPr lang="en-US" sz="1000" dirty="0"/>
          </a:p>
        </p:txBody>
      </p:sp>
      <p:sp>
        <p:nvSpPr>
          <p:cNvPr id="26" name="Shape 23"/>
          <p:cNvSpPr/>
          <p:nvPr/>
        </p:nvSpPr>
        <p:spPr>
          <a:xfrm>
            <a:off x="9921240" y="3200400"/>
            <a:ext cx="1737360" cy="914400"/>
          </a:xfrm>
          <a:prstGeom prst="roundRect">
            <a:avLst>
              <a:gd name="adj" fmla="val 8000"/>
            </a:avLst>
          </a:prstGeom>
          <a:solidFill>
            <a:srgbClr val="13263D"/>
          </a:solidFill>
          <a:ln w="22225">
            <a:solidFill>
              <a:srgbClr val="10B981"/>
            </a:solidFill>
            <a:prstDash val="solid"/>
          </a:ln>
        </p:spPr>
      </p:sp>
      <p:sp>
        <p:nvSpPr>
          <p:cNvPr id="27" name="Text 24"/>
          <p:cNvSpPr/>
          <p:nvPr/>
        </p:nvSpPr>
        <p:spPr>
          <a:xfrm>
            <a:off x="9921240" y="3328416"/>
            <a:ext cx="1737360" cy="31089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Financial</a:t>
            </a:r>
            <a:endParaRPr lang="en-US" sz="1350" dirty="0"/>
          </a:p>
          <a:p>
            <a:pPr algn="ctr" indent="0" marL="0">
              <a:buNone/>
            </a:pPr>
            <a:r>
              <a:rPr lang="en-US" sz="1350" b="1" dirty="0">
                <a:solidFill>
                  <a:srgbClr val="FFFFFF"/>
                </a:solidFill>
                <a:latin typeface="Calibri" pitchFamily="34" charset="0"/>
                <a:ea typeface="Calibri" pitchFamily="34" charset="-122"/>
                <a:cs typeface="Calibri" pitchFamily="34" charset="-120"/>
              </a:rPr>
              <a:t>Impact</a:t>
            </a:r>
            <a:endParaRPr lang="en-US" sz="1350" dirty="0"/>
          </a:p>
        </p:txBody>
      </p:sp>
      <p:sp>
        <p:nvSpPr>
          <p:cNvPr id="28" name="Text 25"/>
          <p:cNvSpPr/>
          <p:nvPr/>
        </p:nvSpPr>
        <p:spPr>
          <a:xfrm>
            <a:off x="10012680" y="3639312"/>
            <a:ext cx="1554480" cy="365760"/>
          </a:xfrm>
          <a:prstGeom prst="rect">
            <a:avLst/>
          </a:prstGeom>
          <a:noFill/>
          <a:ln/>
        </p:spPr>
        <p:txBody>
          <a:bodyPr wrap="square" lIns="0" tIns="0" rIns="0" bIns="0" rtlCol="0" anchor="ctr"/>
          <a:lstStyle/>
          <a:p>
            <a:pPr algn="ctr" indent="0" marL="0">
              <a:buNone/>
            </a:pPr>
            <a:r>
              <a:rPr lang="en-US" sz="1000" dirty="0">
                <a:solidFill>
                  <a:srgbClr val="9DB2C8"/>
                </a:solidFill>
                <a:latin typeface="Calibri" pitchFamily="34" charset="0"/>
                <a:ea typeface="Calibri" pitchFamily="34" charset="-122"/>
                <a:cs typeface="Calibri" pitchFamily="34" charset="-120"/>
              </a:rPr>
              <a:t>Excess × cost</a:t>
            </a:r>
            <a:endParaRPr lang="en-US" sz="1000" dirty="0"/>
          </a:p>
        </p:txBody>
      </p:sp>
      <p:sp>
        <p:nvSpPr>
          <p:cNvPr id="29" name="Shape 26"/>
          <p:cNvSpPr/>
          <p:nvPr/>
        </p:nvSpPr>
        <p:spPr>
          <a:xfrm>
            <a:off x="2880360" y="2377440"/>
            <a:ext cx="822960" cy="0"/>
          </a:xfrm>
          <a:prstGeom prst="line">
            <a:avLst/>
          </a:prstGeom>
          <a:noFill/>
          <a:ln w="19050">
            <a:solidFill>
              <a:srgbClr val="10B981"/>
            </a:solidFill>
            <a:prstDash val="solid"/>
            <a:tailEnd type="triangle"/>
          </a:ln>
        </p:spPr>
      </p:sp>
      <p:sp>
        <p:nvSpPr>
          <p:cNvPr id="30" name="Shape 27"/>
          <p:cNvSpPr/>
          <p:nvPr/>
        </p:nvSpPr>
        <p:spPr>
          <a:xfrm>
            <a:off x="3703320" y="2377440"/>
            <a:ext cx="0" cy="822960"/>
          </a:xfrm>
          <a:prstGeom prst="line">
            <a:avLst/>
          </a:prstGeom>
          <a:noFill/>
          <a:ln w="19050">
            <a:solidFill>
              <a:srgbClr val="10B981"/>
            </a:solidFill>
            <a:prstDash val="solid"/>
          </a:ln>
        </p:spPr>
      </p:sp>
      <p:sp>
        <p:nvSpPr>
          <p:cNvPr id="31" name="Shape 28"/>
          <p:cNvSpPr/>
          <p:nvPr/>
        </p:nvSpPr>
        <p:spPr>
          <a:xfrm>
            <a:off x="2880360" y="3657600"/>
            <a:ext cx="822960" cy="0"/>
          </a:xfrm>
          <a:prstGeom prst="line">
            <a:avLst/>
          </a:prstGeom>
          <a:noFill/>
          <a:ln w="19050">
            <a:solidFill>
              <a:srgbClr val="F5821F"/>
            </a:solidFill>
            <a:prstDash val="solid"/>
            <a:tailEnd type="triangle"/>
          </a:ln>
        </p:spPr>
      </p:sp>
      <p:sp>
        <p:nvSpPr>
          <p:cNvPr id="32" name="Shape 29"/>
          <p:cNvSpPr/>
          <p:nvPr/>
        </p:nvSpPr>
        <p:spPr>
          <a:xfrm>
            <a:off x="2880360" y="4937760"/>
            <a:ext cx="822960" cy="0"/>
          </a:xfrm>
          <a:prstGeom prst="line">
            <a:avLst/>
          </a:prstGeom>
          <a:noFill/>
          <a:ln w="19050">
            <a:solidFill>
              <a:srgbClr val="10B981"/>
            </a:solidFill>
            <a:prstDash val="solid"/>
            <a:tailEnd type="triangle"/>
          </a:ln>
        </p:spPr>
      </p:sp>
      <p:sp>
        <p:nvSpPr>
          <p:cNvPr id="33" name="Shape 30"/>
          <p:cNvSpPr/>
          <p:nvPr/>
        </p:nvSpPr>
        <p:spPr>
          <a:xfrm>
            <a:off x="3703320" y="4114800"/>
            <a:ext cx="0" cy="822960"/>
          </a:xfrm>
          <a:prstGeom prst="line">
            <a:avLst/>
          </a:prstGeom>
          <a:noFill/>
          <a:ln w="19050">
            <a:solidFill>
              <a:srgbClr val="10B981"/>
            </a:solidFill>
            <a:prstDash val="solid"/>
          </a:ln>
        </p:spPr>
      </p:sp>
      <p:sp>
        <p:nvSpPr>
          <p:cNvPr id="34" name="Shape 31"/>
          <p:cNvSpPr/>
          <p:nvPr/>
        </p:nvSpPr>
        <p:spPr>
          <a:xfrm>
            <a:off x="5989320" y="3657600"/>
            <a:ext cx="822960" cy="0"/>
          </a:xfrm>
          <a:prstGeom prst="line">
            <a:avLst/>
          </a:prstGeom>
          <a:noFill/>
          <a:ln w="19050">
            <a:solidFill>
              <a:srgbClr val="FFFFFF"/>
            </a:solidFill>
            <a:prstDash val="solid"/>
            <a:tailEnd type="triangle"/>
          </a:ln>
        </p:spPr>
      </p:sp>
      <p:sp>
        <p:nvSpPr>
          <p:cNvPr id="35" name="Shape 32"/>
          <p:cNvSpPr/>
          <p:nvPr/>
        </p:nvSpPr>
        <p:spPr>
          <a:xfrm>
            <a:off x="6812280" y="2377440"/>
            <a:ext cx="0" cy="2560320"/>
          </a:xfrm>
          <a:prstGeom prst="line">
            <a:avLst/>
          </a:prstGeom>
          <a:noFill/>
          <a:ln w="15875">
            <a:solidFill>
              <a:srgbClr val="27435F"/>
            </a:solidFill>
            <a:prstDash val="dash"/>
          </a:ln>
        </p:spPr>
      </p:sp>
      <p:sp>
        <p:nvSpPr>
          <p:cNvPr id="36" name="Shape 33"/>
          <p:cNvSpPr/>
          <p:nvPr/>
        </p:nvSpPr>
        <p:spPr>
          <a:xfrm>
            <a:off x="9098280" y="3657600"/>
            <a:ext cx="822960" cy="0"/>
          </a:xfrm>
          <a:prstGeom prst="line">
            <a:avLst/>
          </a:prstGeom>
          <a:noFill/>
          <a:ln w="19050">
            <a:solidFill>
              <a:srgbClr val="10B981"/>
            </a:solidFill>
            <a:prstDash val="solid"/>
            <a:tailEnd type="triangle"/>
          </a:ln>
        </p:spPr>
      </p:sp>
      <p:sp>
        <p:nvSpPr>
          <p:cNvPr id="37" name="Text 34"/>
          <p:cNvSpPr/>
          <p:nvPr/>
        </p:nvSpPr>
        <p:spPr>
          <a:xfrm>
            <a:off x="594360" y="5760720"/>
            <a:ext cx="10881360" cy="365760"/>
          </a:xfrm>
          <a:prstGeom prst="rect">
            <a:avLst/>
          </a:prstGeom>
          <a:noFill/>
          <a:ln/>
        </p:spPr>
        <p:txBody>
          <a:bodyPr wrap="square" rtlCol="0" anchor="ctr"/>
          <a:lstStyle/>
          <a:p>
            <a:pPr indent="0" marL="0">
              <a:buNone/>
            </a:pPr>
            <a:r>
              <a:rPr lang="en-US" sz="1300" i="1" dirty="0">
                <a:solidFill>
                  <a:srgbClr val="F5821F"/>
                </a:solidFill>
                <a:latin typeface="Calibri" pitchFamily="34" charset="0"/>
                <a:ea typeface="Calibri" pitchFamily="34" charset="-122"/>
                <a:cs typeface="Calibri" pitchFamily="34" charset="-120"/>
              </a:rPr>
              <a:t>Containers attach to trips as cargo — never as drivable, driver-assigned units.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594360" y="384048"/>
            <a:ext cx="7315200" cy="274320"/>
          </a:xfrm>
          <a:prstGeom prst="rect">
            <a:avLst/>
          </a:prstGeom>
          <a:noFill/>
          <a:ln/>
        </p:spPr>
        <p:txBody>
          <a:bodyPr wrap="square" rtlCol="0" anchor="ctr"/>
          <a:lstStyle/>
          <a:p>
            <a:pPr indent="0" marL="0">
              <a:buNone/>
            </a:pPr>
            <a:r>
              <a:rPr lang="en-US" sz="1300" b="1" spc="300" kern="0" dirty="0">
                <a:solidFill>
                  <a:srgbClr val="F5821F"/>
                </a:solidFill>
                <a:latin typeface="Calibri" pitchFamily="34" charset="0"/>
                <a:ea typeface="Calibri" pitchFamily="34" charset="-122"/>
                <a:cs typeface="Calibri" pitchFamily="34" charset="-120"/>
              </a:rPr>
              <a:t>DISPATCH WORKFLOW</a:t>
            </a:r>
            <a:endParaRPr lang="en-US" sz="1300" dirty="0"/>
          </a:p>
        </p:txBody>
      </p:sp>
      <p:sp>
        <p:nvSpPr>
          <p:cNvPr id="4" name="Text 1"/>
          <p:cNvSpPr/>
          <p:nvPr/>
        </p:nvSpPr>
        <p:spPr>
          <a:xfrm>
            <a:off x="548640" y="685800"/>
            <a:ext cx="10607040" cy="777240"/>
          </a:xfrm>
          <a:prstGeom prst="rect">
            <a:avLst/>
          </a:prstGeom>
          <a:noFill/>
          <a:ln/>
        </p:spPr>
        <p:txBody>
          <a:bodyPr wrap="square" rtlCol="0" anchor="ctr"/>
          <a:lstStyle/>
          <a:p>
            <a:pPr indent="0" marL="0">
              <a:buNone/>
            </a:pPr>
            <a:r>
              <a:rPr lang="en-US" sz="4000" dirty="0">
                <a:solidFill>
                  <a:srgbClr val="FFFFFF"/>
                </a:solidFill>
                <a:latin typeface="Arial Black" pitchFamily="34" charset="0"/>
                <a:ea typeface="Arial Black" pitchFamily="34" charset="-122"/>
                <a:cs typeface="Arial Black" pitchFamily="34" charset="-120"/>
              </a:rPr>
              <a:t>Container assignment, done correctly</a:t>
            </a:r>
            <a:endParaRPr lang="en-US" sz="4000" dirty="0"/>
          </a:p>
        </p:txBody>
      </p:sp>
      <p:sp>
        <p:nvSpPr>
          <p:cNvPr id="5" name="Shape 2"/>
          <p:cNvSpPr/>
          <p:nvPr/>
        </p:nvSpPr>
        <p:spPr>
          <a:xfrm>
            <a:off x="594360" y="1783080"/>
            <a:ext cx="384048" cy="384048"/>
          </a:xfrm>
          <a:prstGeom prst="ellipse">
            <a:avLst/>
          </a:prstGeom>
          <a:solidFill>
            <a:srgbClr val="1B3350"/>
          </a:solidFill>
          <a:ln w="12700">
            <a:solidFill>
              <a:srgbClr val="27435F"/>
            </a:solidFill>
            <a:prstDash val="solid"/>
          </a:ln>
        </p:spPr>
      </p:sp>
      <p:sp>
        <p:nvSpPr>
          <p:cNvPr id="6" name="Text 3"/>
          <p:cNvSpPr/>
          <p:nvPr/>
        </p:nvSpPr>
        <p:spPr>
          <a:xfrm>
            <a:off x="594360" y="178308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4"/>
          <p:cNvSpPr/>
          <p:nvPr/>
        </p:nvSpPr>
        <p:spPr>
          <a:xfrm>
            <a:off x="1097280" y="1783080"/>
            <a:ext cx="4754880" cy="384048"/>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Select powered vehicle</a:t>
            </a:r>
            <a:endParaRPr lang="en-US" sz="1500" dirty="0"/>
          </a:p>
        </p:txBody>
      </p:sp>
      <p:sp>
        <p:nvSpPr>
          <p:cNvPr id="8" name="Shape 5"/>
          <p:cNvSpPr/>
          <p:nvPr/>
        </p:nvSpPr>
        <p:spPr>
          <a:xfrm>
            <a:off x="786384" y="2185416"/>
            <a:ext cx="0" cy="201168"/>
          </a:xfrm>
          <a:prstGeom prst="line">
            <a:avLst/>
          </a:prstGeom>
          <a:noFill/>
          <a:ln w="19050">
            <a:solidFill>
              <a:srgbClr val="27435F"/>
            </a:solidFill>
            <a:prstDash val="solid"/>
          </a:ln>
        </p:spPr>
      </p:sp>
      <p:sp>
        <p:nvSpPr>
          <p:cNvPr id="9" name="Shape 6"/>
          <p:cNvSpPr/>
          <p:nvPr/>
        </p:nvSpPr>
        <p:spPr>
          <a:xfrm>
            <a:off x="594360" y="2386584"/>
            <a:ext cx="384048" cy="384048"/>
          </a:xfrm>
          <a:prstGeom prst="ellipse">
            <a:avLst/>
          </a:prstGeom>
          <a:solidFill>
            <a:srgbClr val="1B3350"/>
          </a:solidFill>
          <a:ln w="12700">
            <a:solidFill>
              <a:srgbClr val="27435F"/>
            </a:solidFill>
            <a:prstDash val="solid"/>
          </a:ln>
        </p:spPr>
      </p:sp>
      <p:sp>
        <p:nvSpPr>
          <p:cNvPr id="10" name="Text 7"/>
          <p:cNvSpPr/>
          <p:nvPr/>
        </p:nvSpPr>
        <p:spPr>
          <a:xfrm>
            <a:off x="594360" y="238658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8"/>
          <p:cNvSpPr/>
          <p:nvPr/>
        </p:nvSpPr>
        <p:spPr>
          <a:xfrm>
            <a:off x="1097280" y="2386584"/>
            <a:ext cx="4754880" cy="384048"/>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Select origin and destination facilities</a:t>
            </a:r>
            <a:endParaRPr lang="en-US" sz="1500" dirty="0"/>
          </a:p>
        </p:txBody>
      </p:sp>
      <p:sp>
        <p:nvSpPr>
          <p:cNvPr id="12" name="Shape 9"/>
          <p:cNvSpPr/>
          <p:nvPr/>
        </p:nvSpPr>
        <p:spPr>
          <a:xfrm>
            <a:off x="786384" y="2788920"/>
            <a:ext cx="0" cy="201168"/>
          </a:xfrm>
          <a:prstGeom prst="line">
            <a:avLst/>
          </a:prstGeom>
          <a:noFill/>
          <a:ln w="19050">
            <a:solidFill>
              <a:srgbClr val="27435F"/>
            </a:solidFill>
            <a:prstDash val="solid"/>
          </a:ln>
        </p:spPr>
      </p:sp>
      <p:sp>
        <p:nvSpPr>
          <p:cNvPr id="13" name="Shape 10"/>
          <p:cNvSpPr/>
          <p:nvPr/>
        </p:nvSpPr>
        <p:spPr>
          <a:xfrm>
            <a:off x="594360" y="2990088"/>
            <a:ext cx="384048" cy="384048"/>
          </a:xfrm>
          <a:prstGeom prst="ellipse">
            <a:avLst/>
          </a:prstGeom>
          <a:solidFill>
            <a:srgbClr val="F5821F"/>
          </a:solidFill>
          <a:ln w="12700">
            <a:solidFill>
              <a:srgbClr val="F5821F"/>
            </a:solidFill>
            <a:prstDash val="solid"/>
          </a:ln>
        </p:spPr>
      </p:sp>
      <p:sp>
        <p:nvSpPr>
          <p:cNvPr id="14" name="Text 11"/>
          <p:cNvSpPr/>
          <p:nvPr/>
        </p:nvSpPr>
        <p:spPr>
          <a:xfrm>
            <a:off x="594360" y="2990088"/>
            <a:ext cx="384048" cy="384048"/>
          </a:xfrm>
          <a:prstGeom prst="rect">
            <a:avLst/>
          </a:prstGeom>
          <a:noFill/>
          <a:ln/>
        </p:spPr>
        <p:txBody>
          <a:bodyPr wrap="square" lIns="0" tIns="0" rIns="0" bIns="0" rtlCol="0" anchor="ctr"/>
          <a:lstStyle/>
          <a:p>
            <a:pPr algn="ctr" indent="0" marL="0">
              <a:buNone/>
            </a:pPr>
            <a:r>
              <a:rPr lang="en-US" sz="1200" b="1" dirty="0">
                <a:solidFill>
                  <a:srgbClr val="0B1A2E"/>
                </a:solidFill>
                <a:latin typeface="Calibri" pitchFamily="34" charset="0"/>
                <a:ea typeface="Calibri" pitchFamily="34" charset="-122"/>
                <a:cs typeface="Calibri" pitchFamily="34" charset="-120"/>
              </a:rPr>
              <a:t>3</a:t>
            </a:r>
            <a:endParaRPr lang="en-US" sz="1200" dirty="0"/>
          </a:p>
        </p:txBody>
      </p:sp>
      <p:sp>
        <p:nvSpPr>
          <p:cNvPr id="15" name="Text 12"/>
          <p:cNvSpPr/>
          <p:nvPr/>
        </p:nvSpPr>
        <p:spPr>
          <a:xfrm>
            <a:off x="1097280" y="2990088"/>
            <a:ext cx="4754880" cy="384048"/>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Assign available registered container</a:t>
            </a:r>
            <a:endParaRPr lang="en-US" sz="1500" dirty="0"/>
          </a:p>
        </p:txBody>
      </p:sp>
      <p:sp>
        <p:nvSpPr>
          <p:cNvPr id="16" name="Shape 13"/>
          <p:cNvSpPr/>
          <p:nvPr/>
        </p:nvSpPr>
        <p:spPr>
          <a:xfrm>
            <a:off x="786384" y="3392424"/>
            <a:ext cx="0" cy="201168"/>
          </a:xfrm>
          <a:prstGeom prst="line">
            <a:avLst/>
          </a:prstGeom>
          <a:noFill/>
          <a:ln w="19050">
            <a:solidFill>
              <a:srgbClr val="27435F"/>
            </a:solidFill>
            <a:prstDash val="solid"/>
          </a:ln>
        </p:spPr>
      </p:sp>
      <p:sp>
        <p:nvSpPr>
          <p:cNvPr id="17" name="Shape 14"/>
          <p:cNvSpPr/>
          <p:nvPr/>
        </p:nvSpPr>
        <p:spPr>
          <a:xfrm>
            <a:off x="594360" y="3593592"/>
            <a:ext cx="384048" cy="384048"/>
          </a:xfrm>
          <a:prstGeom prst="ellipse">
            <a:avLst/>
          </a:prstGeom>
          <a:solidFill>
            <a:srgbClr val="1B3350"/>
          </a:solidFill>
          <a:ln w="12700">
            <a:solidFill>
              <a:srgbClr val="27435F"/>
            </a:solidFill>
            <a:prstDash val="solid"/>
          </a:ln>
        </p:spPr>
      </p:sp>
      <p:sp>
        <p:nvSpPr>
          <p:cNvPr id="18" name="Text 15"/>
          <p:cNvSpPr/>
          <p:nvPr/>
        </p:nvSpPr>
        <p:spPr>
          <a:xfrm>
            <a:off x="594360" y="359359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6"/>
          <p:cNvSpPr/>
          <p:nvPr/>
        </p:nvSpPr>
        <p:spPr>
          <a:xfrm>
            <a:off x="1097280" y="3593592"/>
            <a:ext cx="4754880" cy="384048"/>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Capture customs seal information</a:t>
            </a:r>
            <a:endParaRPr lang="en-US" sz="1500" dirty="0"/>
          </a:p>
        </p:txBody>
      </p:sp>
      <p:sp>
        <p:nvSpPr>
          <p:cNvPr id="20" name="Shape 17"/>
          <p:cNvSpPr/>
          <p:nvPr/>
        </p:nvSpPr>
        <p:spPr>
          <a:xfrm>
            <a:off x="786384" y="3995928"/>
            <a:ext cx="0" cy="201168"/>
          </a:xfrm>
          <a:prstGeom prst="line">
            <a:avLst/>
          </a:prstGeom>
          <a:noFill/>
          <a:ln w="19050">
            <a:solidFill>
              <a:srgbClr val="27435F"/>
            </a:solidFill>
            <a:prstDash val="solid"/>
          </a:ln>
        </p:spPr>
      </p:sp>
      <p:sp>
        <p:nvSpPr>
          <p:cNvPr id="21" name="Shape 18"/>
          <p:cNvSpPr/>
          <p:nvPr/>
        </p:nvSpPr>
        <p:spPr>
          <a:xfrm>
            <a:off x="594360" y="4197096"/>
            <a:ext cx="384048" cy="384048"/>
          </a:xfrm>
          <a:prstGeom prst="ellipse">
            <a:avLst/>
          </a:prstGeom>
          <a:solidFill>
            <a:srgbClr val="1B3350"/>
          </a:solidFill>
          <a:ln w="12700">
            <a:solidFill>
              <a:srgbClr val="27435F"/>
            </a:solidFill>
            <a:prstDash val="solid"/>
          </a:ln>
        </p:spPr>
      </p:sp>
      <p:sp>
        <p:nvSpPr>
          <p:cNvPr id="22" name="Text 19"/>
          <p:cNvSpPr/>
          <p:nvPr/>
        </p:nvSpPr>
        <p:spPr>
          <a:xfrm>
            <a:off x="594360" y="419709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3" name="Text 20"/>
          <p:cNvSpPr/>
          <p:nvPr/>
        </p:nvSpPr>
        <p:spPr>
          <a:xfrm>
            <a:off x="1097280" y="4197096"/>
            <a:ext cx="4754880" cy="384048"/>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Record cargo type and payload weight</a:t>
            </a:r>
            <a:endParaRPr lang="en-US" sz="1500" dirty="0"/>
          </a:p>
        </p:txBody>
      </p:sp>
      <p:sp>
        <p:nvSpPr>
          <p:cNvPr id="24" name="Shape 21"/>
          <p:cNvSpPr/>
          <p:nvPr/>
        </p:nvSpPr>
        <p:spPr>
          <a:xfrm>
            <a:off x="786384" y="4599432"/>
            <a:ext cx="0" cy="201168"/>
          </a:xfrm>
          <a:prstGeom prst="line">
            <a:avLst/>
          </a:prstGeom>
          <a:noFill/>
          <a:ln w="19050">
            <a:solidFill>
              <a:srgbClr val="27435F"/>
            </a:solidFill>
            <a:prstDash val="solid"/>
          </a:ln>
        </p:spPr>
      </p:sp>
      <p:sp>
        <p:nvSpPr>
          <p:cNvPr id="25" name="Shape 22"/>
          <p:cNvSpPr/>
          <p:nvPr/>
        </p:nvSpPr>
        <p:spPr>
          <a:xfrm>
            <a:off x="594360" y="4800600"/>
            <a:ext cx="384048" cy="384048"/>
          </a:xfrm>
          <a:prstGeom prst="ellipse">
            <a:avLst/>
          </a:prstGeom>
          <a:solidFill>
            <a:srgbClr val="1B3350"/>
          </a:solidFill>
          <a:ln w="12700">
            <a:solidFill>
              <a:srgbClr val="27435F"/>
            </a:solidFill>
            <a:prstDash val="solid"/>
          </a:ln>
        </p:spPr>
      </p:sp>
      <p:sp>
        <p:nvSpPr>
          <p:cNvPr id="26" name="Text 23"/>
          <p:cNvSpPr/>
          <p:nvPr/>
        </p:nvSpPr>
        <p:spPr>
          <a:xfrm>
            <a:off x="594360" y="48006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7" name="Text 24"/>
          <p:cNvSpPr/>
          <p:nvPr/>
        </p:nvSpPr>
        <p:spPr>
          <a:xfrm>
            <a:off x="1097280" y="4800600"/>
            <a:ext cx="4754880" cy="384048"/>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Schedule departure and ETA</a:t>
            </a:r>
            <a:endParaRPr lang="en-US" sz="1500" dirty="0"/>
          </a:p>
        </p:txBody>
      </p:sp>
      <p:sp>
        <p:nvSpPr>
          <p:cNvPr id="28" name="Shape 25"/>
          <p:cNvSpPr/>
          <p:nvPr/>
        </p:nvSpPr>
        <p:spPr>
          <a:xfrm>
            <a:off x="786384" y="5202936"/>
            <a:ext cx="0" cy="201168"/>
          </a:xfrm>
          <a:prstGeom prst="line">
            <a:avLst/>
          </a:prstGeom>
          <a:noFill/>
          <a:ln w="19050">
            <a:solidFill>
              <a:srgbClr val="27435F"/>
            </a:solidFill>
            <a:prstDash val="solid"/>
          </a:ln>
        </p:spPr>
      </p:sp>
      <p:sp>
        <p:nvSpPr>
          <p:cNvPr id="29" name="Shape 26"/>
          <p:cNvSpPr/>
          <p:nvPr/>
        </p:nvSpPr>
        <p:spPr>
          <a:xfrm>
            <a:off x="594360" y="5404104"/>
            <a:ext cx="384048" cy="384048"/>
          </a:xfrm>
          <a:prstGeom prst="ellipse">
            <a:avLst/>
          </a:prstGeom>
          <a:solidFill>
            <a:srgbClr val="1B3350"/>
          </a:solidFill>
          <a:ln w="12700">
            <a:solidFill>
              <a:srgbClr val="27435F"/>
            </a:solidFill>
            <a:prstDash val="solid"/>
          </a:ln>
        </p:spPr>
      </p:sp>
      <p:sp>
        <p:nvSpPr>
          <p:cNvPr id="30" name="Text 27"/>
          <p:cNvSpPr/>
          <p:nvPr/>
        </p:nvSpPr>
        <p:spPr>
          <a:xfrm>
            <a:off x="594360" y="540410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1" name="Text 28"/>
          <p:cNvSpPr/>
          <p:nvPr/>
        </p:nvSpPr>
        <p:spPr>
          <a:xfrm>
            <a:off x="1097280" y="5404104"/>
            <a:ext cx="4754880" cy="384048"/>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Check overlapping vehicle assignments</a:t>
            </a:r>
            <a:endParaRPr lang="en-US" sz="1500" dirty="0"/>
          </a:p>
        </p:txBody>
      </p:sp>
      <p:sp>
        <p:nvSpPr>
          <p:cNvPr id="32" name="Shape 29"/>
          <p:cNvSpPr/>
          <p:nvPr/>
        </p:nvSpPr>
        <p:spPr>
          <a:xfrm>
            <a:off x="6355080" y="1783080"/>
            <a:ext cx="5193792" cy="3108960"/>
          </a:xfrm>
          <a:prstGeom prst="roundRect">
            <a:avLst>
              <a:gd name="adj" fmla="val 2353"/>
            </a:avLst>
          </a:prstGeom>
          <a:solidFill>
            <a:srgbClr val="13263D"/>
          </a:solidFill>
          <a:ln w="12700">
            <a:solidFill>
              <a:srgbClr val="27435F"/>
            </a:solidFill>
            <a:prstDash val="solid"/>
          </a:ln>
        </p:spPr>
      </p:sp>
      <p:sp>
        <p:nvSpPr>
          <p:cNvPr id="33" name="Text 30"/>
          <p:cNvSpPr/>
          <p:nvPr/>
        </p:nvSpPr>
        <p:spPr>
          <a:xfrm>
            <a:off x="6583680" y="1901952"/>
            <a:ext cx="4754880" cy="274320"/>
          </a:xfrm>
          <a:prstGeom prst="rect">
            <a:avLst/>
          </a:prstGeom>
          <a:noFill/>
          <a:ln/>
        </p:spPr>
        <p:txBody>
          <a:bodyPr wrap="square" rtlCol="0" anchor="ctr"/>
          <a:lstStyle/>
          <a:p>
            <a:pPr indent="0" marL="0">
              <a:buNone/>
            </a:pPr>
            <a:r>
              <a:rPr lang="en-US" sz="1100" b="1" spc="150" kern="0" dirty="0">
                <a:solidFill>
                  <a:srgbClr val="F5821F"/>
                </a:solidFill>
                <a:latin typeface="Calibri" pitchFamily="34" charset="0"/>
                <a:ea typeface="Calibri" pitchFamily="34" charset="-122"/>
                <a:cs typeface="Calibri" pitchFamily="34" charset="-120"/>
              </a:rPr>
              <a:t>NEW TRIP DISPATCH</a:t>
            </a:r>
            <a:endParaRPr lang="en-US" sz="1100" dirty="0"/>
          </a:p>
        </p:txBody>
      </p:sp>
      <p:sp>
        <p:nvSpPr>
          <p:cNvPr id="34" name="Shape 31"/>
          <p:cNvSpPr/>
          <p:nvPr/>
        </p:nvSpPr>
        <p:spPr>
          <a:xfrm>
            <a:off x="6583680" y="2267712"/>
            <a:ext cx="4736592" cy="402336"/>
          </a:xfrm>
          <a:prstGeom prst="rect">
            <a:avLst/>
          </a:prstGeom>
          <a:solidFill>
            <a:srgbClr val="1B3350"/>
          </a:solidFill>
          <a:ln w="12700">
            <a:solidFill>
              <a:srgbClr val="27435F"/>
            </a:solidFill>
            <a:prstDash val="solid"/>
          </a:ln>
        </p:spPr>
      </p:sp>
      <p:sp>
        <p:nvSpPr>
          <p:cNvPr id="35" name="Text 32"/>
          <p:cNvSpPr/>
          <p:nvPr/>
        </p:nvSpPr>
        <p:spPr>
          <a:xfrm>
            <a:off x="6693408" y="2267712"/>
            <a:ext cx="1371600" cy="402336"/>
          </a:xfrm>
          <a:prstGeom prst="rect">
            <a:avLst/>
          </a:prstGeom>
          <a:noFill/>
          <a:ln/>
        </p:spPr>
        <p:txBody>
          <a:bodyPr wrap="square" lIns="0" tIns="0" rIns="0" bIns="0" rtlCol="0" anchor="ctr"/>
          <a:lstStyle/>
          <a:p>
            <a:pPr indent="0" marL="0">
              <a:buNone/>
            </a:pPr>
            <a:r>
              <a:rPr lang="en-US" sz="1000" dirty="0">
                <a:solidFill>
                  <a:srgbClr val="9DB2C8"/>
                </a:solidFill>
                <a:latin typeface="Calibri" pitchFamily="34" charset="0"/>
                <a:ea typeface="Calibri" pitchFamily="34" charset="-122"/>
                <a:cs typeface="Calibri" pitchFamily="34" charset="-120"/>
              </a:rPr>
              <a:t>Vehicle</a:t>
            </a:r>
            <a:endParaRPr lang="en-US" sz="1000" dirty="0"/>
          </a:p>
        </p:txBody>
      </p:sp>
      <p:sp>
        <p:nvSpPr>
          <p:cNvPr id="36" name="Text 33"/>
          <p:cNvSpPr/>
          <p:nvPr/>
        </p:nvSpPr>
        <p:spPr>
          <a:xfrm>
            <a:off x="8046720" y="2267712"/>
            <a:ext cx="3154680" cy="402336"/>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KDE 421X — Truck (powered)</a:t>
            </a:r>
            <a:endParaRPr lang="en-US" sz="1100" dirty="0"/>
          </a:p>
        </p:txBody>
      </p:sp>
      <p:sp>
        <p:nvSpPr>
          <p:cNvPr id="37" name="Shape 34"/>
          <p:cNvSpPr/>
          <p:nvPr/>
        </p:nvSpPr>
        <p:spPr>
          <a:xfrm>
            <a:off x="6583680" y="2770632"/>
            <a:ext cx="4736592" cy="402336"/>
          </a:xfrm>
          <a:prstGeom prst="rect">
            <a:avLst/>
          </a:prstGeom>
          <a:solidFill>
            <a:srgbClr val="1B3350"/>
          </a:solidFill>
          <a:ln w="12700">
            <a:solidFill>
              <a:srgbClr val="27435F"/>
            </a:solidFill>
            <a:prstDash val="solid"/>
          </a:ln>
        </p:spPr>
      </p:sp>
      <p:sp>
        <p:nvSpPr>
          <p:cNvPr id="38" name="Text 35"/>
          <p:cNvSpPr/>
          <p:nvPr/>
        </p:nvSpPr>
        <p:spPr>
          <a:xfrm>
            <a:off x="6693408" y="2770632"/>
            <a:ext cx="1371600" cy="402336"/>
          </a:xfrm>
          <a:prstGeom prst="rect">
            <a:avLst/>
          </a:prstGeom>
          <a:noFill/>
          <a:ln/>
        </p:spPr>
        <p:txBody>
          <a:bodyPr wrap="square" lIns="0" tIns="0" rIns="0" bIns="0" rtlCol="0" anchor="ctr"/>
          <a:lstStyle/>
          <a:p>
            <a:pPr indent="0" marL="0">
              <a:buNone/>
            </a:pPr>
            <a:r>
              <a:rPr lang="en-US" sz="1000" dirty="0">
                <a:solidFill>
                  <a:srgbClr val="9DB2C8"/>
                </a:solidFill>
                <a:latin typeface="Calibri" pitchFamily="34" charset="0"/>
                <a:ea typeface="Calibri" pitchFamily="34" charset="-122"/>
                <a:cs typeface="Calibri" pitchFamily="34" charset="-120"/>
              </a:rPr>
              <a:t>Origin</a:t>
            </a:r>
            <a:endParaRPr lang="en-US" sz="1000" dirty="0"/>
          </a:p>
        </p:txBody>
      </p:sp>
      <p:sp>
        <p:nvSpPr>
          <p:cNvPr id="39" name="Text 36"/>
          <p:cNvSpPr/>
          <p:nvPr/>
        </p:nvSpPr>
        <p:spPr>
          <a:xfrm>
            <a:off x="8046720" y="2770632"/>
            <a:ext cx="3154680" cy="402336"/>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Mombasa Port</a:t>
            </a:r>
            <a:endParaRPr lang="en-US" sz="1100" dirty="0"/>
          </a:p>
        </p:txBody>
      </p:sp>
      <p:sp>
        <p:nvSpPr>
          <p:cNvPr id="40" name="Shape 37"/>
          <p:cNvSpPr/>
          <p:nvPr/>
        </p:nvSpPr>
        <p:spPr>
          <a:xfrm>
            <a:off x="6583680" y="3273552"/>
            <a:ext cx="4736592" cy="402336"/>
          </a:xfrm>
          <a:prstGeom prst="rect">
            <a:avLst/>
          </a:prstGeom>
          <a:solidFill>
            <a:srgbClr val="1B3350"/>
          </a:solidFill>
          <a:ln w="12700">
            <a:solidFill>
              <a:srgbClr val="27435F"/>
            </a:solidFill>
            <a:prstDash val="solid"/>
          </a:ln>
        </p:spPr>
      </p:sp>
      <p:sp>
        <p:nvSpPr>
          <p:cNvPr id="41" name="Text 38"/>
          <p:cNvSpPr/>
          <p:nvPr/>
        </p:nvSpPr>
        <p:spPr>
          <a:xfrm>
            <a:off x="6693408" y="3273552"/>
            <a:ext cx="1371600" cy="402336"/>
          </a:xfrm>
          <a:prstGeom prst="rect">
            <a:avLst/>
          </a:prstGeom>
          <a:noFill/>
          <a:ln/>
        </p:spPr>
        <p:txBody>
          <a:bodyPr wrap="square" lIns="0" tIns="0" rIns="0" bIns="0" rtlCol="0" anchor="ctr"/>
          <a:lstStyle/>
          <a:p>
            <a:pPr indent="0" marL="0">
              <a:buNone/>
            </a:pPr>
            <a:r>
              <a:rPr lang="en-US" sz="1000" dirty="0">
                <a:solidFill>
                  <a:srgbClr val="9DB2C8"/>
                </a:solidFill>
                <a:latin typeface="Calibri" pitchFamily="34" charset="0"/>
                <a:ea typeface="Calibri" pitchFamily="34" charset="-122"/>
                <a:cs typeface="Calibri" pitchFamily="34" charset="-120"/>
              </a:rPr>
              <a:t>Destination</a:t>
            </a:r>
            <a:endParaRPr lang="en-US" sz="1000" dirty="0"/>
          </a:p>
        </p:txBody>
      </p:sp>
      <p:sp>
        <p:nvSpPr>
          <p:cNvPr id="42" name="Text 39"/>
          <p:cNvSpPr/>
          <p:nvPr/>
        </p:nvSpPr>
        <p:spPr>
          <a:xfrm>
            <a:off x="8046720" y="3273552"/>
            <a:ext cx="3154680" cy="402336"/>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Nairobi ICD</a:t>
            </a:r>
            <a:endParaRPr lang="en-US" sz="1100" dirty="0"/>
          </a:p>
        </p:txBody>
      </p:sp>
      <p:sp>
        <p:nvSpPr>
          <p:cNvPr id="43" name="Shape 40"/>
          <p:cNvSpPr/>
          <p:nvPr/>
        </p:nvSpPr>
        <p:spPr>
          <a:xfrm>
            <a:off x="6583680" y="3776472"/>
            <a:ext cx="4736592" cy="402336"/>
          </a:xfrm>
          <a:prstGeom prst="rect">
            <a:avLst/>
          </a:prstGeom>
          <a:solidFill>
            <a:srgbClr val="1B3350"/>
          </a:solidFill>
          <a:ln w="12700">
            <a:solidFill>
              <a:srgbClr val="F5821F"/>
            </a:solidFill>
            <a:prstDash val="solid"/>
          </a:ln>
        </p:spPr>
      </p:sp>
      <p:sp>
        <p:nvSpPr>
          <p:cNvPr id="44" name="Text 41"/>
          <p:cNvSpPr/>
          <p:nvPr/>
        </p:nvSpPr>
        <p:spPr>
          <a:xfrm>
            <a:off x="6693408" y="3776472"/>
            <a:ext cx="1371600" cy="402336"/>
          </a:xfrm>
          <a:prstGeom prst="rect">
            <a:avLst/>
          </a:prstGeom>
          <a:noFill/>
          <a:ln/>
        </p:spPr>
        <p:txBody>
          <a:bodyPr wrap="square" lIns="0" tIns="0" rIns="0" bIns="0" rtlCol="0" anchor="ctr"/>
          <a:lstStyle/>
          <a:p>
            <a:pPr indent="0" marL="0">
              <a:buNone/>
            </a:pPr>
            <a:r>
              <a:rPr lang="en-US" sz="1000" dirty="0">
                <a:solidFill>
                  <a:srgbClr val="9DB2C8"/>
                </a:solidFill>
                <a:latin typeface="Calibri" pitchFamily="34" charset="0"/>
                <a:ea typeface="Calibri" pitchFamily="34" charset="-122"/>
                <a:cs typeface="Calibri" pitchFamily="34" charset="-120"/>
              </a:rPr>
              <a:t>Container</a:t>
            </a:r>
            <a:endParaRPr lang="en-US" sz="1000" dirty="0"/>
          </a:p>
        </p:txBody>
      </p:sp>
      <p:sp>
        <p:nvSpPr>
          <p:cNvPr id="45" name="Text 42"/>
          <p:cNvSpPr/>
          <p:nvPr/>
        </p:nvSpPr>
        <p:spPr>
          <a:xfrm>
            <a:off x="8046720" y="3776472"/>
            <a:ext cx="3154680" cy="402336"/>
          </a:xfrm>
          <a:prstGeom prst="rect">
            <a:avLst/>
          </a:prstGeom>
          <a:noFill/>
          <a:ln/>
        </p:spPr>
        <p:txBody>
          <a:bodyPr wrap="square" lIns="0" tIns="0" rIns="0" bIns="0" rtlCol="0" anchor="ctr"/>
          <a:lstStyle/>
          <a:p>
            <a:pPr algn="r" indent="0" marL="0">
              <a:buNone/>
            </a:pPr>
            <a:r>
              <a:rPr lang="en-US" sz="1100" b="1" dirty="0">
                <a:solidFill>
                  <a:srgbClr val="F5821F"/>
                </a:solidFill>
                <a:latin typeface="Calibri" pitchFamily="34" charset="0"/>
                <a:ea typeface="Calibri" pitchFamily="34" charset="-122"/>
                <a:cs typeface="Calibri" pitchFamily="34" charset="-120"/>
              </a:rPr>
              <a:t>TRLU 1234567 — available</a:t>
            </a:r>
            <a:endParaRPr lang="en-US" sz="1100" dirty="0"/>
          </a:p>
        </p:txBody>
      </p:sp>
      <p:sp>
        <p:nvSpPr>
          <p:cNvPr id="46" name="Shape 43"/>
          <p:cNvSpPr/>
          <p:nvPr/>
        </p:nvSpPr>
        <p:spPr>
          <a:xfrm>
            <a:off x="6583680" y="4279392"/>
            <a:ext cx="4736592" cy="402336"/>
          </a:xfrm>
          <a:prstGeom prst="rect">
            <a:avLst/>
          </a:prstGeom>
          <a:solidFill>
            <a:srgbClr val="1B3350"/>
          </a:solidFill>
          <a:ln w="12700">
            <a:solidFill>
              <a:srgbClr val="27435F"/>
            </a:solidFill>
            <a:prstDash val="solid"/>
          </a:ln>
        </p:spPr>
      </p:sp>
      <p:sp>
        <p:nvSpPr>
          <p:cNvPr id="47" name="Text 44"/>
          <p:cNvSpPr/>
          <p:nvPr/>
        </p:nvSpPr>
        <p:spPr>
          <a:xfrm>
            <a:off x="6693408" y="4279392"/>
            <a:ext cx="1371600" cy="402336"/>
          </a:xfrm>
          <a:prstGeom prst="rect">
            <a:avLst/>
          </a:prstGeom>
          <a:noFill/>
          <a:ln/>
        </p:spPr>
        <p:txBody>
          <a:bodyPr wrap="square" lIns="0" tIns="0" rIns="0" bIns="0" rtlCol="0" anchor="ctr"/>
          <a:lstStyle/>
          <a:p>
            <a:pPr indent="0" marL="0">
              <a:buNone/>
            </a:pPr>
            <a:r>
              <a:rPr lang="en-US" sz="1000" dirty="0">
                <a:solidFill>
                  <a:srgbClr val="9DB2C8"/>
                </a:solidFill>
                <a:latin typeface="Calibri" pitchFamily="34" charset="0"/>
                <a:ea typeface="Calibri" pitchFamily="34" charset="-122"/>
                <a:cs typeface="Calibri" pitchFamily="34" charset="-120"/>
              </a:rPr>
              <a:t>Seal / cargo</a:t>
            </a:r>
            <a:endParaRPr lang="en-US" sz="1000" dirty="0"/>
          </a:p>
        </p:txBody>
      </p:sp>
      <p:sp>
        <p:nvSpPr>
          <p:cNvPr id="48" name="Text 45"/>
          <p:cNvSpPr/>
          <p:nvPr/>
        </p:nvSpPr>
        <p:spPr>
          <a:xfrm>
            <a:off x="8046720" y="4279392"/>
            <a:ext cx="3154680" cy="402336"/>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[seal no.] • [cargo] • [tonnes]</a:t>
            </a:r>
            <a:endParaRPr lang="en-US" sz="1100" dirty="0"/>
          </a:p>
        </p:txBody>
      </p:sp>
      <p:sp>
        <p:nvSpPr>
          <p:cNvPr id="49" name="Shape 46"/>
          <p:cNvSpPr/>
          <p:nvPr/>
        </p:nvSpPr>
        <p:spPr>
          <a:xfrm>
            <a:off x="6355080" y="5074920"/>
            <a:ext cx="5193792" cy="1051560"/>
          </a:xfrm>
          <a:prstGeom prst="roundRect">
            <a:avLst>
              <a:gd name="adj" fmla="val 6957"/>
            </a:avLst>
          </a:prstGeom>
          <a:solidFill>
            <a:srgbClr val="1B3350"/>
          </a:solidFill>
          <a:ln w="12700">
            <a:solidFill>
              <a:srgbClr val="27435F"/>
            </a:solidFill>
            <a:prstDash val="solid"/>
          </a:ln>
        </p:spPr>
      </p:sp>
      <p:sp>
        <p:nvSpPr>
          <p:cNvPr id="50" name="Text 47"/>
          <p:cNvSpPr/>
          <p:nvPr/>
        </p:nvSpPr>
        <p:spPr>
          <a:xfrm>
            <a:off x="6583680" y="5074920"/>
            <a:ext cx="4754880" cy="1051560"/>
          </a:xfrm>
          <a:prstGeom prst="rect">
            <a:avLst/>
          </a:prstGeom>
          <a:noFill/>
          <a:ln/>
        </p:spPr>
        <p:txBody>
          <a:bodyPr wrap="square" rtlCol="0" anchor="ctr"/>
          <a:lstStyle/>
          <a:p>
            <a:pPr indent="0" marL="0">
              <a:lnSpc>
                <a:spcPts val="1800"/>
              </a:lnSpc>
              <a:buNone/>
            </a:pPr>
            <a:r>
              <a:rPr lang="en-US" sz="1200" b="1" dirty="0">
                <a:solidFill>
                  <a:srgbClr val="F5821F"/>
                </a:solidFill>
                <a:latin typeface="Calibri" pitchFamily="34" charset="0"/>
                <a:ea typeface="Calibri" pitchFamily="34" charset="-122"/>
                <a:cs typeface="Calibri" pitchFamily="34" charset="-120"/>
              </a:rPr>
              <a:t>Design decision   </a:t>
            </a:r>
            <a:pPr indent="0" marL="0">
              <a:lnSpc>
                <a:spcPts val="1800"/>
              </a:lnSpc>
              <a:buNone/>
            </a:pPr>
            <a:r>
              <a:rPr lang="en-US" sz="1300" dirty="0">
                <a:solidFill>
                  <a:srgbClr val="FFFFFF"/>
                </a:solidFill>
                <a:latin typeface="Calibri" pitchFamily="34" charset="0"/>
                <a:ea typeface="Calibri" pitchFamily="34" charset="-122"/>
                <a:cs typeface="Calibri" pitchFamily="34" charset="-120"/>
              </a:rPr>
              <a:t>Containers are cargo equipment — not vehicles, and never driver-assigned.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nvSpPr>
        <p:spPr>
          <a:xfrm>
            <a:off x="594360" y="384048"/>
            <a:ext cx="7315200" cy="274320"/>
          </a:xfrm>
          <a:prstGeom prst="rect">
            <a:avLst/>
          </a:prstGeom>
          <a:noFill/>
          <a:ln/>
        </p:spPr>
        <p:txBody>
          <a:bodyPr wrap="square" rtlCol="0" anchor="ctr"/>
          <a:lstStyle/>
          <a:p>
            <a:pPr indent="0" marL="0">
              <a:buNone/>
            </a:pPr>
            <a:r>
              <a:rPr lang="en-US" sz="1300" b="1" spc="300" kern="0" dirty="0">
                <a:solidFill>
                  <a:srgbClr val="F5821F"/>
                </a:solidFill>
                <a:latin typeface="Calibri" pitchFamily="34" charset="0"/>
                <a:ea typeface="Calibri" pitchFamily="34" charset="-122"/>
                <a:cs typeface="Calibri" pitchFamily="34" charset="-120"/>
              </a:rPr>
              <a:t>ARCHITECTURE</a:t>
            </a:r>
            <a:endParaRPr lang="en-US" sz="1300" dirty="0"/>
          </a:p>
        </p:txBody>
      </p:sp>
      <p:sp>
        <p:nvSpPr>
          <p:cNvPr id="4" name="Text 1"/>
          <p:cNvSpPr/>
          <p:nvPr/>
        </p:nvSpPr>
        <p:spPr>
          <a:xfrm>
            <a:off x="548640" y="685800"/>
            <a:ext cx="10607040" cy="777240"/>
          </a:xfrm>
          <a:prstGeom prst="rect">
            <a:avLst/>
          </a:prstGeom>
          <a:noFill/>
          <a:ln/>
        </p:spPr>
        <p:txBody>
          <a:bodyPr wrap="square" rtlCol="0" anchor="ctr"/>
          <a:lstStyle/>
          <a:p>
            <a:pPr indent="0" marL="0">
              <a:buNone/>
            </a:pPr>
            <a:r>
              <a:rPr lang="en-US" sz="4000" dirty="0">
                <a:solidFill>
                  <a:srgbClr val="FFFFFF"/>
                </a:solidFill>
                <a:latin typeface="Arial Black" pitchFamily="34" charset="0"/>
                <a:ea typeface="Arial Black" pitchFamily="34" charset="-122"/>
                <a:cs typeface="Arial Black" pitchFamily="34" charset="-120"/>
              </a:rPr>
              <a:t>System and technology stack</a:t>
            </a:r>
            <a:endParaRPr lang="en-US" sz="4000" dirty="0"/>
          </a:p>
        </p:txBody>
      </p:sp>
      <p:sp>
        <p:nvSpPr>
          <p:cNvPr id="5" name="Shape 2"/>
          <p:cNvSpPr/>
          <p:nvPr/>
        </p:nvSpPr>
        <p:spPr>
          <a:xfrm>
            <a:off x="594360" y="2194560"/>
            <a:ext cx="3474720" cy="3246120"/>
          </a:xfrm>
          <a:prstGeom prst="roundRect">
            <a:avLst>
              <a:gd name="adj" fmla="val 2254"/>
            </a:avLst>
          </a:prstGeom>
          <a:solidFill>
            <a:srgbClr val="13263D"/>
          </a:solidFill>
          <a:ln w="12700">
            <a:solidFill>
              <a:srgbClr val="27435F"/>
            </a:solidFill>
            <a:prstDash val="solid"/>
          </a:ln>
        </p:spPr>
      </p:sp>
      <p:sp>
        <p:nvSpPr>
          <p:cNvPr id="6" name="Shape 3"/>
          <p:cNvSpPr/>
          <p:nvPr/>
        </p:nvSpPr>
        <p:spPr>
          <a:xfrm>
            <a:off x="594360" y="2194560"/>
            <a:ext cx="3474720" cy="73152"/>
          </a:xfrm>
          <a:prstGeom prst="rect">
            <a:avLst/>
          </a:prstGeom>
          <a:solidFill>
            <a:srgbClr val="10B981"/>
          </a:solidFill>
          <a:ln/>
        </p:spPr>
      </p:sp>
      <p:sp>
        <p:nvSpPr>
          <p:cNvPr id="7" name="Text 4"/>
          <p:cNvSpPr/>
          <p:nvPr/>
        </p:nvSpPr>
        <p:spPr>
          <a:xfrm>
            <a:off x="822960" y="2377440"/>
            <a:ext cx="3017520" cy="320040"/>
          </a:xfrm>
          <a:prstGeom prst="rect">
            <a:avLst/>
          </a:prstGeom>
          <a:noFill/>
          <a:ln/>
        </p:spPr>
        <p:txBody>
          <a:bodyPr wrap="square" rtlCol="0" anchor="ctr"/>
          <a:lstStyle/>
          <a:p>
            <a:pPr indent="0" marL="0">
              <a:buNone/>
            </a:pPr>
            <a:r>
              <a:rPr lang="en-US" sz="1200" b="1" spc="150" kern="0" dirty="0">
                <a:solidFill>
                  <a:srgbClr val="10B981"/>
                </a:solidFill>
                <a:latin typeface="Calibri" pitchFamily="34" charset="0"/>
                <a:ea typeface="Calibri" pitchFamily="34" charset="-122"/>
                <a:cs typeface="Calibri" pitchFamily="34" charset="-120"/>
              </a:rPr>
              <a:t>FRONTEND</a:t>
            </a:r>
            <a:endParaRPr lang="en-US" sz="1200" dirty="0"/>
          </a:p>
        </p:txBody>
      </p:sp>
      <p:sp>
        <p:nvSpPr>
          <p:cNvPr id="8" name="Text 5"/>
          <p:cNvSpPr/>
          <p:nvPr/>
        </p:nvSpPr>
        <p:spPr>
          <a:xfrm>
            <a:off x="822960" y="2743200"/>
            <a:ext cx="3017520" cy="2560320"/>
          </a:xfrm>
          <a:prstGeom prst="rect">
            <a:avLst/>
          </a:prstGeom>
          <a:noFill/>
          <a:ln/>
        </p:spPr>
        <p:txBody>
          <a:bodyPr wrap="square" rtlCol="0" anchor="t"/>
          <a:lstStyle/>
          <a:p>
            <a:pPr marL="342900" indent="-342900">
              <a:lnSpc>
                <a:spcPts val="2200"/>
              </a:lnSpc>
              <a:buSzPct val="100000"/>
              <a:buChar char="▪"/>
            </a:pPr>
            <a:r>
              <a:rPr lang="en-US" sz="1300" dirty="0">
                <a:solidFill>
                  <a:srgbClr val="FFFFFF"/>
                </a:solidFill>
                <a:latin typeface="Calibri" pitchFamily="34" charset="0"/>
                <a:ea typeface="Calibri" pitchFamily="34" charset="-122"/>
                <a:cs typeface="Calibri" pitchFamily="34" charset="-120"/>
              </a:rPr>
              <a:t>React 19</a:t>
            </a:r>
            <a:endParaRPr lang="en-US" sz="1300" dirty="0"/>
          </a:p>
          <a:p>
            <a:pPr marL="342900" indent="-342900">
              <a:lnSpc>
                <a:spcPts val="2200"/>
              </a:lnSpc>
              <a:buSzPct val="100000"/>
              <a:buChar char="▪"/>
            </a:pPr>
            <a:r>
              <a:rPr lang="en-US" sz="1300" dirty="0">
                <a:solidFill>
                  <a:srgbClr val="FFFFFF"/>
                </a:solidFill>
                <a:latin typeface="Calibri" pitchFamily="34" charset="0"/>
                <a:ea typeface="Calibri" pitchFamily="34" charset="-122"/>
                <a:cs typeface="Calibri" pitchFamily="34" charset="-120"/>
              </a:rPr>
              <a:t>TypeScript</a:t>
            </a:r>
            <a:endParaRPr lang="en-US" sz="1300" dirty="0"/>
          </a:p>
          <a:p>
            <a:pPr marL="342900" indent="-342900">
              <a:lnSpc>
                <a:spcPts val="2200"/>
              </a:lnSpc>
              <a:buSzPct val="100000"/>
              <a:buChar char="▪"/>
            </a:pPr>
            <a:r>
              <a:rPr lang="en-US" sz="1300" dirty="0">
                <a:solidFill>
                  <a:srgbClr val="FFFFFF"/>
                </a:solidFill>
                <a:latin typeface="Calibri" pitchFamily="34" charset="0"/>
                <a:ea typeface="Calibri" pitchFamily="34" charset="-122"/>
                <a:cs typeface="Calibri" pitchFamily="34" charset="-120"/>
              </a:rPr>
              <a:t>Vite</a:t>
            </a:r>
            <a:endParaRPr lang="en-US" sz="1300" dirty="0"/>
          </a:p>
          <a:p>
            <a:pPr marL="342900" indent="-342900">
              <a:lnSpc>
                <a:spcPts val="2200"/>
              </a:lnSpc>
              <a:buSzPct val="100000"/>
              <a:buChar char="▪"/>
            </a:pPr>
            <a:r>
              <a:rPr lang="en-US" sz="1300" dirty="0">
                <a:solidFill>
                  <a:srgbClr val="FFFFFF"/>
                </a:solidFill>
                <a:latin typeface="Calibri" pitchFamily="34" charset="0"/>
                <a:ea typeface="Calibri" pitchFamily="34" charset="-122"/>
                <a:cs typeface="Calibri" pitchFamily="34" charset="-120"/>
              </a:rPr>
              <a:t>Tailwind CSS</a:t>
            </a:r>
            <a:endParaRPr lang="en-US" sz="1300" dirty="0"/>
          </a:p>
          <a:p>
            <a:pPr marL="342900" indent="-342900">
              <a:lnSpc>
                <a:spcPts val="2200"/>
              </a:lnSpc>
              <a:buSzPct val="100000"/>
              <a:buChar char="▪"/>
            </a:pPr>
            <a:r>
              <a:rPr lang="en-US" sz="1300" dirty="0">
                <a:solidFill>
                  <a:srgbClr val="FFFFFF"/>
                </a:solidFill>
                <a:latin typeface="Calibri" pitchFamily="34" charset="0"/>
                <a:ea typeface="Calibri" pitchFamily="34" charset="-122"/>
                <a:cs typeface="Calibri" pitchFamily="34" charset="-120"/>
              </a:rPr>
              <a:t>React Query</a:t>
            </a:r>
            <a:endParaRPr lang="en-US" sz="1300" dirty="0"/>
          </a:p>
          <a:p>
            <a:pPr marL="342900" indent="-342900">
              <a:lnSpc>
                <a:spcPts val="2200"/>
              </a:lnSpc>
              <a:buSzPct val="100000"/>
              <a:buChar char="▪"/>
            </a:pPr>
            <a:r>
              <a:rPr lang="en-US" sz="1300" dirty="0">
                <a:solidFill>
                  <a:srgbClr val="FFFFFF"/>
                </a:solidFill>
                <a:latin typeface="Calibri" pitchFamily="34" charset="0"/>
                <a:ea typeface="Calibri" pitchFamily="34" charset="-122"/>
                <a:cs typeface="Calibri" pitchFamily="34" charset="-120"/>
              </a:rPr>
              <a:t>React Hook Form + Zod</a:t>
            </a:r>
            <a:endParaRPr lang="en-US" sz="1300" dirty="0"/>
          </a:p>
          <a:p>
            <a:pPr marL="342900" indent="-342900">
              <a:lnSpc>
                <a:spcPts val="2200"/>
              </a:lnSpc>
              <a:buSzPct val="100000"/>
              <a:buChar char="▪"/>
            </a:pPr>
            <a:r>
              <a:rPr lang="en-US" sz="1300" dirty="0">
                <a:solidFill>
                  <a:srgbClr val="FFFFFF"/>
                </a:solidFill>
                <a:latin typeface="Calibri" pitchFamily="34" charset="0"/>
                <a:ea typeface="Calibri" pitchFamily="34" charset="-122"/>
                <a:cs typeface="Calibri" pitchFamily="34" charset="-120"/>
              </a:rPr>
              <a:t>MapLibre GL</a:t>
            </a:r>
            <a:endParaRPr lang="en-US" sz="1300" dirty="0"/>
          </a:p>
        </p:txBody>
      </p:sp>
      <p:sp>
        <p:nvSpPr>
          <p:cNvPr id="9" name="Shape 6"/>
          <p:cNvSpPr/>
          <p:nvPr/>
        </p:nvSpPr>
        <p:spPr>
          <a:xfrm>
            <a:off x="4297680" y="2194560"/>
            <a:ext cx="3474720" cy="3246120"/>
          </a:xfrm>
          <a:prstGeom prst="roundRect">
            <a:avLst>
              <a:gd name="adj" fmla="val 2254"/>
            </a:avLst>
          </a:prstGeom>
          <a:solidFill>
            <a:srgbClr val="13263D"/>
          </a:solidFill>
          <a:ln w="12700">
            <a:solidFill>
              <a:srgbClr val="27435F"/>
            </a:solidFill>
            <a:prstDash val="solid"/>
          </a:ln>
        </p:spPr>
      </p:sp>
      <p:sp>
        <p:nvSpPr>
          <p:cNvPr id="10" name="Shape 7"/>
          <p:cNvSpPr/>
          <p:nvPr/>
        </p:nvSpPr>
        <p:spPr>
          <a:xfrm>
            <a:off x="4297680" y="2194560"/>
            <a:ext cx="3474720" cy="73152"/>
          </a:xfrm>
          <a:prstGeom prst="rect">
            <a:avLst/>
          </a:prstGeom>
          <a:solidFill>
            <a:srgbClr val="F5821F"/>
          </a:solidFill>
          <a:ln/>
        </p:spPr>
      </p:sp>
      <p:sp>
        <p:nvSpPr>
          <p:cNvPr id="11" name="Text 8"/>
          <p:cNvSpPr/>
          <p:nvPr/>
        </p:nvSpPr>
        <p:spPr>
          <a:xfrm>
            <a:off x="4526280" y="2377440"/>
            <a:ext cx="3017520" cy="320040"/>
          </a:xfrm>
          <a:prstGeom prst="rect">
            <a:avLst/>
          </a:prstGeom>
          <a:noFill/>
          <a:ln/>
        </p:spPr>
        <p:txBody>
          <a:bodyPr wrap="square" rtlCol="0" anchor="ctr"/>
          <a:lstStyle/>
          <a:p>
            <a:pPr indent="0" marL="0">
              <a:buNone/>
            </a:pPr>
            <a:r>
              <a:rPr lang="en-US" sz="1200" b="1" spc="150" kern="0" dirty="0">
                <a:solidFill>
                  <a:srgbClr val="F5821F"/>
                </a:solidFill>
                <a:latin typeface="Calibri" pitchFamily="34" charset="0"/>
                <a:ea typeface="Calibri" pitchFamily="34" charset="-122"/>
                <a:cs typeface="Calibri" pitchFamily="34" charset="-120"/>
              </a:rPr>
              <a:t>BACKEND</a:t>
            </a:r>
            <a:endParaRPr lang="en-US" sz="1200" dirty="0"/>
          </a:p>
        </p:txBody>
      </p:sp>
      <p:sp>
        <p:nvSpPr>
          <p:cNvPr id="12" name="Text 9"/>
          <p:cNvSpPr/>
          <p:nvPr/>
        </p:nvSpPr>
        <p:spPr>
          <a:xfrm>
            <a:off x="4526280" y="2743200"/>
            <a:ext cx="3017520" cy="2560320"/>
          </a:xfrm>
          <a:prstGeom prst="rect">
            <a:avLst/>
          </a:prstGeom>
          <a:noFill/>
          <a:ln/>
        </p:spPr>
        <p:txBody>
          <a:bodyPr wrap="square" rtlCol="0" anchor="t"/>
          <a:lstStyle/>
          <a:p>
            <a:pPr marL="342900" indent="-342900">
              <a:lnSpc>
                <a:spcPts val="2200"/>
              </a:lnSpc>
              <a:buSzPct val="100000"/>
              <a:buChar char="▪"/>
            </a:pPr>
            <a:r>
              <a:rPr lang="en-US" sz="1300" dirty="0">
                <a:solidFill>
                  <a:srgbClr val="FFFFFF"/>
                </a:solidFill>
                <a:latin typeface="Calibri" pitchFamily="34" charset="0"/>
                <a:ea typeface="Calibri" pitchFamily="34" charset="-122"/>
                <a:cs typeface="Calibri" pitchFamily="34" charset="-120"/>
              </a:rPr>
              <a:t>Python</a:t>
            </a:r>
            <a:endParaRPr lang="en-US" sz="1300" dirty="0"/>
          </a:p>
          <a:p>
            <a:pPr marL="342900" indent="-342900">
              <a:lnSpc>
                <a:spcPts val="2200"/>
              </a:lnSpc>
              <a:buSzPct val="100000"/>
              <a:buChar char="▪"/>
            </a:pPr>
            <a:r>
              <a:rPr lang="en-US" sz="1300" dirty="0">
                <a:solidFill>
                  <a:srgbClr val="FFFFFF"/>
                </a:solidFill>
                <a:latin typeface="Calibri" pitchFamily="34" charset="0"/>
                <a:ea typeface="Calibri" pitchFamily="34" charset="-122"/>
                <a:cs typeface="Calibri" pitchFamily="34" charset="-120"/>
              </a:rPr>
              <a:t>FastAPI</a:t>
            </a:r>
            <a:endParaRPr lang="en-US" sz="1300" dirty="0"/>
          </a:p>
          <a:p>
            <a:pPr marL="342900" indent="-342900">
              <a:lnSpc>
                <a:spcPts val="2200"/>
              </a:lnSpc>
              <a:buSzPct val="100000"/>
              <a:buChar char="▪"/>
            </a:pPr>
            <a:r>
              <a:rPr lang="en-US" sz="1300" dirty="0">
                <a:solidFill>
                  <a:srgbClr val="FFFFFF"/>
                </a:solidFill>
                <a:latin typeface="Calibri" pitchFamily="34" charset="0"/>
                <a:ea typeface="Calibri" pitchFamily="34" charset="-122"/>
                <a:cs typeface="Calibri" pitchFamily="34" charset="-120"/>
              </a:rPr>
              <a:t>SQLAlchemy async ORM</a:t>
            </a:r>
            <a:endParaRPr lang="en-US" sz="1300" dirty="0"/>
          </a:p>
          <a:p>
            <a:pPr marL="342900" indent="-342900">
              <a:lnSpc>
                <a:spcPts val="2200"/>
              </a:lnSpc>
              <a:buSzPct val="100000"/>
              <a:buChar char="▪"/>
            </a:pPr>
            <a:r>
              <a:rPr lang="en-US" sz="1300" dirty="0">
                <a:solidFill>
                  <a:srgbClr val="FFFFFF"/>
                </a:solidFill>
                <a:latin typeface="Calibri" pitchFamily="34" charset="0"/>
                <a:ea typeface="Calibri" pitchFamily="34" charset="-122"/>
                <a:cs typeface="Calibri" pitchFamily="34" charset="-120"/>
              </a:rPr>
              <a:t>PostgreSQL</a:t>
            </a:r>
            <a:endParaRPr lang="en-US" sz="1300" dirty="0"/>
          </a:p>
          <a:p>
            <a:pPr marL="342900" indent="-342900">
              <a:lnSpc>
                <a:spcPts val="2200"/>
              </a:lnSpc>
              <a:buSzPct val="100000"/>
              <a:buChar char="▪"/>
            </a:pPr>
            <a:r>
              <a:rPr lang="en-US" sz="1300" dirty="0">
                <a:solidFill>
                  <a:srgbClr val="FFFFFF"/>
                </a:solidFill>
                <a:latin typeface="Calibri" pitchFamily="34" charset="0"/>
                <a:ea typeface="Calibri" pitchFamily="34" charset="-122"/>
                <a:cs typeface="Calibri" pitchFamily="34" charset="-120"/>
              </a:rPr>
              <a:t>Alembic migrations</a:t>
            </a:r>
            <a:endParaRPr lang="en-US" sz="1300" dirty="0"/>
          </a:p>
          <a:p>
            <a:pPr marL="342900" indent="-342900">
              <a:lnSpc>
                <a:spcPts val="2200"/>
              </a:lnSpc>
              <a:buSzPct val="100000"/>
              <a:buChar char="▪"/>
            </a:pPr>
            <a:r>
              <a:rPr lang="en-US" sz="1300" dirty="0">
                <a:solidFill>
                  <a:srgbClr val="FFFFFF"/>
                </a:solidFill>
                <a:latin typeface="Calibri" pitchFamily="34" charset="0"/>
                <a:ea typeface="Calibri" pitchFamily="34" charset="-122"/>
                <a:cs typeface="Calibri" pitchFamily="34" charset="-120"/>
              </a:rPr>
              <a:t>Geofencing engine</a:t>
            </a:r>
            <a:endParaRPr lang="en-US" sz="1300" dirty="0"/>
          </a:p>
          <a:p>
            <a:pPr marL="342900" indent="-342900">
              <a:lnSpc>
                <a:spcPts val="2200"/>
              </a:lnSpc>
              <a:buSzPct val="100000"/>
              <a:buChar char="▪"/>
            </a:pPr>
            <a:r>
              <a:rPr lang="en-US" sz="1300" dirty="0">
                <a:solidFill>
                  <a:srgbClr val="FFFFFF"/>
                </a:solidFill>
                <a:latin typeface="Calibri" pitchFamily="34" charset="0"/>
                <a:ea typeface="Calibri" pitchFamily="34" charset="-122"/>
                <a:cs typeface="Calibri" pitchFamily="34" charset="-120"/>
              </a:rPr>
              <a:t>Dwell engine</a:t>
            </a:r>
            <a:endParaRPr lang="en-US" sz="1300" dirty="0"/>
          </a:p>
        </p:txBody>
      </p:sp>
      <p:sp>
        <p:nvSpPr>
          <p:cNvPr id="13" name="Shape 10"/>
          <p:cNvSpPr/>
          <p:nvPr/>
        </p:nvSpPr>
        <p:spPr>
          <a:xfrm>
            <a:off x="8001000" y="2194560"/>
            <a:ext cx="3474720" cy="3246120"/>
          </a:xfrm>
          <a:prstGeom prst="roundRect">
            <a:avLst>
              <a:gd name="adj" fmla="val 2254"/>
            </a:avLst>
          </a:prstGeom>
          <a:solidFill>
            <a:srgbClr val="13263D"/>
          </a:solidFill>
          <a:ln w="12700">
            <a:solidFill>
              <a:srgbClr val="27435F"/>
            </a:solidFill>
            <a:prstDash val="solid"/>
          </a:ln>
        </p:spPr>
      </p:sp>
      <p:sp>
        <p:nvSpPr>
          <p:cNvPr id="14" name="Shape 11"/>
          <p:cNvSpPr/>
          <p:nvPr/>
        </p:nvSpPr>
        <p:spPr>
          <a:xfrm>
            <a:off x="8001000" y="2194560"/>
            <a:ext cx="3474720" cy="73152"/>
          </a:xfrm>
          <a:prstGeom prst="rect">
            <a:avLst/>
          </a:prstGeom>
          <a:solidFill>
            <a:srgbClr val="10B981"/>
          </a:solidFill>
          <a:ln/>
        </p:spPr>
      </p:sp>
      <p:sp>
        <p:nvSpPr>
          <p:cNvPr id="15" name="Text 12"/>
          <p:cNvSpPr/>
          <p:nvPr/>
        </p:nvSpPr>
        <p:spPr>
          <a:xfrm>
            <a:off x="8229600" y="2377440"/>
            <a:ext cx="3017520" cy="320040"/>
          </a:xfrm>
          <a:prstGeom prst="rect">
            <a:avLst/>
          </a:prstGeom>
          <a:noFill/>
          <a:ln/>
        </p:spPr>
        <p:txBody>
          <a:bodyPr wrap="square" rtlCol="0" anchor="ctr"/>
          <a:lstStyle/>
          <a:p>
            <a:pPr indent="0" marL="0">
              <a:buNone/>
            </a:pPr>
            <a:r>
              <a:rPr lang="en-US" sz="1200" b="1" spc="150" kern="0" dirty="0">
                <a:solidFill>
                  <a:srgbClr val="10B981"/>
                </a:solidFill>
                <a:latin typeface="Calibri" pitchFamily="34" charset="0"/>
                <a:ea typeface="Calibri" pitchFamily="34" charset="-122"/>
                <a:cs typeface="Calibri" pitchFamily="34" charset="-120"/>
              </a:rPr>
              <a:t>PLATFORM SERVICES</a:t>
            </a:r>
            <a:endParaRPr lang="en-US" sz="1200" dirty="0"/>
          </a:p>
        </p:txBody>
      </p:sp>
      <p:sp>
        <p:nvSpPr>
          <p:cNvPr id="16" name="Text 13"/>
          <p:cNvSpPr/>
          <p:nvPr/>
        </p:nvSpPr>
        <p:spPr>
          <a:xfrm>
            <a:off x="8229600" y="2743200"/>
            <a:ext cx="3017520" cy="2560320"/>
          </a:xfrm>
          <a:prstGeom prst="rect">
            <a:avLst/>
          </a:prstGeom>
          <a:noFill/>
          <a:ln/>
        </p:spPr>
        <p:txBody>
          <a:bodyPr wrap="square" rtlCol="0" anchor="t"/>
          <a:lstStyle/>
          <a:p>
            <a:pPr marL="342900" indent="-342900">
              <a:lnSpc>
                <a:spcPts val="2200"/>
              </a:lnSpc>
              <a:buSzPct val="100000"/>
              <a:buChar char="▪"/>
            </a:pPr>
            <a:r>
              <a:rPr lang="en-US" sz="1300" dirty="0">
                <a:solidFill>
                  <a:srgbClr val="FFFFFF"/>
                </a:solidFill>
                <a:latin typeface="Calibri" pitchFamily="34" charset="0"/>
                <a:ea typeface="Calibri" pitchFamily="34" charset="-122"/>
                <a:cs typeface="Calibri" pitchFamily="34" charset="-120"/>
              </a:rPr>
              <a:t>Supabase auth + database</a:t>
            </a:r>
            <a:endParaRPr lang="en-US" sz="1300" dirty="0"/>
          </a:p>
          <a:p>
            <a:pPr marL="342900" indent="-342900">
              <a:lnSpc>
                <a:spcPts val="2200"/>
              </a:lnSpc>
              <a:buSzPct val="100000"/>
              <a:buChar char="▪"/>
            </a:pPr>
            <a:r>
              <a:rPr lang="en-US" sz="1300" dirty="0">
                <a:solidFill>
                  <a:srgbClr val="FFFFFF"/>
                </a:solidFill>
                <a:latin typeface="Calibri" pitchFamily="34" charset="0"/>
                <a:ea typeface="Calibri" pitchFamily="34" charset="-122"/>
                <a:cs typeface="Calibri" pitchFamily="34" charset="-120"/>
              </a:rPr>
              <a:t>Firebase Cloud Messaging</a:t>
            </a:r>
            <a:endParaRPr lang="en-US" sz="1300" dirty="0"/>
          </a:p>
          <a:p>
            <a:pPr marL="342900" indent="-342900">
              <a:lnSpc>
                <a:spcPts val="2200"/>
              </a:lnSpc>
              <a:buSzPct val="100000"/>
              <a:buChar char="▪"/>
            </a:pPr>
            <a:r>
              <a:rPr lang="en-US" sz="1300" dirty="0">
                <a:solidFill>
                  <a:srgbClr val="FFFFFF"/>
                </a:solidFill>
                <a:latin typeface="Calibri" pitchFamily="34" charset="0"/>
                <a:ea typeface="Calibri" pitchFamily="34" charset="-122"/>
                <a:cs typeface="Calibri" pitchFamily="34" charset="-120"/>
              </a:rPr>
              <a:t>Render (backend deploy)</a:t>
            </a:r>
            <a:endParaRPr lang="en-US" sz="1300" dirty="0"/>
          </a:p>
          <a:p>
            <a:pPr marL="342900" indent="-342900">
              <a:lnSpc>
                <a:spcPts val="2200"/>
              </a:lnSpc>
              <a:buSzPct val="100000"/>
              <a:buChar char="▪"/>
            </a:pPr>
            <a:r>
              <a:rPr lang="en-US" sz="1300" dirty="0">
                <a:solidFill>
                  <a:srgbClr val="FFFFFF"/>
                </a:solidFill>
                <a:latin typeface="Calibri" pitchFamily="34" charset="0"/>
                <a:ea typeface="Calibri" pitchFamily="34" charset="-122"/>
                <a:cs typeface="Calibri" pitchFamily="34" charset="-120"/>
              </a:rPr>
              <a:t>Vercel (frontend deploy)</a:t>
            </a:r>
            <a:endParaRPr lang="en-US" sz="1300" dirty="0"/>
          </a:p>
        </p:txBody>
      </p:sp>
      <p:sp>
        <p:nvSpPr>
          <p:cNvPr id="17" name="Shape 14"/>
          <p:cNvSpPr/>
          <p:nvPr/>
        </p:nvSpPr>
        <p:spPr>
          <a:xfrm>
            <a:off x="594360" y="1737360"/>
            <a:ext cx="3474720" cy="329184"/>
          </a:xfrm>
          <a:prstGeom prst="roundRect">
            <a:avLst>
              <a:gd name="adj" fmla="val 16667"/>
            </a:avLst>
          </a:prstGeom>
          <a:solidFill>
            <a:srgbClr val="1B3350"/>
          </a:solidFill>
          <a:ln w="19050">
            <a:solidFill>
              <a:srgbClr val="27435F"/>
            </a:solidFill>
            <a:prstDash val="solid"/>
          </a:ln>
        </p:spPr>
      </p:sp>
      <p:sp>
        <p:nvSpPr>
          <p:cNvPr id="18" name="Text 15"/>
          <p:cNvSpPr/>
          <p:nvPr/>
        </p:nvSpPr>
        <p:spPr>
          <a:xfrm>
            <a:off x="594360" y="1737360"/>
            <a:ext cx="347472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GPS trackers  →  API</a:t>
            </a:r>
            <a:endParaRPr lang="en-US" sz="1200" dirty="0"/>
          </a:p>
        </p:txBody>
      </p:sp>
      <p:sp>
        <p:nvSpPr>
          <p:cNvPr id="19" name="Shape 16"/>
          <p:cNvSpPr/>
          <p:nvPr/>
        </p:nvSpPr>
        <p:spPr>
          <a:xfrm>
            <a:off x="4297680" y="1737360"/>
            <a:ext cx="3474720" cy="329184"/>
          </a:xfrm>
          <a:prstGeom prst="roundRect">
            <a:avLst>
              <a:gd name="adj" fmla="val 16667"/>
            </a:avLst>
          </a:prstGeom>
          <a:solidFill>
            <a:srgbClr val="1B3350"/>
          </a:solidFill>
          <a:ln w="19050">
            <a:solidFill>
              <a:srgbClr val="27435F"/>
            </a:solidFill>
            <a:prstDash val="solid"/>
          </a:ln>
        </p:spPr>
      </p:sp>
      <p:sp>
        <p:nvSpPr>
          <p:cNvPr id="20" name="Text 17"/>
          <p:cNvSpPr/>
          <p:nvPr/>
        </p:nvSpPr>
        <p:spPr>
          <a:xfrm>
            <a:off x="4297680" y="1737360"/>
            <a:ext cx="347472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Async services  →  PostgreSQL</a:t>
            </a:r>
            <a:endParaRPr lang="en-US" sz="1200" dirty="0"/>
          </a:p>
        </p:txBody>
      </p:sp>
      <p:sp>
        <p:nvSpPr>
          <p:cNvPr id="21" name="Shape 18"/>
          <p:cNvSpPr/>
          <p:nvPr/>
        </p:nvSpPr>
        <p:spPr>
          <a:xfrm>
            <a:off x="8001000" y="1737360"/>
            <a:ext cx="3547872" cy="329184"/>
          </a:xfrm>
          <a:prstGeom prst="roundRect">
            <a:avLst>
              <a:gd name="adj" fmla="val 16667"/>
            </a:avLst>
          </a:prstGeom>
          <a:solidFill>
            <a:srgbClr val="1B3350"/>
          </a:solidFill>
          <a:ln w="19050">
            <a:solidFill>
              <a:srgbClr val="27435F"/>
            </a:solidFill>
            <a:prstDash val="solid"/>
          </a:ln>
        </p:spPr>
      </p:sp>
      <p:sp>
        <p:nvSpPr>
          <p:cNvPr id="22" name="Text 19"/>
          <p:cNvSpPr/>
          <p:nvPr/>
        </p:nvSpPr>
        <p:spPr>
          <a:xfrm>
            <a:off x="8001000" y="1737360"/>
            <a:ext cx="3547872"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Managed cloud deployment</a:t>
            </a:r>
            <a:endParaRPr lang="en-US" sz="1200" dirty="0"/>
          </a:p>
        </p:txBody>
      </p:sp>
      <p:sp>
        <p:nvSpPr>
          <p:cNvPr id="23" name="Text 20"/>
          <p:cNvSpPr/>
          <p:nvPr/>
        </p:nvSpPr>
        <p:spPr>
          <a:xfrm>
            <a:off x="594360" y="5623560"/>
            <a:ext cx="10881360" cy="457200"/>
          </a:xfrm>
          <a:prstGeom prst="rect">
            <a:avLst/>
          </a:prstGeom>
          <a:noFill/>
          <a:ln/>
        </p:spPr>
        <p:txBody>
          <a:bodyPr wrap="square" rtlCol="0" anchor="ctr"/>
          <a:lstStyle/>
          <a:p>
            <a:pPr indent="0" marL="0">
              <a:buNone/>
            </a:pPr>
            <a:r>
              <a:rPr lang="en-US" sz="1250" i="1" dirty="0">
                <a:solidFill>
                  <a:srgbClr val="9DB2C8"/>
                </a:solidFill>
                <a:latin typeface="Calibri" pitchFamily="34" charset="0"/>
                <a:ea typeface="Calibri" pitchFamily="34" charset="-122"/>
                <a:cs typeface="Calibri" pitchFamily="34" charset="-120"/>
              </a:rPr>
              <a:t>Telemetry flows from trackers into FastAPI services, through the geofence and dwell engines, into PostgreSQL, and out to the React dashboard.</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nvSpPr>
        <p:spPr>
          <a:xfrm>
            <a:off x="594360" y="384048"/>
            <a:ext cx="7315200" cy="274320"/>
          </a:xfrm>
          <a:prstGeom prst="rect">
            <a:avLst/>
          </a:prstGeom>
          <a:noFill/>
          <a:ln/>
        </p:spPr>
        <p:txBody>
          <a:bodyPr wrap="square" rtlCol="0" anchor="ctr"/>
          <a:lstStyle/>
          <a:p>
            <a:pPr indent="0" marL="0">
              <a:buNone/>
            </a:pPr>
            <a:r>
              <a:rPr lang="en-US" sz="1300" b="1" spc="300" kern="0" dirty="0">
                <a:solidFill>
                  <a:srgbClr val="F5821F"/>
                </a:solidFill>
                <a:latin typeface="Calibri" pitchFamily="34" charset="0"/>
                <a:ea typeface="Calibri" pitchFamily="34" charset="-122"/>
                <a:cs typeface="Calibri" pitchFamily="34" charset="-120"/>
              </a:rPr>
              <a:t>SECURITY</a:t>
            </a:r>
            <a:endParaRPr lang="en-US" sz="1300" dirty="0"/>
          </a:p>
        </p:txBody>
      </p:sp>
      <p:sp>
        <p:nvSpPr>
          <p:cNvPr id="4" name="Text 1"/>
          <p:cNvSpPr/>
          <p:nvPr/>
        </p:nvSpPr>
        <p:spPr>
          <a:xfrm>
            <a:off x="548640" y="685800"/>
            <a:ext cx="10607040" cy="777240"/>
          </a:xfrm>
          <a:prstGeom prst="rect">
            <a:avLst/>
          </a:prstGeom>
          <a:noFill/>
          <a:ln/>
        </p:spPr>
        <p:txBody>
          <a:bodyPr wrap="square" rtlCol="0" anchor="ctr"/>
          <a:lstStyle/>
          <a:p>
            <a:pPr indent="0" marL="0">
              <a:buNone/>
            </a:pPr>
            <a:r>
              <a:rPr lang="en-US" sz="4000" dirty="0">
                <a:solidFill>
                  <a:srgbClr val="FFFFFF"/>
                </a:solidFill>
                <a:latin typeface="Arial Black" pitchFamily="34" charset="0"/>
                <a:ea typeface="Arial Black" pitchFamily="34" charset="-122"/>
                <a:cs typeface="Arial Black" pitchFamily="34" charset="-120"/>
              </a:rPr>
              <a:t>Multi-tenant by design</a:t>
            </a:r>
            <a:endParaRPr lang="en-US" sz="4000" dirty="0"/>
          </a:p>
        </p:txBody>
      </p:sp>
      <p:sp>
        <p:nvSpPr>
          <p:cNvPr id="5" name="Text 2"/>
          <p:cNvSpPr/>
          <p:nvPr/>
        </p:nvSpPr>
        <p:spPr>
          <a:xfrm>
            <a:off x="594360" y="1828800"/>
            <a:ext cx="5760720" cy="4206240"/>
          </a:xfrm>
          <a:prstGeom prst="rect">
            <a:avLst/>
          </a:prstGeom>
          <a:noFill/>
          <a:ln/>
        </p:spPr>
        <p:txBody>
          <a:bodyPr wrap="square" rtlCol="0" anchor="t"/>
          <a:lstStyle/>
          <a:p>
            <a:pPr marL="342900" indent="-342900">
              <a:lnSpc>
                <a:spcPts val="3400"/>
              </a:lnSpc>
              <a:buSzPct val="100000"/>
              <a:buChar char="▪"/>
            </a:pPr>
            <a:r>
              <a:rPr lang="en-US" sz="1700" dirty="0">
                <a:solidFill>
                  <a:srgbClr val="9DB2C8"/>
                </a:solidFill>
                <a:latin typeface="Calibri" pitchFamily="34" charset="0"/>
                <a:ea typeface="Calibri" pitchFamily="34" charset="-122"/>
                <a:cs typeface="Calibri" pitchFamily="34" charset="-120"/>
              </a:rPr>
              <a:t>Company-level data isolation through tenant identifiers</a:t>
            </a:r>
            <a:endParaRPr lang="en-US" sz="1700" dirty="0"/>
          </a:p>
          <a:p>
            <a:pPr marL="342900" indent="-342900">
              <a:lnSpc>
                <a:spcPts val="3400"/>
              </a:lnSpc>
              <a:buSzPct val="100000"/>
              <a:buChar char="▪"/>
            </a:pPr>
            <a:r>
              <a:rPr lang="en-US" sz="1700" dirty="0">
                <a:solidFill>
                  <a:srgbClr val="9DB2C8"/>
                </a:solidFill>
                <a:latin typeface="Calibri" pitchFamily="34" charset="0"/>
                <a:ea typeface="Calibri" pitchFamily="34" charset="-122"/>
                <a:cs typeface="Calibri" pitchFamily="34" charset="-120"/>
              </a:rPr>
              <a:t>JWT and Supabase authentication support</a:t>
            </a:r>
            <a:endParaRPr lang="en-US" sz="1700" dirty="0"/>
          </a:p>
          <a:p>
            <a:pPr marL="342900" indent="-342900">
              <a:lnSpc>
                <a:spcPts val="3400"/>
              </a:lnSpc>
              <a:buSzPct val="100000"/>
              <a:buChar char="▪"/>
            </a:pPr>
            <a:r>
              <a:rPr lang="en-US" sz="1700" dirty="0">
                <a:solidFill>
                  <a:srgbClr val="9DB2C8"/>
                </a:solidFill>
                <a:latin typeface="Calibri" pitchFamily="34" charset="0"/>
                <a:ea typeface="Calibri" pitchFamily="34" charset="-122"/>
                <a:cs typeface="Calibri" pitchFamily="34" charset="-120"/>
              </a:rPr>
              <a:t>Role-based access control</a:t>
            </a:r>
            <a:endParaRPr lang="en-US" sz="1700" dirty="0"/>
          </a:p>
          <a:p>
            <a:pPr marL="342900" indent="-342900">
              <a:lnSpc>
                <a:spcPts val="3400"/>
              </a:lnSpc>
              <a:buSzPct val="100000"/>
              <a:buChar char="▪"/>
            </a:pPr>
            <a:r>
              <a:rPr lang="en-US" sz="1700" dirty="0">
                <a:solidFill>
                  <a:srgbClr val="9DB2C8"/>
                </a:solidFill>
                <a:latin typeface="Calibri" pitchFamily="34" charset="0"/>
                <a:ea typeface="Calibri" pitchFamily="34" charset="-122"/>
                <a:cs typeface="Calibri" pitchFamily="34" charset="-120"/>
              </a:rPr>
              <a:t>Server-side handling of sensitive service credentials</a:t>
            </a:r>
            <a:endParaRPr lang="en-US" sz="1700" dirty="0"/>
          </a:p>
          <a:p>
            <a:pPr marL="342900" indent="-342900">
              <a:lnSpc>
                <a:spcPts val="3400"/>
              </a:lnSpc>
              <a:buSzPct val="100000"/>
              <a:buChar char="▪"/>
            </a:pPr>
            <a:r>
              <a:rPr lang="en-US" sz="1700" dirty="0">
                <a:solidFill>
                  <a:srgbClr val="9DB2C8"/>
                </a:solidFill>
                <a:latin typeface="Calibri" pitchFamily="34" charset="0"/>
                <a:ea typeface="Calibri" pitchFamily="34" charset="-122"/>
                <a:cs typeface="Calibri" pitchFamily="34" charset="-120"/>
              </a:rPr>
              <a:t>Vehicle, trip, GPS, container and location data scoped per company</a:t>
            </a:r>
            <a:endParaRPr lang="en-US" sz="1700" dirty="0"/>
          </a:p>
        </p:txBody>
      </p:sp>
      <p:sp>
        <p:nvSpPr>
          <p:cNvPr id="6" name="Shape 3"/>
          <p:cNvSpPr/>
          <p:nvPr/>
        </p:nvSpPr>
        <p:spPr>
          <a:xfrm>
            <a:off x="6629400" y="1783080"/>
            <a:ext cx="4919472" cy="4023360"/>
          </a:xfrm>
          <a:prstGeom prst="roundRect">
            <a:avLst>
              <a:gd name="adj" fmla="val 1818"/>
            </a:avLst>
          </a:prstGeom>
          <a:solidFill>
            <a:srgbClr val="13263D"/>
          </a:solidFill>
          <a:ln w="12700">
            <a:solidFill>
              <a:srgbClr val="27435F"/>
            </a:solidFill>
            <a:prstDash val="solid"/>
          </a:ln>
        </p:spPr>
      </p:sp>
      <p:sp>
        <p:nvSpPr>
          <p:cNvPr id="7" name="Text 4"/>
          <p:cNvSpPr/>
          <p:nvPr/>
        </p:nvSpPr>
        <p:spPr>
          <a:xfrm>
            <a:off x="6858000" y="1920240"/>
            <a:ext cx="4480560" cy="292608"/>
          </a:xfrm>
          <a:prstGeom prst="rect">
            <a:avLst/>
          </a:prstGeom>
          <a:noFill/>
          <a:ln/>
        </p:spPr>
        <p:txBody>
          <a:bodyPr wrap="square" rtlCol="0" anchor="ctr"/>
          <a:lstStyle/>
          <a:p>
            <a:pPr indent="0" marL="0">
              <a:buNone/>
            </a:pPr>
            <a:r>
              <a:rPr lang="en-US" sz="1200" b="1" spc="200" kern="0" dirty="0">
                <a:solidFill>
                  <a:srgbClr val="F5821F"/>
                </a:solidFill>
                <a:latin typeface="Calibri" pitchFamily="34" charset="0"/>
                <a:ea typeface="Calibri" pitchFamily="34" charset="-122"/>
                <a:cs typeface="Calibri" pitchFamily="34" charset="-120"/>
              </a:rPr>
              <a:t>ROLES</a:t>
            </a:r>
            <a:endParaRPr lang="en-US" sz="1200" dirty="0"/>
          </a:p>
        </p:txBody>
      </p:sp>
      <p:sp>
        <p:nvSpPr>
          <p:cNvPr id="8" name="Shape 5"/>
          <p:cNvSpPr/>
          <p:nvPr/>
        </p:nvSpPr>
        <p:spPr>
          <a:xfrm>
            <a:off x="6858000" y="2331720"/>
            <a:ext cx="4462272" cy="438912"/>
          </a:xfrm>
          <a:prstGeom prst="rect">
            <a:avLst/>
          </a:prstGeom>
          <a:solidFill>
            <a:srgbClr val="1B3350"/>
          </a:solidFill>
          <a:ln w="12700">
            <a:solidFill>
              <a:srgbClr val="1B3350"/>
            </a:solidFill>
            <a:prstDash val="solid"/>
          </a:ln>
        </p:spPr>
      </p:sp>
      <p:sp>
        <p:nvSpPr>
          <p:cNvPr id="9" name="Shape 6"/>
          <p:cNvSpPr/>
          <p:nvPr/>
        </p:nvSpPr>
        <p:spPr>
          <a:xfrm>
            <a:off x="6858000" y="2331720"/>
            <a:ext cx="54864" cy="438912"/>
          </a:xfrm>
          <a:prstGeom prst="rect">
            <a:avLst/>
          </a:prstGeom>
          <a:solidFill>
            <a:srgbClr val="F5821F"/>
          </a:solidFill>
          <a:ln/>
        </p:spPr>
      </p:sp>
      <p:sp>
        <p:nvSpPr>
          <p:cNvPr id="10" name="Text 7"/>
          <p:cNvSpPr/>
          <p:nvPr/>
        </p:nvSpPr>
        <p:spPr>
          <a:xfrm>
            <a:off x="7059168" y="2331720"/>
            <a:ext cx="2743200" cy="438912"/>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Administrator</a:t>
            </a:r>
            <a:endParaRPr lang="en-US" sz="1350" dirty="0"/>
          </a:p>
        </p:txBody>
      </p:sp>
      <p:sp>
        <p:nvSpPr>
          <p:cNvPr id="11" name="Text 8"/>
          <p:cNvSpPr/>
          <p:nvPr/>
        </p:nvSpPr>
        <p:spPr>
          <a:xfrm>
            <a:off x="9509760" y="2331720"/>
            <a:ext cx="1737360" cy="438912"/>
          </a:xfrm>
          <a:prstGeom prst="rect">
            <a:avLst/>
          </a:prstGeom>
          <a:noFill/>
          <a:ln/>
        </p:spPr>
        <p:txBody>
          <a:bodyPr wrap="square" lIns="0" tIns="0" rIns="0" bIns="0" rtlCol="0" anchor="ctr"/>
          <a:lstStyle/>
          <a:p>
            <a:pPr algn="r" indent="0" marL="0">
              <a:buNone/>
            </a:pPr>
            <a:r>
              <a:rPr lang="en-US" sz="1000" dirty="0">
                <a:solidFill>
                  <a:srgbClr val="9DB2C8"/>
                </a:solidFill>
                <a:latin typeface="Calibri" pitchFamily="34" charset="0"/>
                <a:ea typeface="Calibri" pitchFamily="34" charset="-122"/>
                <a:cs typeface="Calibri" pitchFamily="34" charset="-120"/>
              </a:rPr>
              <a:t>scoped permissions</a:t>
            </a:r>
            <a:endParaRPr lang="en-US" sz="1000" dirty="0"/>
          </a:p>
        </p:txBody>
      </p:sp>
      <p:sp>
        <p:nvSpPr>
          <p:cNvPr id="12" name="Shape 9"/>
          <p:cNvSpPr/>
          <p:nvPr/>
        </p:nvSpPr>
        <p:spPr>
          <a:xfrm>
            <a:off x="6858000" y="2880360"/>
            <a:ext cx="4462272" cy="438912"/>
          </a:xfrm>
          <a:prstGeom prst="rect">
            <a:avLst/>
          </a:prstGeom>
          <a:solidFill>
            <a:srgbClr val="1B3350"/>
          </a:solidFill>
          <a:ln w="12700">
            <a:solidFill>
              <a:srgbClr val="1B3350"/>
            </a:solidFill>
            <a:prstDash val="solid"/>
          </a:ln>
        </p:spPr>
      </p:sp>
      <p:sp>
        <p:nvSpPr>
          <p:cNvPr id="13" name="Shape 10"/>
          <p:cNvSpPr/>
          <p:nvPr/>
        </p:nvSpPr>
        <p:spPr>
          <a:xfrm>
            <a:off x="6858000" y="2880360"/>
            <a:ext cx="54864" cy="438912"/>
          </a:xfrm>
          <a:prstGeom prst="rect">
            <a:avLst/>
          </a:prstGeom>
          <a:solidFill>
            <a:srgbClr val="10B981"/>
          </a:solidFill>
          <a:ln/>
        </p:spPr>
      </p:sp>
      <p:sp>
        <p:nvSpPr>
          <p:cNvPr id="14" name="Text 11"/>
          <p:cNvSpPr/>
          <p:nvPr/>
        </p:nvSpPr>
        <p:spPr>
          <a:xfrm>
            <a:off x="7059168" y="2880360"/>
            <a:ext cx="2743200" cy="438912"/>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Fleet manager</a:t>
            </a:r>
            <a:endParaRPr lang="en-US" sz="1350" dirty="0"/>
          </a:p>
        </p:txBody>
      </p:sp>
      <p:sp>
        <p:nvSpPr>
          <p:cNvPr id="15" name="Text 12"/>
          <p:cNvSpPr/>
          <p:nvPr/>
        </p:nvSpPr>
        <p:spPr>
          <a:xfrm>
            <a:off x="9509760" y="2880360"/>
            <a:ext cx="1737360" cy="438912"/>
          </a:xfrm>
          <a:prstGeom prst="rect">
            <a:avLst/>
          </a:prstGeom>
          <a:noFill/>
          <a:ln/>
        </p:spPr>
        <p:txBody>
          <a:bodyPr wrap="square" lIns="0" tIns="0" rIns="0" bIns="0" rtlCol="0" anchor="ctr"/>
          <a:lstStyle/>
          <a:p>
            <a:pPr algn="r" indent="0" marL="0">
              <a:buNone/>
            </a:pPr>
            <a:r>
              <a:rPr lang="en-US" sz="1000" dirty="0">
                <a:solidFill>
                  <a:srgbClr val="9DB2C8"/>
                </a:solidFill>
                <a:latin typeface="Calibri" pitchFamily="34" charset="0"/>
                <a:ea typeface="Calibri" pitchFamily="34" charset="-122"/>
                <a:cs typeface="Calibri" pitchFamily="34" charset="-120"/>
              </a:rPr>
              <a:t>scoped permissions</a:t>
            </a:r>
            <a:endParaRPr lang="en-US" sz="1000" dirty="0"/>
          </a:p>
        </p:txBody>
      </p:sp>
      <p:sp>
        <p:nvSpPr>
          <p:cNvPr id="16" name="Shape 13"/>
          <p:cNvSpPr/>
          <p:nvPr/>
        </p:nvSpPr>
        <p:spPr>
          <a:xfrm>
            <a:off x="6858000" y="3429000"/>
            <a:ext cx="4462272" cy="438912"/>
          </a:xfrm>
          <a:prstGeom prst="rect">
            <a:avLst/>
          </a:prstGeom>
          <a:solidFill>
            <a:srgbClr val="1B3350"/>
          </a:solidFill>
          <a:ln w="12700">
            <a:solidFill>
              <a:srgbClr val="1B3350"/>
            </a:solidFill>
            <a:prstDash val="solid"/>
          </a:ln>
        </p:spPr>
      </p:sp>
      <p:sp>
        <p:nvSpPr>
          <p:cNvPr id="17" name="Shape 14"/>
          <p:cNvSpPr/>
          <p:nvPr/>
        </p:nvSpPr>
        <p:spPr>
          <a:xfrm>
            <a:off x="6858000" y="3429000"/>
            <a:ext cx="54864" cy="438912"/>
          </a:xfrm>
          <a:prstGeom prst="rect">
            <a:avLst/>
          </a:prstGeom>
          <a:solidFill>
            <a:srgbClr val="F5821F"/>
          </a:solidFill>
          <a:ln/>
        </p:spPr>
      </p:sp>
      <p:sp>
        <p:nvSpPr>
          <p:cNvPr id="18" name="Text 15"/>
          <p:cNvSpPr/>
          <p:nvPr/>
        </p:nvSpPr>
        <p:spPr>
          <a:xfrm>
            <a:off x="7059168" y="3429000"/>
            <a:ext cx="2743200" cy="438912"/>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Dispatcher</a:t>
            </a:r>
            <a:endParaRPr lang="en-US" sz="1350" dirty="0"/>
          </a:p>
        </p:txBody>
      </p:sp>
      <p:sp>
        <p:nvSpPr>
          <p:cNvPr id="19" name="Text 16"/>
          <p:cNvSpPr/>
          <p:nvPr/>
        </p:nvSpPr>
        <p:spPr>
          <a:xfrm>
            <a:off x="9509760" y="3429000"/>
            <a:ext cx="1737360" cy="438912"/>
          </a:xfrm>
          <a:prstGeom prst="rect">
            <a:avLst/>
          </a:prstGeom>
          <a:noFill/>
          <a:ln/>
        </p:spPr>
        <p:txBody>
          <a:bodyPr wrap="square" lIns="0" tIns="0" rIns="0" bIns="0" rtlCol="0" anchor="ctr"/>
          <a:lstStyle/>
          <a:p>
            <a:pPr algn="r" indent="0" marL="0">
              <a:buNone/>
            </a:pPr>
            <a:r>
              <a:rPr lang="en-US" sz="1000" dirty="0">
                <a:solidFill>
                  <a:srgbClr val="9DB2C8"/>
                </a:solidFill>
                <a:latin typeface="Calibri" pitchFamily="34" charset="0"/>
                <a:ea typeface="Calibri" pitchFamily="34" charset="-122"/>
                <a:cs typeface="Calibri" pitchFamily="34" charset="-120"/>
              </a:rPr>
              <a:t>scoped permissions</a:t>
            </a:r>
            <a:endParaRPr lang="en-US" sz="1000" dirty="0"/>
          </a:p>
        </p:txBody>
      </p:sp>
      <p:sp>
        <p:nvSpPr>
          <p:cNvPr id="20" name="Shape 17"/>
          <p:cNvSpPr/>
          <p:nvPr/>
        </p:nvSpPr>
        <p:spPr>
          <a:xfrm>
            <a:off x="6858000" y="3977640"/>
            <a:ext cx="4462272" cy="438912"/>
          </a:xfrm>
          <a:prstGeom prst="rect">
            <a:avLst/>
          </a:prstGeom>
          <a:solidFill>
            <a:srgbClr val="1B3350"/>
          </a:solidFill>
          <a:ln w="12700">
            <a:solidFill>
              <a:srgbClr val="1B3350"/>
            </a:solidFill>
            <a:prstDash val="solid"/>
          </a:ln>
        </p:spPr>
      </p:sp>
      <p:sp>
        <p:nvSpPr>
          <p:cNvPr id="21" name="Shape 18"/>
          <p:cNvSpPr/>
          <p:nvPr/>
        </p:nvSpPr>
        <p:spPr>
          <a:xfrm>
            <a:off x="6858000" y="3977640"/>
            <a:ext cx="54864" cy="438912"/>
          </a:xfrm>
          <a:prstGeom prst="rect">
            <a:avLst/>
          </a:prstGeom>
          <a:solidFill>
            <a:srgbClr val="10B981"/>
          </a:solidFill>
          <a:ln/>
        </p:spPr>
      </p:sp>
      <p:sp>
        <p:nvSpPr>
          <p:cNvPr id="22" name="Text 19"/>
          <p:cNvSpPr/>
          <p:nvPr/>
        </p:nvSpPr>
        <p:spPr>
          <a:xfrm>
            <a:off x="7059168" y="3977640"/>
            <a:ext cx="2743200" cy="438912"/>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Analyst</a:t>
            </a:r>
            <a:endParaRPr lang="en-US" sz="1350" dirty="0"/>
          </a:p>
        </p:txBody>
      </p:sp>
      <p:sp>
        <p:nvSpPr>
          <p:cNvPr id="23" name="Text 20"/>
          <p:cNvSpPr/>
          <p:nvPr/>
        </p:nvSpPr>
        <p:spPr>
          <a:xfrm>
            <a:off x="9509760" y="3977640"/>
            <a:ext cx="1737360" cy="438912"/>
          </a:xfrm>
          <a:prstGeom prst="rect">
            <a:avLst/>
          </a:prstGeom>
          <a:noFill/>
          <a:ln/>
        </p:spPr>
        <p:txBody>
          <a:bodyPr wrap="square" lIns="0" tIns="0" rIns="0" bIns="0" rtlCol="0" anchor="ctr"/>
          <a:lstStyle/>
          <a:p>
            <a:pPr algn="r" indent="0" marL="0">
              <a:buNone/>
            </a:pPr>
            <a:r>
              <a:rPr lang="en-US" sz="1000" dirty="0">
                <a:solidFill>
                  <a:srgbClr val="9DB2C8"/>
                </a:solidFill>
                <a:latin typeface="Calibri" pitchFamily="34" charset="0"/>
                <a:ea typeface="Calibri" pitchFamily="34" charset="-122"/>
                <a:cs typeface="Calibri" pitchFamily="34" charset="-120"/>
              </a:rPr>
              <a:t>scoped permissions</a:t>
            </a:r>
            <a:endParaRPr lang="en-US" sz="1000" dirty="0"/>
          </a:p>
        </p:txBody>
      </p:sp>
      <p:sp>
        <p:nvSpPr>
          <p:cNvPr id="24" name="Shape 21"/>
          <p:cNvSpPr/>
          <p:nvPr/>
        </p:nvSpPr>
        <p:spPr>
          <a:xfrm>
            <a:off x="6858000" y="4526280"/>
            <a:ext cx="4462272" cy="438912"/>
          </a:xfrm>
          <a:prstGeom prst="rect">
            <a:avLst/>
          </a:prstGeom>
          <a:solidFill>
            <a:srgbClr val="1B3350"/>
          </a:solidFill>
          <a:ln w="12700">
            <a:solidFill>
              <a:srgbClr val="1B3350"/>
            </a:solidFill>
            <a:prstDash val="solid"/>
          </a:ln>
        </p:spPr>
      </p:sp>
      <p:sp>
        <p:nvSpPr>
          <p:cNvPr id="25" name="Shape 22"/>
          <p:cNvSpPr/>
          <p:nvPr/>
        </p:nvSpPr>
        <p:spPr>
          <a:xfrm>
            <a:off x="6858000" y="4526280"/>
            <a:ext cx="54864" cy="438912"/>
          </a:xfrm>
          <a:prstGeom prst="rect">
            <a:avLst/>
          </a:prstGeom>
          <a:solidFill>
            <a:srgbClr val="F5821F"/>
          </a:solidFill>
          <a:ln/>
        </p:spPr>
      </p:sp>
      <p:sp>
        <p:nvSpPr>
          <p:cNvPr id="26" name="Text 23"/>
          <p:cNvSpPr/>
          <p:nvPr/>
        </p:nvSpPr>
        <p:spPr>
          <a:xfrm>
            <a:off x="7059168" y="4526280"/>
            <a:ext cx="2743200" cy="438912"/>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Supervisor</a:t>
            </a:r>
            <a:endParaRPr lang="en-US" sz="1350" dirty="0"/>
          </a:p>
        </p:txBody>
      </p:sp>
      <p:sp>
        <p:nvSpPr>
          <p:cNvPr id="27" name="Text 24"/>
          <p:cNvSpPr/>
          <p:nvPr/>
        </p:nvSpPr>
        <p:spPr>
          <a:xfrm>
            <a:off x="9509760" y="4526280"/>
            <a:ext cx="1737360" cy="438912"/>
          </a:xfrm>
          <a:prstGeom prst="rect">
            <a:avLst/>
          </a:prstGeom>
          <a:noFill/>
          <a:ln/>
        </p:spPr>
        <p:txBody>
          <a:bodyPr wrap="square" lIns="0" tIns="0" rIns="0" bIns="0" rtlCol="0" anchor="ctr"/>
          <a:lstStyle/>
          <a:p>
            <a:pPr algn="r" indent="0" marL="0">
              <a:buNone/>
            </a:pPr>
            <a:r>
              <a:rPr lang="en-US" sz="1000" dirty="0">
                <a:solidFill>
                  <a:srgbClr val="9DB2C8"/>
                </a:solidFill>
                <a:latin typeface="Calibri" pitchFamily="34" charset="0"/>
                <a:ea typeface="Calibri" pitchFamily="34" charset="-122"/>
                <a:cs typeface="Calibri" pitchFamily="34" charset="-120"/>
              </a:rPr>
              <a:t>scoped permissions</a:t>
            </a:r>
            <a:endParaRPr lang="en-US" sz="1000" dirty="0"/>
          </a:p>
        </p:txBody>
      </p:sp>
      <p:sp>
        <p:nvSpPr>
          <p:cNvPr id="28" name="Shape 25"/>
          <p:cNvSpPr/>
          <p:nvPr/>
        </p:nvSpPr>
        <p:spPr>
          <a:xfrm>
            <a:off x="6858000" y="5074920"/>
            <a:ext cx="4462272" cy="438912"/>
          </a:xfrm>
          <a:prstGeom prst="rect">
            <a:avLst/>
          </a:prstGeom>
          <a:solidFill>
            <a:srgbClr val="1B3350"/>
          </a:solidFill>
          <a:ln w="12700">
            <a:solidFill>
              <a:srgbClr val="1B3350"/>
            </a:solidFill>
            <a:prstDash val="solid"/>
          </a:ln>
        </p:spPr>
      </p:sp>
      <p:sp>
        <p:nvSpPr>
          <p:cNvPr id="29" name="Shape 26"/>
          <p:cNvSpPr/>
          <p:nvPr/>
        </p:nvSpPr>
        <p:spPr>
          <a:xfrm>
            <a:off x="6858000" y="5074920"/>
            <a:ext cx="54864" cy="438912"/>
          </a:xfrm>
          <a:prstGeom prst="rect">
            <a:avLst/>
          </a:prstGeom>
          <a:solidFill>
            <a:srgbClr val="10B981"/>
          </a:solidFill>
          <a:ln/>
        </p:spPr>
      </p:sp>
      <p:sp>
        <p:nvSpPr>
          <p:cNvPr id="30" name="Text 27"/>
          <p:cNvSpPr/>
          <p:nvPr/>
        </p:nvSpPr>
        <p:spPr>
          <a:xfrm>
            <a:off x="7059168" y="5074920"/>
            <a:ext cx="2743200" cy="438912"/>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Operational user</a:t>
            </a:r>
            <a:endParaRPr lang="en-US" sz="1350" dirty="0"/>
          </a:p>
        </p:txBody>
      </p:sp>
      <p:sp>
        <p:nvSpPr>
          <p:cNvPr id="31" name="Text 28"/>
          <p:cNvSpPr/>
          <p:nvPr/>
        </p:nvSpPr>
        <p:spPr>
          <a:xfrm>
            <a:off x="9509760" y="5074920"/>
            <a:ext cx="1737360" cy="438912"/>
          </a:xfrm>
          <a:prstGeom prst="rect">
            <a:avLst/>
          </a:prstGeom>
          <a:noFill/>
          <a:ln/>
        </p:spPr>
        <p:txBody>
          <a:bodyPr wrap="square" lIns="0" tIns="0" rIns="0" bIns="0" rtlCol="0" anchor="ctr"/>
          <a:lstStyle/>
          <a:p>
            <a:pPr algn="r" indent="0" marL="0">
              <a:buNone/>
            </a:pPr>
            <a:r>
              <a:rPr lang="en-US" sz="1000" dirty="0">
                <a:solidFill>
                  <a:srgbClr val="9DB2C8"/>
                </a:solidFill>
                <a:latin typeface="Calibri" pitchFamily="34" charset="0"/>
                <a:ea typeface="Calibri" pitchFamily="34" charset="-122"/>
                <a:cs typeface="Calibri" pitchFamily="34" charset="-120"/>
              </a:rPr>
              <a:t>scoped permissions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nvSpPr>
        <p:spPr>
          <a:xfrm>
            <a:off x="594360" y="384048"/>
            <a:ext cx="7315200" cy="274320"/>
          </a:xfrm>
          <a:prstGeom prst="rect">
            <a:avLst/>
          </a:prstGeom>
          <a:noFill/>
          <a:ln/>
        </p:spPr>
        <p:txBody>
          <a:bodyPr wrap="square" rtlCol="0" anchor="ctr"/>
          <a:lstStyle/>
          <a:p>
            <a:pPr indent="0" marL="0">
              <a:buNone/>
            </a:pPr>
            <a:r>
              <a:rPr lang="en-US" sz="1300" b="1" spc="300" kern="0" dirty="0">
                <a:solidFill>
                  <a:srgbClr val="F5821F"/>
                </a:solidFill>
                <a:latin typeface="Calibri" pitchFamily="34" charset="0"/>
                <a:ea typeface="Calibri" pitchFamily="34" charset="-122"/>
                <a:cs typeface="Calibri" pitchFamily="34" charset="-120"/>
              </a:rPr>
              <a:t>REGIONAL IMPACT</a:t>
            </a:r>
            <a:endParaRPr lang="en-US" sz="1300" dirty="0"/>
          </a:p>
        </p:txBody>
      </p:sp>
      <p:sp>
        <p:nvSpPr>
          <p:cNvPr id="4" name="Text 1"/>
          <p:cNvSpPr/>
          <p:nvPr/>
        </p:nvSpPr>
        <p:spPr>
          <a:xfrm>
            <a:off x="548640" y="685800"/>
            <a:ext cx="10607040" cy="777240"/>
          </a:xfrm>
          <a:prstGeom prst="rect">
            <a:avLst/>
          </a:prstGeom>
          <a:noFill/>
          <a:ln/>
        </p:spPr>
        <p:txBody>
          <a:bodyPr wrap="square" rtlCol="0" anchor="ctr"/>
          <a:lstStyle/>
          <a:p>
            <a:pPr indent="0" marL="0">
              <a:buNone/>
            </a:pPr>
            <a:r>
              <a:rPr lang="en-US" sz="4000" dirty="0">
                <a:solidFill>
                  <a:srgbClr val="FFFFFF"/>
                </a:solidFill>
                <a:latin typeface="Arial Black" pitchFamily="34" charset="0"/>
                <a:ea typeface="Arial Black" pitchFamily="34" charset="-122"/>
                <a:cs typeface="Arial Black" pitchFamily="34" charset="-120"/>
              </a:rPr>
              <a:t>Built for East African corridors</a:t>
            </a:r>
            <a:endParaRPr lang="en-US" sz="4000" dirty="0"/>
          </a:p>
        </p:txBody>
      </p:sp>
      <p:sp>
        <p:nvSpPr>
          <p:cNvPr id="5" name="Shape 2"/>
          <p:cNvSpPr/>
          <p:nvPr/>
        </p:nvSpPr>
        <p:spPr>
          <a:xfrm>
            <a:off x="594360" y="1783080"/>
            <a:ext cx="5577840" cy="4343400"/>
          </a:xfrm>
          <a:prstGeom prst="roundRect">
            <a:avLst>
              <a:gd name="adj" fmla="val 1684"/>
            </a:avLst>
          </a:prstGeom>
          <a:solidFill>
            <a:srgbClr val="13263D"/>
          </a:solidFill>
          <a:ln w="12700">
            <a:solidFill>
              <a:srgbClr val="27435F"/>
            </a:solidFill>
            <a:prstDash val="solid"/>
          </a:ln>
        </p:spPr>
      </p:sp>
      <p:sp>
        <p:nvSpPr>
          <p:cNvPr id="6" name="Text 3"/>
          <p:cNvSpPr/>
          <p:nvPr/>
        </p:nvSpPr>
        <p:spPr>
          <a:xfrm>
            <a:off x="868680" y="1920240"/>
            <a:ext cx="5029200" cy="292608"/>
          </a:xfrm>
          <a:prstGeom prst="rect">
            <a:avLst/>
          </a:prstGeom>
          <a:noFill/>
          <a:ln/>
        </p:spPr>
        <p:txBody>
          <a:bodyPr wrap="square" rtlCol="0" anchor="ctr"/>
          <a:lstStyle/>
          <a:p>
            <a:pPr indent="0" marL="0">
              <a:buNone/>
            </a:pPr>
            <a:r>
              <a:rPr lang="en-US" sz="1200" b="1" spc="150" kern="0" dirty="0">
                <a:solidFill>
                  <a:srgbClr val="F5821F"/>
                </a:solidFill>
                <a:latin typeface="Calibri" pitchFamily="34" charset="0"/>
                <a:ea typeface="Calibri" pitchFamily="34" charset="-122"/>
                <a:cs typeface="Calibri" pitchFamily="34" charset="-120"/>
              </a:rPr>
              <a:t>KEY OPERATING CONTEXTS</a:t>
            </a:r>
            <a:endParaRPr lang="en-US" sz="1200" dirty="0"/>
          </a:p>
        </p:txBody>
      </p:sp>
      <p:sp>
        <p:nvSpPr>
          <p:cNvPr id="7" name="Text 4"/>
          <p:cNvSpPr/>
          <p:nvPr/>
        </p:nvSpPr>
        <p:spPr>
          <a:xfrm>
            <a:off x="868680" y="2331720"/>
            <a:ext cx="5029200" cy="3657600"/>
          </a:xfrm>
          <a:prstGeom prst="rect">
            <a:avLst/>
          </a:prstGeom>
          <a:noFill/>
          <a:ln/>
        </p:spPr>
        <p:txBody>
          <a:bodyPr wrap="square" rtlCol="0" anchor="t"/>
          <a:lstStyle/>
          <a:p>
            <a:pPr marL="342900" indent="-342900">
              <a:lnSpc>
                <a:spcPts val="2600"/>
              </a:lnSpc>
              <a:buSzPct val="100000"/>
              <a:buChar char="▪"/>
            </a:pPr>
            <a:r>
              <a:rPr lang="en-US" sz="1400" dirty="0">
                <a:solidFill>
                  <a:srgbClr val="FFFFFF"/>
                </a:solidFill>
                <a:latin typeface="Calibri" pitchFamily="34" charset="0"/>
                <a:ea typeface="Calibri" pitchFamily="34" charset="-122"/>
                <a:cs typeface="Calibri" pitchFamily="34" charset="-120"/>
              </a:rPr>
              <a:t>Mombasa Port and Kilindini Terminal</a:t>
            </a:r>
            <a:endParaRPr lang="en-US" sz="1400" dirty="0"/>
          </a:p>
          <a:p>
            <a:pPr marL="342900" indent="-342900">
              <a:lnSpc>
                <a:spcPts val="2600"/>
              </a:lnSpc>
              <a:buSzPct val="100000"/>
              <a:buChar char="▪"/>
            </a:pPr>
            <a:r>
              <a:rPr lang="en-US" sz="1400" dirty="0">
                <a:solidFill>
                  <a:srgbClr val="FFFFFF"/>
                </a:solidFill>
                <a:latin typeface="Calibri" pitchFamily="34" charset="0"/>
                <a:ea typeface="Calibri" pitchFamily="34" charset="-122"/>
                <a:cs typeface="Calibri" pitchFamily="34" charset="-120"/>
              </a:rPr>
              <a:t>Nairobi Inland Container Depot</a:t>
            </a:r>
            <a:endParaRPr lang="en-US" sz="1400" dirty="0"/>
          </a:p>
          <a:p>
            <a:pPr marL="342900" indent="-342900">
              <a:lnSpc>
                <a:spcPts val="2600"/>
              </a:lnSpc>
              <a:buSzPct val="100000"/>
              <a:buChar char="▪"/>
            </a:pPr>
            <a:r>
              <a:rPr lang="en-US" sz="1400" dirty="0">
                <a:solidFill>
                  <a:srgbClr val="FFFFFF"/>
                </a:solidFill>
                <a:latin typeface="Calibri" pitchFamily="34" charset="0"/>
                <a:ea typeface="Calibri" pitchFamily="34" charset="-122"/>
                <a:cs typeface="Calibri" pitchFamily="34" charset="-120"/>
              </a:rPr>
              <a:t>Athi River and Gilgil weighbridges</a:t>
            </a:r>
            <a:endParaRPr lang="en-US" sz="1400" dirty="0"/>
          </a:p>
          <a:p>
            <a:pPr marL="342900" indent="-342900">
              <a:lnSpc>
                <a:spcPts val="2600"/>
              </a:lnSpc>
              <a:buSzPct val="100000"/>
              <a:buChar char="▪"/>
            </a:pPr>
            <a:r>
              <a:rPr lang="en-US" sz="1400" dirty="0">
                <a:solidFill>
                  <a:srgbClr val="FFFFFF"/>
                </a:solidFill>
                <a:latin typeface="Calibri" pitchFamily="34" charset="0"/>
                <a:ea typeface="Calibri" pitchFamily="34" charset="-122"/>
                <a:cs typeface="Calibri" pitchFamily="34" charset="-120"/>
              </a:rPr>
              <a:t>Malaba and Busia One-Stop Border Posts</a:t>
            </a:r>
            <a:endParaRPr lang="en-US" sz="1400" dirty="0"/>
          </a:p>
          <a:p>
            <a:pPr marL="342900" indent="-342900">
              <a:lnSpc>
                <a:spcPts val="2600"/>
              </a:lnSpc>
              <a:buSzPct val="100000"/>
              <a:buChar char="▪"/>
            </a:pPr>
            <a:r>
              <a:rPr lang="en-US" sz="1400" dirty="0">
                <a:solidFill>
                  <a:srgbClr val="FFFFFF"/>
                </a:solidFill>
                <a:latin typeface="Calibri" pitchFamily="34" charset="0"/>
                <a:ea typeface="Calibri" pitchFamily="34" charset="-122"/>
                <a:cs typeface="Calibri" pitchFamily="34" charset="-120"/>
              </a:rPr>
              <a:t>Namanga and other cross-border routes</a:t>
            </a:r>
            <a:endParaRPr lang="en-US" sz="1400" dirty="0"/>
          </a:p>
          <a:p>
            <a:pPr marL="342900" indent="-342900">
              <a:lnSpc>
                <a:spcPts val="2600"/>
              </a:lnSpc>
              <a:buSzPct val="100000"/>
              <a:buChar char="▪"/>
            </a:pPr>
            <a:r>
              <a:rPr lang="en-US" sz="1400" dirty="0">
                <a:solidFill>
                  <a:srgbClr val="FFFFFF"/>
                </a:solidFill>
                <a:latin typeface="Calibri" pitchFamily="34" charset="0"/>
                <a:ea typeface="Calibri" pitchFamily="34" charset="-122"/>
                <a:cs typeface="Calibri" pitchFamily="34" charset="-120"/>
              </a:rPr>
              <a:t>Corridors linking Kenya, Uganda, Tanzania and Rwanda</a:t>
            </a:r>
            <a:endParaRPr lang="en-US" sz="1400" dirty="0"/>
          </a:p>
        </p:txBody>
      </p:sp>
      <p:pic>
        <p:nvPicPr>
          <p:cNvPr id="8" name="Image 0" descr="preencoded.png">    </p:cNvPr>
          <p:cNvPicPr>
            <a:picLocks noChangeAspect="1"/>
          </p:cNvPicPr>
          <p:nvPr/>
        </p:nvPicPr>
        <p:blipFill>
          <a:blip r:embed="rId1"/>
          <a:srcRect l="0" r="0" t="0" b="0"/>
          <a:stretch/>
        </p:blipFill>
        <p:spPr>
          <a:xfrm>
            <a:off x="6446520" y="1783080"/>
            <a:ext cx="5102352" cy="2103120"/>
          </a:xfrm>
          <a:prstGeom prst="rect">
            <a:avLst/>
          </a:prstGeom>
        </p:spPr>
      </p:pic>
      <p:sp>
        <p:nvSpPr>
          <p:cNvPr id="9" name="Shape 5"/>
          <p:cNvSpPr/>
          <p:nvPr/>
        </p:nvSpPr>
        <p:spPr>
          <a:xfrm>
            <a:off x="6446520" y="4069080"/>
            <a:ext cx="5102352" cy="2057400"/>
          </a:xfrm>
          <a:prstGeom prst="roundRect">
            <a:avLst>
              <a:gd name="adj" fmla="val 3556"/>
            </a:avLst>
          </a:prstGeom>
          <a:solidFill>
            <a:srgbClr val="1B3350"/>
          </a:solidFill>
          <a:ln w="12700">
            <a:solidFill>
              <a:srgbClr val="27435F"/>
            </a:solidFill>
            <a:prstDash val="solid"/>
          </a:ln>
        </p:spPr>
      </p:sp>
      <p:sp>
        <p:nvSpPr>
          <p:cNvPr id="10" name="Text 6"/>
          <p:cNvSpPr/>
          <p:nvPr/>
        </p:nvSpPr>
        <p:spPr>
          <a:xfrm>
            <a:off x="6675120" y="4160520"/>
            <a:ext cx="4572000" cy="274320"/>
          </a:xfrm>
          <a:prstGeom prst="rect">
            <a:avLst/>
          </a:prstGeom>
          <a:noFill/>
          <a:ln/>
        </p:spPr>
        <p:txBody>
          <a:bodyPr wrap="square" rtlCol="0" anchor="ctr"/>
          <a:lstStyle/>
          <a:p>
            <a:pPr indent="0" marL="0">
              <a:buNone/>
            </a:pPr>
            <a:r>
              <a:rPr lang="en-US" sz="1100" b="1" spc="150" kern="0" dirty="0">
                <a:solidFill>
                  <a:srgbClr val="10B981"/>
                </a:solidFill>
                <a:latin typeface="Calibri" pitchFamily="34" charset="0"/>
                <a:ea typeface="Calibri" pitchFamily="34" charset="-122"/>
                <a:cs typeface="Calibri" pitchFamily="34" charset="-120"/>
              </a:rPr>
              <a:t>POTENTIAL IMPACT</a:t>
            </a:r>
            <a:endParaRPr lang="en-US" sz="1100" dirty="0"/>
          </a:p>
        </p:txBody>
      </p:sp>
      <p:sp>
        <p:nvSpPr>
          <p:cNvPr id="11" name="Text 7"/>
          <p:cNvSpPr/>
          <p:nvPr/>
        </p:nvSpPr>
        <p:spPr>
          <a:xfrm>
            <a:off x="6675120" y="4480560"/>
            <a:ext cx="4663440" cy="1554480"/>
          </a:xfrm>
          <a:prstGeom prst="rect">
            <a:avLst/>
          </a:prstGeom>
          <a:noFill/>
          <a:ln/>
        </p:spPr>
        <p:txBody>
          <a:bodyPr wrap="square" rtlCol="0" anchor="t"/>
          <a:lstStyle/>
          <a:p>
            <a:pPr marL="342900" indent="-342900">
              <a:lnSpc>
                <a:spcPts val="1800"/>
              </a:lnSpc>
              <a:buSzPct val="100000"/>
              <a:buChar char="▪"/>
            </a:pPr>
            <a:r>
              <a:rPr lang="en-US" sz="1150" dirty="0">
                <a:solidFill>
                  <a:srgbClr val="9DB2C8"/>
                </a:solidFill>
                <a:latin typeface="Calibri" pitchFamily="34" charset="0"/>
                <a:ea typeface="Calibri" pitchFamily="34" charset="-122"/>
                <a:cs typeface="Calibri" pitchFamily="34" charset="-120"/>
              </a:rPr>
              <a:t>Reduce avoidable idle time</a:t>
            </a:r>
            <a:endParaRPr lang="en-US" sz="1150" dirty="0"/>
          </a:p>
          <a:p>
            <a:pPr marL="342900" indent="-342900">
              <a:lnSpc>
                <a:spcPts val="1800"/>
              </a:lnSpc>
              <a:buSzPct val="100000"/>
              <a:buChar char="▪"/>
            </a:pPr>
            <a:r>
              <a:rPr lang="en-US" sz="1150" dirty="0">
                <a:solidFill>
                  <a:srgbClr val="9DB2C8"/>
                </a:solidFill>
                <a:latin typeface="Calibri" pitchFamily="34" charset="0"/>
                <a:ea typeface="Calibri" pitchFamily="34" charset="-122"/>
                <a:cs typeface="Calibri" pitchFamily="34" charset="-120"/>
              </a:rPr>
              <a:t>Improve SLA compliance</a:t>
            </a:r>
            <a:endParaRPr lang="en-US" sz="1150" dirty="0"/>
          </a:p>
          <a:p>
            <a:pPr marL="342900" indent="-342900">
              <a:lnSpc>
                <a:spcPts val="1800"/>
              </a:lnSpc>
              <a:buSzPct val="100000"/>
              <a:buChar char="▪"/>
            </a:pPr>
            <a:r>
              <a:rPr lang="en-US" sz="1150" dirty="0">
                <a:solidFill>
                  <a:srgbClr val="9DB2C8"/>
                </a:solidFill>
                <a:latin typeface="Calibri" pitchFamily="34" charset="0"/>
                <a:ea typeface="Calibri" pitchFamily="34" charset="-122"/>
                <a:cs typeface="Calibri" pitchFamily="34" charset="-120"/>
              </a:rPr>
              <a:t>Earlier delay visibility for dispatchers</a:t>
            </a:r>
            <a:endParaRPr lang="en-US" sz="1150" dirty="0"/>
          </a:p>
          <a:p>
            <a:pPr marL="342900" indent="-342900">
              <a:lnSpc>
                <a:spcPts val="1800"/>
              </a:lnSpc>
              <a:buSzPct val="100000"/>
              <a:buChar char="▪"/>
            </a:pPr>
            <a:r>
              <a:rPr lang="en-US" sz="1150" dirty="0">
                <a:solidFill>
                  <a:srgbClr val="9DB2C8"/>
                </a:solidFill>
                <a:latin typeface="Calibri" pitchFamily="34" charset="0"/>
                <a:ea typeface="Calibri" pitchFamily="34" charset="-122"/>
                <a:cs typeface="Calibri" pitchFamily="34" charset="-120"/>
              </a:rPr>
              <a:t>Better container and vehicle coordination</a:t>
            </a:r>
            <a:endParaRPr lang="en-US" sz="1150" dirty="0"/>
          </a:p>
          <a:p>
            <a:pPr marL="342900" indent="-342900">
              <a:lnSpc>
                <a:spcPts val="1800"/>
              </a:lnSpc>
              <a:buSzPct val="100000"/>
              <a:buChar char="▪"/>
            </a:pPr>
            <a:r>
              <a:rPr lang="en-US" sz="1150" dirty="0">
                <a:solidFill>
                  <a:srgbClr val="9DB2C8"/>
                </a:solidFill>
                <a:latin typeface="Calibri" pitchFamily="34" charset="0"/>
                <a:ea typeface="Calibri" pitchFamily="34" charset="-122"/>
                <a:cs typeface="Calibri" pitchFamily="34" charset="-120"/>
              </a:rPr>
              <a:t>More accurate carrier reporting</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p:nvPr/>
        </p:nvSpPr>
        <p:spPr>
          <a:xfrm>
            <a:off x="594360" y="384048"/>
            <a:ext cx="7315200" cy="274320"/>
          </a:xfrm>
          <a:prstGeom prst="rect">
            <a:avLst/>
          </a:prstGeom>
          <a:noFill/>
          <a:ln/>
        </p:spPr>
        <p:txBody>
          <a:bodyPr wrap="square" rtlCol="0" anchor="ctr"/>
          <a:lstStyle/>
          <a:p>
            <a:pPr indent="0" marL="0">
              <a:buNone/>
            </a:pPr>
            <a:r>
              <a:rPr lang="en-US" sz="1300" b="1" spc="300" kern="0" dirty="0">
                <a:solidFill>
                  <a:srgbClr val="F5821F"/>
                </a:solidFill>
                <a:latin typeface="Calibri" pitchFamily="34" charset="0"/>
                <a:ea typeface="Calibri" pitchFamily="34" charset="-122"/>
                <a:cs typeface="Calibri" pitchFamily="34" charset="-120"/>
              </a:rPr>
              <a:t>KEY LEARNINGS</a:t>
            </a:r>
            <a:endParaRPr lang="en-US" sz="1300" dirty="0"/>
          </a:p>
        </p:txBody>
      </p:sp>
      <p:sp>
        <p:nvSpPr>
          <p:cNvPr id="4" name="Text 1"/>
          <p:cNvSpPr/>
          <p:nvPr/>
        </p:nvSpPr>
        <p:spPr>
          <a:xfrm>
            <a:off x="548640" y="685800"/>
            <a:ext cx="10607040" cy="777240"/>
          </a:xfrm>
          <a:prstGeom prst="rect">
            <a:avLst/>
          </a:prstGeom>
          <a:noFill/>
          <a:ln/>
        </p:spPr>
        <p:txBody>
          <a:bodyPr wrap="square" rtlCol="0" anchor="ctr"/>
          <a:lstStyle/>
          <a:p>
            <a:pPr indent="0" marL="0">
              <a:buNone/>
            </a:pPr>
            <a:r>
              <a:rPr lang="en-US" sz="4000" dirty="0">
                <a:solidFill>
                  <a:srgbClr val="FFFFFF"/>
                </a:solidFill>
                <a:latin typeface="Arial Black" pitchFamily="34" charset="0"/>
                <a:ea typeface="Arial Black" pitchFamily="34" charset="-122"/>
                <a:cs typeface="Arial Black" pitchFamily="34" charset="-120"/>
              </a:rPr>
              <a:t>What building Turnaround taught us</a:t>
            </a:r>
            <a:endParaRPr lang="en-US" sz="4000" dirty="0"/>
          </a:p>
        </p:txBody>
      </p:sp>
      <p:sp>
        <p:nvSpPr>
          <p:cNvPr id="5" name="Shape 2"/>
          <p:cNvSpPr/>
          <p:nvPr/>
        </p:nvSpPr>
        <p:spPr>
          <a:xfrm>
            <a:off x="594360" y="1874520"/>
            <a:ext cx="5349240" cy="1207008"/>
          </a:xfrm>
          <a:prstGeom prst="roundRect">
            <a:avLst>
              <a:gd name="adj" fmla="val 6061"/>
            </a:avLst>
          </a:prstGeom>
          <a:solidFill>
            <a:srgbClr val="13263D"/>
          </a:solidFill>
          <a:ln w="12700">
            <a:solidFill>
              <a:srgbClr val="27435F"/>
            </a:solidFill>
            <a:prstDash val="solid"/>
          </a:ln>
        </p:spPr>
      </p:sp>
      <p:sp>
        <p:nvSpPr>
          <p:cNvPr id="6" name="Text 3"/>
          <p:cNvSpPr/>
          <p:nvPr/>
        </p:nvSpPr>
        <p:spPr>
          <a:xfrm>
            <a:off x="795528" y="2130552"/>
            <a:ext cx="640080" cy="685800"/>
          </a:xfrm>
          <a:prstGeom prst="rect">
            <a:avLst/>
          </a:prstGeom>
          <a:noFill/>
          <a:ln/>
        </p:spPr>
        <p:txBody>
          <a:bodyPr wrap="square" rtlCol="0" anchor="ctr"/>
          <a:lstStyle/>
          <a:p>
            <a:pPr indent="0" marL="0">
              <a:buNone/>
            </a:pPr>
            <a:r>
              <a:rPr lang="en-US" sz="2600" dirty="0">
                <a:solidFill>
                  <a:srgbClr val="F5821F"/>
                </a:solidFill>
                <a:latin typeface="Arial Black" pitchFamily="34" charset="0"/>
                <a:ea typeface="Arial Black" pitchFamily="34" charset="-122"/>
                <a:cs typeface="Arial Black" pitchFamily="34" charset="-120"/>
              </a:rPr>
              <a:t>01</a:t>
            </a:r>
            <a:endParaRPr lang="en-US" sz="2600" dirty="0"/>
          </a:p>
        </p:txBody>
      </p:sp>
      <p:sp>
        <p:nvSpPr>
          <p:cNvPr id="7" name="Text 4"/>
          <p:cNvSpPr/>
          <p:nvPr/>
        </p:nvSpPr>
        <p:spPr>
          <a:xfrm>
            <a:off x="1554480" y="1874520"/>
            <a:ext cx="4206240" cy="1207008"/>
          </a:xfrm>
          <a:prstGeom prst="rect">
            <a:avLst/>
          </a:prstGeom>
          <a:noFill/>
          <a:ln/>
        </p:spPr>
        <p:txBody>
          <a:bodyPr wrap="square" rtlCol="0" anchor="ctr"/>
          <a:lstStyle/>
          <a:p>
            <a:pPr indent="0" marL="0">
              <a:lnSpc>
                <a:spcPts val="2000"/>
              </a:lnSpc>
              <a:buNone/>
            </a:pPr>
            <a:r>
              <a:rPr lang="en-US" sz="1400" dirty="0">
                <a:solidFill>
                  <a:srgbClr val="FFFFFF"/>
                </a:solidFill>
                <a:latin typeface="Calibri" pitchFamily="34" charset="0"/>
                <a:ea typeface="Calibri" pitchFamily="34" charset="-122"/>
                <a:cs typeface="Calibri" pitchFamily="34" charset="-120"/>
              </a:rPr>
              <a:t>Operational software must model real-world resources accurately</a:t>
            </a:r>
            <a:endParaRPr lang="en-US" sz="1400" dirty="0"/>
          </a:p>
        </p:txBody>
      </p:sp>
      <p:sp>
        <p:nvSpPr>
          <p:cNvPr id="8" name="Shape 5"/>
          <p:cNvSpPr/>
          <p:nvPr/>
        </p:nvSpPr>
        <p:spPr>
          <a:xfrm>
            <a:off x="6172200" y="1874520"/>
            <a:ext cx="5349240" cy="1207008"/>
          </a:xfrm>
          <a:prstGeom prst="roundRect">
            <a:avLst>
              <a:gd name="adj" fmla="val 6061"/>
            </a:avLst>
          </a:prstGeom>
          <a:solidFill>
            <a:srgbClr val="13263D"/>
          </a:solidFill>
          <a:ln w="12700">
            <a:solidFill>
              <a:srgbClr val="27435F"/>
            </a:solidFill>
            <a:prstDash val="solid"/>
          </a:ln>
        </p:spPr>
      </p:sp>
      <p:sp>
        <p:nvSpPr>
          <p:cNvPr id="9" name="Text 6"/>
          <p:cNvSpPr/>
          <p:nvPr/>
        </p:nvSpPr>
        <p:spPr>
          <a:xfrm>
            <a:off x="6373368" y="2130552"/>
            <a:ext cx="640080" cy="685800"/>
          </a:xfrm>
          <a:prstGeom prst="rect">
            <a:avLst/>
          </a:prstGeom>
          <a:noFill/>
          <a:ln/>
        </p:spPr>
        <p:txBody>
          <a:bodyPr wrap="square" rtlCol="0" anchor="ctr"/>
          <a:lstStyle/>
          <a:p>
            <a:pPr indent="0" marL="0">
              <a:buNone/>
            </a:pPr>
            <a:r>
              <a:rPr lang="en-US" sz="2600" dirty="0">
                <a:solidFill>
                  <a:srgbClr val="10B981"/>
                </a:solidFill>
                <a:latin typeface="Arial Black" pitchFamily="34" charset="0"/>
                <a:ea typeface="Arial Black" pitchFamily="34" charset="-122"/>
                <a:cs typeface="Arial Black" pitchFamily="34" charset="-120"/>
              </a:rPr>
              <a:t>02</a:t>
            </a:r>
            <a:endParaRPr lang="en-US" sz="2600" dirty="0"/>
          </a:p>
        </p:txBody>
      </p:sp>
      <p:sp>
        <p:nvSpPr>
          <p:cNvPr id="10" name="Text 7"/>
          <p:cNvSpPr/>
          <p:nvPr/>
        </p:nvSpPr>
        <p:spPr>
          <a:xfrm>
            <a:off x="7132320" y="1874520"/>
            <a:ext cx="4206240" cy="1207008"/>
          </a:xfrm>
          <a:prstGeom prst="rect">
            <a:avLst/>
          </a:prstGeom>
          <a:noFill/>
          <a:ln/>
        </p:spPr>
        <p:txBody>
          <a:bodyPr wrap="square" rtlCol="0" anchor="ctr"/>
          <a:lstStyle/>
          <a:p>
            <a:pPr indent="0" marL="0">
              <a:lnSpc>
                <a:spcPts val="2000"/>
              </a:lnSpc>
              <a:buNone/>
            </a:pPr>
            <a:r>
              <a:rPr lang="en-US" sz="1400" dirty="0">
                <a:solidFill>
                  <a:srgbClr val="FFFFFF"/>
                </a:solidFill>
                <a:latin typeface="Calibri" pitchFamily="34" charset="0"/>
                <a:ea typeface="Calibri" pitchFamily="34" charset="-122"/>
                <a:cs typeface="Calibri" pitchFamily="34" charset="-120"/>
              </a:rPr>
              <a:t>A container should never be treated like a drivable vehicle</a:t>
            </a:r>
            <a:endParaRPr lang="en-US" sz="1400" dirty="0"/>
          </a:p>
        </p:txBody>
      </p:sp>
      <p:sp>
        <p:nvSpPr>
          <p:cNvPr id="11" name="Shape 8"/>
          <p:cNvSpPr/>
          <p:nvPr/>
        </p:nvSpPr>
        <p:spPr>
          <a:xfrm>
            <a:off x="594360" y="3291840"/>
            <a:ext cx="5349240" cy="1207008"/>
          </a:xfrm>
          <a:prstGeom prst="roundRect">
            <a:avLst>
              <a:gd name="adj" fmla="val 6061"/>
            </a:avLst>
          </a:prstGeom>
          <a:solidFill>
            <a:srgbClr val="13263D"/>
          </a:solidFill>
          <a:ln w="12700">
            <a:solidFill>
              <a:srgbClr val="27435F"/>
            </a:solidFill>
            <a:prstDash val="solid"/>
          </a:ln>
        </p:spPr>
      </p:sp>
      <p:sp>
        <p:nvSpPr>
          <p:cNvPr id="12" name="Text 9"/>
          <p:cNvSpPr/>
          <p:nvPr/>
        </p:nvSpPr>
        <p:spPr>
          <a:xfrm>
            <a:off x="795528" y="3547872"/>
            <a:ext cx="640080" cy="685800"/>
          </a:xfrm>
          <a:prstGeom prst="rect">
            <a:avLst/>
          </a:prstGeom>
          <a:noFill/>
          <a:ln/>
        </p:spPr>
        <p:txBody>
          <a:bodyPr wrap="square" rtlCol="0" anchor="ctr"/>
          <a:lstStyle/>
          <a:p>
            <a:pPr indent="0" marL="0">
              <a:buNone/>
            </a:pPr>
            <a:r>
              <a:rPr lang="en-US" sz="2600" dirty="0">
                <a:solidFill>
                  <a:srgbClr val="F5821F"/>
                </a:solidFill>
                <a:latin typeface="Arial Black" pitchFamily="34" charset="0"/>
                <a:ea typeface="Arial Black" pitchFamily="34" charset="-122"/>
                <a:cs typeface="Arial Black" pitchFamily="34" charset="-120"/>
              </a:rPr>
              <a:t>03</a:t>
            </a:r>
            <a:endParaRPr lang="en-US" sz="2600" dirty="0"/>
          </a:p>
        </p:txBody>
      </p:sp>
      <p:sp>
        <p:nvSpPr>
          <p:cNvPr id="13" name="Text 10"/>
          <p:cNvSpPr/>
          <p:nvPr/>
        </p:nvSpPr>
        <p:spPr>
          <a:xfrm>
            <a:off x="1554480" y="3291840"/>
            <a:ext cx="4206240" cy="1207008"/>
          </a:xfrm>
          <a:prstGeom prst="rect">
            <a:avLst/>
          </a:prstGeom>
          <a:noFill/>
          <a:ln/>
        </p:spPr>
        <p:txBody>
          <a:bodyPr wrap="square" rtlCol="0" anchor="ctr"/>
          <a:lstStyle/>
          <a:p>
            <a:pPr indent="0" marL="0">
              <a:lnSpc>
                <a:spcPts val="2000"/>
              </a:lnSpc>
              <a:buNone/>
            </a:pPr>
            <a:r>
              <a:rPr lang="en-US" sz="1400" dirty="0">
                <a:solidFill>
                  <a:srgbClr val="FFFFFF"/>
                </a:solidFill>
                <a:latin typeface="Calibri" pitchFamily="34" charset="0"/>
                <a:ea typeface="Calibri" pitchFamily="34" charset="-122"/>
                <a:cs typeface="Calibri" pitchFamily="34" charset="-120"/>
              </a:rPr>
              <a:t>GPS data gains value when tied to geofences, trips, dwell and cost</a:t>
            </a:r>
            <a:endParaRPr lang="en-US" sz="1400" dirty="0"/>
          </a:p>
        </p:txBody>
      </p:sp>
      <p:sp>
        <p:nvSpPr>
          <p:cNvPr id="14" name="Shape 11"/>
          <p:cNvSpPr/>
          <p:nvPr/>
        </p:nvSpPr>
        <p:spPr>
          <a:xfrm>
            <a:off x="6172200" y="3291840"/>
            <a:ext cx="5349240" cy="1207008"/>
          </a:xfrm>
          <a:prstGeom prst="roundRect">
            <a:avLst>
              <a:gd name="adj" fmla="val 6061"/>
            </a:avLst>
          </a:prstGeom>
          <a:solidFill>
            <a:srgbClr val="13263D"/>
          </a:solidFill>
          <a:ln w="12700">
            <a:solidFill>
              <a:srgbClr val="27435F"/>
            </a:solidFill>
            <a:prstDash val="solid"/>
          </a:ln>
        </p:spPr>
      </p:sp>
      <p:sp>
        <p:nvSpPr>
          <p:cNvPr id="15" name="Text 12"/>
          <p:cNvSpPr/>
          <p:nvPr/>
        </p:nvSpPr>
        <p:spPr>
          <a:xfrm>
            <a:off x="6373368" y="3547872"/>
            <a:ext cx="640080" cy="685800"/>
          </a:xfrm>
          <a:prstGeom prst="rect">
            <a:avLst/>
          </a:prstGeom>
          <a:noFill/>
          <a:ln/>
        </p:spPr>
        <p:txBody>
          <a:bodyPr wrap="square" rtlCol="0" anchor="ctr"/>
          <a:lstStyle/>
          <a:p>
            <a:pPr indent="0" marL="0">
              <a:buNone/>
            </a:pPr>
            <a:r>
              <a:rPr lang="en-US" sz="2600" dirty="0">
                <a:solidFill>
                  <a:srgbClr val="10B981"/>
                </a:solidFill>
                <a:latin typeface="Arial Black" pitchFamily="34" charset="0"/>
                <a:ea typeface="Arial Black" pitchFamily="34" charset="-122"/>
                <a:cs typeface="Arial Black" pitchFamily="34" charset="-120"/>
              </a:rPr>
              <a:t>04</a:t>
            </a:r>
            <a:endParaRPr lang="en-US" sz="2600" dirty="0"/>
          </a:p>
        </p:txBody>
      </p:sp>
      <p:sp>
        <p:nvSpPr>
          <p:cNvPr id="16" name="Text 13"/>
          <p:cNvSpPr/>
          <p:nvPr/>
        </p:nvSpPr>
        <p:spPr>
          <a:xfrm>
            <a:off x="7132320" y="3291840"/>
            <a:ext cx="4206240" cy="1207008"/>
          </a:xfrm>
          <a:prstGeom prst="rect">
            <a:avLst/>
          </a:prstGeom>
          <a:noFill/>
          <a:ln/>
        </p:spPr>
        <p:txBody>
          <a:bodyPr wrap="square" rtlCol="0" anchor="ctr"/>
          <a:lstStyle/>
          <a:p>
            <a:pPr indent="0" marL="0">
              <a:lnSpc>
                <a:spcPts val="2000"/>
              </a:lnSpc>
              <a:buNone/>
            </a:pPr>
            <a:r>
              <a:rPr lang="en-US" sz="1400" dirty="0">
                <a:solidFill>
                  <a:srgbClr val="FFFFFF"/>
                </a:solidFill>
                <a:latin typeface="Calibri" pitchFamily="34" charset="0"/>
                <a:ea typeface="Calibri" pitchFamily="34" charset="-122"/>
                <a:cs typeface="Calibri" pitchFamily="34" charset="-120"/>
              </a:rPr>
              <a:t>Role-based workflows are essential in multi-user logistics systems</a:t>
            </a:r>
            <a:endParaRPr lang="en-US" sz="1400" dirty="0"/>
          </a:p>
        </p:txBody>
      </p:sp>
      <p:sp>
        <p:nvSpPr>
          <p:cNvPr id="17" name="Shape 14"/>
          <p:cNvSpPr/>
          <p:nvPr/>
        </p:nvSpPr>
        <p:spPr>
          <a:xfrm>
            <a:off x="594360" y="4709160"/>
            <a:ext cx="5349240" cy="1207008"/>
          </a:xfrm>
          <a:prstGeom prst="roundRect">
            <a:avLst>
              <a:gd name="adj" fmla="val 6061"/>
            </a:avLst>
          </a:prstGeom>
          <a:solidFill>
            <a:srgbClr val="13263D"/>
          </a:solidFill>
          <a:ln w="12700">
            <a:solidFill>
              <a:srgbClr val="27435F"/>
            </a:solidFill>
            <a:prstDash val="solid"/>
          </a:ln>
        </p:spPr>
      </p:sp>
      <p:sp>
        <p:nvSpPr>
          <p:cNvPr id="18" name="Text 15"/>
          <p:cNvSpPr/>
          <p:nvPr/>
        </p:nvSpPr>
        <p:spPr>
          <a:xfrm>
            <a:off x="795528" y="4965192"/>
            <a:ext cx="640080" cy="685800"/>
          </a:xfrm>
          <a:prstGeom prst="rect">
            <a:avLst/>
          </a:prstGeom>
          <a:noFill/>
          <a:ln/>
        </p:spPr>
        <p:txBody>
          <a:bodyPr wrap="square" rtlCol="0" anchor="ctr"/>
          <a:lstStyle/>
          <a:p>
            <a:pPr indent="0" marL="0">
              <a:buNone/>
            </a:pPr>
            <a:r>
              <a:rPr lang="en-US" sz="2600" dirty="0">
                <a:solidFill>
                  <a:srgbClr val="F5821F"/>
                </a:solidFill>
                <a:latin typeface="Arial Black" pitchFamily="34" charset="0"/>
                <a:ea typeface="Arial Black" pitchFamily="34" charset="-122"/>
                <a:cs typeface="Arial Black" pitchFamily="34" charset="-120"/>
              </a:rPr>
              <a:t>05</a:t>
            </a:r>
            <a:endParaRPr lang="en-US" sz="2600" dirty="0"/>
          </a:p>
        </p:txBody>
      </p:sp>
      <p:sp>
        <p:nvSpPr>
          <p:cNvPr id="19" name="Text 16"/>
          <p:cNvSpPr/>
          <p:nvPr/>
        </p:nvSpPr>
        <p:spPr>
          <a:xfrm>
            <a:off x="1554480" y="4709160"/>
            <a:ext cx="4206240" cy="1207008"/>
          </a:xfrm>
          <a:prstGeom prst="rect">
            <a:avLst/>
          </a:prstGeom>
          <a:noFill/>
          <a:ln/>
        </p:spPr>
        <p:txBody>
          <a:bodyPr wrap="square" rtlCol="0" anchor="ctr"/>
          <a:lstStyle/>
          <a:p>
            <a:pPr indent="0" marL="0">
              <a:lnSpc>
                <a:spcPts val="2000"/>
              </a:lnSpc>
              <a:buNone/>
            </a:pPr>
            <a:r>
              <a:rPr lang="en-US" sz="1400" dirty="0">
                <a:solidFill>
                  <a:srgbClr val="FFFFFF"/>
                </a:solidFill>
                <a:latin typeface="Calibri" pitchFamily="34" charset="0"/>
                <a:ea typeface="Calibri" pitchFamily="34" charset="-122"/>
                <a:cs typeface="Calibri" pitchFamily="34" charset="-120"/>
              </a:rPr>
              <a:t>Dashboards need both high-level metrics and drill-down detail</a:t>
            </a:r>
            <a:endParaRPr lang="en-US" sz="1400" dirty="0"/>
          </a:p>
        </p:txBody>
      </p:sp>
      <p:sp>
        <p:nvSpPr>
          <p:cNvPr id="20" name="Shape 17"/>
          <p:cNvSpPr/>
          <p:nvPr/>
        </p:nvSpPr>
        <p:spPr>
          <a:xfrm>
            <a:off x="6172200" y="4709160"/>
            <a:ext cx="5349240" cy="1207008"/>
          </a:xfrm>
          <a:prstGeom prst="roundRect">
            <a:avLst>
              <a:gd name="adj" fmla="val 6061"/>
            </a:avLst>
          </a:prstGeom>
          <a:solidFill>
            <a:srgbClr val="13263D"/>
          </a:solidFill>
          <a:ln w="12700">
            <a:solidFill>
              <a:srgbClr val="27435F"/>
            </a:solidFill>
            <a:prstDash val="solid"/>
          </a:ln>
        </p:spPr>
      </p:sp>
      <p:sp>
        <p:nvSpPr>
          <p:cNvPr id="21" name="Text 18"/>
          <p:cNvSpPr/>
          <p:nvPr/>
        </p:nvSpPr>
        <p:spPr>
          <a:xfrm>
            <a:off x="6373368" y="4965192"/>
            <a:ext cx="640080" cy="685800"/>
          </a:xfrm>
          <a:prstGeom prst="rect">
            <a:avLst/>
          </a:prstGeom>
          <a:noFill/>
          <a:ln/>
        </p:spPr>
        <p:txBody>
          <a:bodyPr wrap="square" rtlCol="0" anchor="ctr"/>
          <a:lstStyle/>
          <a:p>
            <a:pPr indent="0" marL="0">
              <a:buNone/>
            </a:pPr>
            <a:r>
              <a:rPr lang="en-US" sz="2600" dirty="0">
                <a:solidFill>
                  <a:srgbClr val="10B981"/>
                </a:solidFill>
                <a:latin typeface="Arial Black" pitchFamily="34" charset="0"/>
                <a:ea typeface="Arial Black" pitchFamily="34" charset="-122"/>
                <a:cs typeface="Arial Black" pitchFamily="34" charset="-120"/>
              </a:rPr>
              <a:t>06</a:t>
            </a:r>
            <a:endParaRPr lang="en-US" sz="2600" dirty="0"/>
          </a:p>
        </p:txBody>
      </p:sp>
      <p:sp>
        <p:nvSpPr>
          <p:cNvPr id="22" name="Text 19"/>
          <p:cNvSpPr/>
          <p:nvPr/>
        </p:nvSpPr>
        <p:spPr>
          <a:xfrm>
            <a:off x="7132320" y="4709160"/>
            <a:ext cx="4206240" cy="1207008"/>
          </a:xfrm>
          <a:prstGeom prst="rect">
            <a:avLst/>
          </a:prstGeom>
          <a:noFill/>
          <a:ln/>
        </p:spPr>
        <p:txBody>
          <a:bodyPr wrap="square" rtlCol="0" anchor="ctr"/>
          <a:lstStyle/>
          <a:p>
            <a:pPr indent="0" marL="0">
              <a:lnSpc>
                <a:spcPts val="2000"/>
              </a:lnSpc>
              <a:buNone/>
            </a:pPr>
            <a:r>
              <a:rPr lang="en-US" sz="1400" dirty="0">
                <a:solidFill>
                  <a:srgbClr val="FFFFFF"/>
                </a:solidFill>
                <a:latin typeface="Calibri" pitchFamily="34" charset="0"/>
                <a:ea typeface="Calibri" pitchFamily="34" charset="-122"/>
                <a:cs typeface="Calibri" pitchFamily="34" charset="-120"/>
              </a:rPr>
              <a:t>Identifier consistency across devices, vehicles and containers is critical</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p:nvPr/>
        </p:nvSpPr>
        <p:spPr>
          <a:xfrm>
            <a:off x="594360" y="384048"/>
            <a:ext cx="7315200" cy="274320"/>
          </a:xfrm>
          <a:prstGeom prst="rect">
            <a:avLst/>
          </a:prstGeom>
          <a:noFill/>
          <a:ln/>
        </p:spPr>
        <p:txBody>
          <a:bodyPr wrap="square" rtlCol="0" anchor="ctr"/>
          <a:lstStyle/>
          <a:p>
            <a:pPr indent="0" marL="0">
              <a:buNone/>
            </a:pPr>
            <a:r>
              <a:rPr lang="en-US" sz="1300" b="1" spc="300" kern="0" dirty="0">
                <a:solidFill>
                  <a:srgbClr val="F5821F"/>
                </a:solidFill>
                <a:latin typeface="Calibri" pitchFamily="34" charset="0"/>
                <a:ea typeface="Calibri" pitchFamily="34" charset="-122"/>
                <a:cs typeface="Calibri" pitchFamily="34" charset="-120"/>
              </a:rPr>
              <a:t>CHALLENGES FACED</a:t>
            </a:r>
            <a:endParaRPr lang="en-US" sz="1300" dirty="0"/>
          </a:p>
        </p:txBody>
      </p:sp>
      <p:sp>
        <p:nvSpPr>
          <p:cNvPr id="4" name="Text 1"/>
          <p:cNvSpPr/>
          <p:nvPr/>
        </p:nvSpPr>
        <p:spPr>
          <a:xfrm>
            <a:off x="548640" y="685800"/>
            <a:ext cx="10607040" cy="777240"/>
          </a:xfrm>
          <a:prstGeom prst="rect">
            <a:avLst/>
          </a:prstGeom>
          <a:noFill/>
          <a:ln/>
        </p:spPr>
        <p:txBody>
          <a:bodyPr wrap="square" rtlCol="0" anchor="ctr"/>
          <a:lstStyle/>
          <a:p>
            <a:pPr indent="0" marL="0">
              <a:buNone/>
            </a:pPr>
            <a:r>
              <a:rPr lang="en-US" sz="4000" dirty="0">
                <a:solidFill>
                  <a:srgbClr val="FFFFFF"/>
                </a:solidFill>
                <a:latin typeface="Arial Black" pitchFamily="34" charset="0"/>
                <a:ea typeface="Arial Black" pitchFamily="34" charset="-122"/>
                <a:cs typeface="Arial Black" pitchFamily="34" charset="-120"/>
              </a:rPr>
              <a:t>Hard problems in the build</a:t>
            </a:r>
            <a:endParaRPr lang="en-US" sz="4000" dirty="0"/>
          </a:p>
        </p:txBody>
      </p:sp>
      <p:sp>
        <p:nvSpPr>
          <p:cNvPr id="5" name="Shape 2"/>
          <p:cNvSpPr/>
          <p:nvPr/>
        </p:nvSpPr>
        <p:spPr>
          <a:xfrm>
            <a:off x="594360" y="1874520"/>
            <a:ext cx="2606040" cy="1828800"/>
          </a:xfrm>
          <a:prstGeom prst="roundRect">
            <a:avLst>
              <a:gd name="adj" fmla="val 4000"/>
            </a:avLst>
          </a:prstGeom>
          <a:solidFill>
            <a:srgbClr val="13263D"/>
          </a:solidFill>
          <a:ln w="12700">
            <a:solidFill>
              <a:srgbClr val="27435F"/>
            </a:solidFill>
            <a:prstDash val="solid"/>
          </a:ln>
        </p:spPr>
      </p:sp>
      <p:sp>
        <p:nvSpPr>
          <p:cNvPr id="6" name="Shape 3"/>
          <p:cNvSpPr/>
          <p:nvPr/>
        </p:nvSpPr>
        <p:spPr>
          <a:xfrm>
            <a:off x="594360" y="1874520"/>
            <a:ext cx="2606040" cy="64008"/>
          </a:xfrm>
          <a:prstGeom prst="rect">
            <a:avLst/>
          </a:prstGeom>
          <a:solidFill>
            <a:srgbClr val="F5821F"/>
          </a:solidFill>
          <a:ln/>
        </p:spPr>
      </p:sp>
      <p:sp>
        <p:nvSpPr>
          <p:cNvPr id="7" name="Text 4"/>
          <p:cNvSpPr/>
          <p:nvPr/>
        </p:nvSpPr>
        <p:spPr>
          <a:xfrm>
            <a:off x="795528" y="2103120"/>
            <a:ext cx="2240280" cy="5486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Multi-category assets</a:t>
            </a:r>
            <a:endParaRPr lang="en-US" sz="1400" dirty="0"/>
          </a:p>
        </p:txBody>
      </p:sp>
      <p:sp>
        <p:nvSpPr>
          <p:cNvPr id="8" name="Text 5"/>
          <p:cNvSpPr/>
          <p:nvPr/>
        </p:nvSpPr>
        <p:spPr>
          <a:xfrm>
            <a:off x="795528" y="2651760"/>
            <a:ext cx="2240280" cy="914400"/>
          </a:xfrm>
          <a:prstGeom prst="rect">
            <a:avLst/>
          </a:prstGeom>
          <a:noFill/>
          <a:ln/>
        </p:spPr>
        <p:txBody>
          <a:bodyPr wrap="square" rtlCol="0" anchor="ctr"/>
          <a:lstStyle/>
          <a:p>
            <a:pPr indent="0" marL="0">
              <a:lnSpc>
                <a:spcPts val="1600"/>
              </a:lnSpc>
              <a:buNone/>
            </a:pPr>
            <a:r>
              <a:rPr lang="en-US" sz="1150" dirty="0">
                <a:solidFill>
                  <a:srgbClr val="9DB2C8"/>
                </a:solidFill>
                <a:latin typeface="Calibri" pitchFamily="34" charset="0"/>
                <a:ea typeface="Calibri" pitchFamily="34" charset="-122"/>
                <a:cs typeface="Calibri" pitchFamily="34" charset="-120"/>
              </a:rPr>
              <a:t>One platform for trucks, tankers, trailers, chassis, ships and containers</a:t>
            </a:r>
            <a:endParaRPr lang="en-US" sz="1150" dirty="0"/>
          </a:p>
        </p:txBody>
      </p:sp>
      <p:sp>
        <p:nvSpPr>
          <p:cNvPr id="9" name="Shape 6"/>
          <p:cNvSpPr/>
          <p:nvPr/>
        </p:nvSpPr>
        <p:spPr>
          <a:xfrm>
            <a:off x="3410712" y="1874520"/>
            <a:ext cx="2606040" cy="1828800"/>
          </a:xfrm>
          <a:prstGeom prst="roundRect">
            <a:avLst>
              <a:gd name="adj" fmla="val 4000"/>
            </a:avLst>
          </a:prstGeom>
          <a:solidFill>
            <a:srgbClr val="13263D"/>
          </a:solidFill>
          <a:ln w="12700">
            <a:solidFill>
              <a:srgbClr val="27435F"/>
            </a:solidFill>
            <a:prstDash val="solid"/>
          </a:ln>
        </p:spPr>
      </p:sp>
      <p:sp>
        <p:nvSpPr>
          <p:cNvPr id="10" name="Shape 7"/>
          <p:cNvSpPr/>
          <p:nvPr/>
        </p:nvSpPr>
        <p:spPr>
          <a:xfrm>
            <a:off x="3410712" y="1874520"/>
            <a:ext cx="2606040" cy="64008"/>
          </a:xfrm>
          <a:prstGeom prst="rect">
            <a:avLst/>
          </a:prstGeom>
          <a:solidFill>
            <a:srgbClr val="10B981"/>
          </a:solidFill>
          <a:ln/>
        </p:spPr>
      </p:sp>
      <p:sp>
        <p:nvSpPr>
          <p:cNvPr id="11" name="Text 8"/>
          <p:cNvSpPr/>
          <p:nvPr/>
        </p:nvSpPr>
        <p:spPr>
          <a:xfrm>
            <a:off x="3611880" y="2103120"/>
            <a:ext cx="2240280" cy="5486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Event synchronization</a:t>
            </a:r>
            <a:endParaRPr lang="en-US" sz="1400" dirty="0"/>
          </a:p>
        </p:txBody>
      </p:sp>
      <p:sp>
        <p:nvSpPr>
          <p:cNvPr id="12" name="Text 9"/>
          <p:cNvSpPr/>
          <p:nvPr/>
        </p:nvSpPr>
        <p:spPr>
          <a:xfrm>
            <a:off x="3611880" y="2651760"/>
            <a:ext cx="2240280" cy="914400"/>
          </a:xfrm>
          <a:prstGeom prst="rect">
            <a:avLst/>
          </a:prstGeom>
          <a:noFill/>
          <a:ln/>
        </p:spPr>
        <p:txBody>
          <a:bodyPr wrap="square" rtlCol="0" anchor="ctr"/>
          <a:lstStyle/>
          <a:p>
            <a:pPr indent="0" marL="0">
              <a:lnSpc>
                <a:spcPts val="1600"/>
              </a:lnSpc>
              <a:buNone/>
            </a:pPr>
            <a:r>
              <a:rPr lang="en-US" sz="1150" dirty="0">
                <a:solidFill>
                  <a:srgbClr val="9DB2C8"/>
                </a:solidFill>
                <a:latin typeface="Calibri" pitchFamily="34" charset="0"/>
                <a:ea typeface="Calibri" pitchFamily="34" charset="-122"/>
                <a:cs typeface="Calibri" pitchFamily="34" charset="-120"/>
              </a:rPr>
              <a:t>Aligning GPS events with vehicle and trip records</a:t>
            </a:r>
            <a:endParaRPr lang="en-US" sz="1150" dirty="0"/>
          </a:p>
        </p:txBody>
      </p:sp>
      <p:sp>
        <p:nvSpPr>
          <p:cNvPr id="13" name="Shape 10"/>
          <p:cNvSpPr/>
          <p:nvPr/>
        </p:nvSpPr>
        <p:spPr>
          <a:xfrm>
            <a:off x="6227064" y="1874520"/>
            <a:ext cx="2606040" cy="1828800"/>
          </a:xfrm>
          <a:prstGeom prst="roundRect">
            <a:avLst>
              <a:gd name="adj" fmla="val 4000"/>
            </a:avLst>
          </a:prstGeom>
          <a:solidFill>
            <a:srgbClr val="13263D"/>
          </a:solidFill>
          <a:ln w="12700">
            <a:solidFill>
              <a:srgbClr val="27435F"/>
            </a:solidFill>
            <a:prstDash val="solid"/>
          </a:ln>
        </p:spPr>
      </p:sp>
      <p:sp>
        <p:nvSpPr>
          <p:cNvPr id="14" name="Shape 11"/>
          <p:cNvSpPr/>
          <p:nvPr/>
        </p:nvSpPr>
        <p:spPr>
          <a:xfrm>
            <a:off x="6227064" y="1874520"/>
            <a:ext cx="2606040" cy="64008"/>
          </a:xfrm>
          <a:prstGeom prst="rect">
            <a:avLst/>
          </a:prstGeom>
          <a:solidFill>
            <a:srgbClr val="F5821F"/>
          </a:solidFill>
          <a:ln/>
        </p:spPr>
      </p:sp>
      <p:sp>
        <p:nvSpPr>
          <p:cNvPr id="15" name="Text 12"/>
          <p:cNvSpPr/>
          <p:nvPr/>
        </p:nvSpPr>
        <p:spPr>
          <a:xfrm>
            <a:off x="6428232" y="2103120"/>
            <a:ext cx="2240280" cy="5486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GPS noise</a:t>
            </a:r>
            <a:endParaRPr lang="en-US" sz="1400" dirty="0"/>
          </a:p>
        </p:txBody>
      </p:sp>
      <p:sp>
        <p:nvSpPr>
          <p:cNvPr id="16" name="Text 13"/>
          <p:cNvSpPr/>
          <p:nvPr/>
        </p:nvSpPr>
        <p:spPr>
          <a:xfrm>
            <a:off x="6428232" y="2651760"/>
            <a:ext cx="2240280" cy="914400"/>
          </a:xfrm>
          <a:prstGeom prst="rect">
            <a:avLst/>
          </a:prstGeom>
          <a:noFill/>
          <a:ln/>
        </p:spPr>
        <p:txBody>
          <a:bodyPr wrap="square" rtlCol="0" anchor="ctr"/>
          <a:lstStyle/>
          <a:p>
            <a:pPr indent="0" marL="0">
              <a:lnSpc>
                <a:spcPts val="1600"/>
              </a:lnSpc>
              <a:buNone/>
            </a:pPr>
            <a:r>
              <a:rPr lang="en-US" sz="1150" dirty="0">
                <a:solidFill>
                  <a:srgbClr val="9DB2C8"/>
                </a:solidFill>
                <a:latin typeface="Calibri" pitchFamily="34" charset="0"/>
                <a:ea typeface="Calibri" pitchFamily="34" charset="-122"/>
                <a:cs typeface="Calibri" pitchFamily="34" charset="-120"/>
              </a:rPr>
              <a:t>Preventing false geofence transitions</a:t>
            </a:r>
            <a:endParaRPr lang="en-US" sz="1150" dirty="0"/>
          </a:p>
        </p:txBody>
      </p:sp>
      <p:sp>
        <p:nvSpPr>
          <p:cNvPr id="17" name="Shape 14"/>
          <p:cNvSpPr/>
          <p:nvPr/>
        </p:nvSpPr>
        <p:spPr>
          <a:xfrm>
            <a:off x="9043416" y="1874520"/>
            <a:ext cx="2606040" cy="1828800"/>
          </a:xfrm>
          <a:prstGeom prst="roundRect">
            <a:avLst>
              <a:gd name="adj" fmla="val 4000"/>
            </a:avLst>
          </a:prstGeom>
          <a:solidFill>
            <a:srgbClr val="13263D"/>
          </a:solidFill>
          <a:ln w="12700">
            <a:solidFill>
              <a:srgbClr val="27435F"/>
            </a:solidFill>
            <a:prstDash val="solid"/>
          </a:ln>
        </p:spPr>
      </p:sp>
      <p:sp>
        <p:nvSpPr>
          <p:cNvPr id="18" name="Shape 15"/>
          <p:cNvSpPr/>
          <p:nvPr/>
        </p:nvSpPr>
        <p:spPr>
          <a:xfrm>
            <a:off x="9043416" y="1874520"/>
            <a:ext cx="2606040" cy="64008"/>
          </a:xfrm>
          <a:prstGeom prst="rect">
            <a:avLst/>
          </a:prstGeom>
          <a:solidFill>
            <a:srgbClr val="10B981"/>
          </a:solidFill>
          <a:ln/>
        </p:spPr>
      </p:sp>
      <p:sp>
        <p:nvSpPr>
          <p:cNvPr id="19" name="Text 16"/>
          <p:cNvSpPr/>
          <p:nvPr/>
        </p:nvSpPr>
        <p:spPr>
          <a:xfrm>
            <a:off x="9244584" y="2103120"/>
            <a:ext cx="2240280" cy="5486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Assignment integrity</a:t>
            </a:r>
            <a:endParaRPr lang="en-US" sz="1400" dirty="0"/>
          </a:p>
        </p:txBody>
      </p:sp>
      <p:sp>
        <p:nvSpPr>
          <p:cNvPr id="20" name="Text 17"/>
          <p:cNvSpPr/>
          <p:nvPr/>
        </p:nvSpPr>
        <p:spPr>
          <a:xfrm>
            <a:off x="9244584" y="2651760"/>
            <a:ext cx="2240280" cy="914400"/>
          </a:xfrm>
          <a:prstGeom prst="rect">
            <a:avLst/>
          </a:prstGeom>
          <a:noFill/>
          <a:ln/>
        </p:spPr>
        <p:txBody>
          <a:bodyPr wrap="square" rtlCol="0" anchor="ctr"/>
          <a:lstStyle/>
          <a:p>
            <a:pPr indent="0" marL="0">
              <a:lnSpc>
                <a:spcPts val="1600"/>
              </a:lnSpc>
              <a:buNone/>
            </a:pPr>
            <a:r>
              <a:rPr lang="en-US" sz="1150" dirty="0">
                <a:solidFill>
                  <a:srgbClr val="9DB2C8"/>
                </a:solidFill>
                <a:latin typeface="Calibri" pitchFamily="34" charset="0"/>
                <a:ea typeface="Calibri" pitchFamily="34" charset="-122"/>
                <a:cs typeface="Calibri" pitchFamily="34" charset="-120"/>
              </a:rPr>
              <a:t>Reliable vehicle and container assignment workflows</a:t>
            </a:r>
            <a:endParaRPr lang="en-US" sz="1150" dirty="0"/>
          </a:p>
        </p:txBody>
      </p:sp>
      <p:sp>
        <p:nvSpPr>
          <p:cNvPr id="21" name="Shape 18"/>
          <p:cNvSpPr/>
          <p:nvPr/>
        </p:nvSpPr>
        <p:spPr>
          <a:xfrm>
            <a:off x="594360" y="3931920"/>
            <a:ext cx="2606040" cy="1828800"/>
          </a:xfrm>
          <a:prstGeom prst="roundRect">
            <a:avLst>
              <a:gd name="adj" fmla="val 4000"/>
            </a:avLst>
          </a:prstGeom>
          <a:solidFill>
            <a:srgbClr val="13263D"/>
          </a:solidFill>
          <a:ln w="12700">
            <a:solidFill>
              <a:srgbClr val="27435F"/>
            </a:solidFill>
            <a:prstDash val="solid"/>
          </a:ln>
        </p:spPr>
      </p:sp>
      <p:sp>
        <p:nvSpPr>
          <p:cNvPr id="22" name="Shape 19"/>
          <p:cNvSpPr/>
          <p:nvPr/>
        </p:nvSpPr>
        <p:spPr>
          <a:xfrm>
            <a:off x="594360" y="3931920"/>
            <a:ext cx="2606040" cy="64008"/>
          </a:xfrm>
          <a:prstGeom prst="rect">
            <a:avLst/>
          </a:prstGeom>
          <a:solidFill>
            <a:srgbClr val="F5821F"/>
          </a:solidFill>
          <a:ln/>
        </p:spPr>
      </p:sp>
      <p:sp>
        <p:nvSpPr>
          <p:cNvPr id="23" name="Text 20"/>
          <p:cNvSpPr/>
          <p:nvPr/>
        </p:nvSpPr>
        <p:spPr>
          <a:xfrm>
            <a:off x="795528" y="4160520"/>
            <a:ext cx="2240280" cy="5486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Information density</a:t>
            </a:r>
            <a:endParaRPr lang="en-US" sz="1400" dirty="0"/>
          </a:p>
        </p:txBody>
      </p:sp>
      <p:sp>
        <p:nvSpPr>
          <p:cNvPr id="24" name="Text 21"/>
          <p:cNvSpPr/>
          <p:nvPr/>
        </p:nvSpPr>
        <p:spPr>
          <a:xfrm>
            <a:off x="795528" y="4709160"/>
            <a:ext cx="2240280" cy="914400"/>
          </a:xfrm>
          <a:prstGeom prst="rect">
            <a:avLst/>
          </a:prstGeom>
          <a:noFill/>
          <a:ln/>
        </p:spPr>
        <p:txBody>
          <a:bodyPr wrap="square" rtlCol="0" anchor="ctr"/>
          <a:lstStyle/>
          <a:p>
            <a:pPr indent="0" marL="0">
              <a:lnSpc>
                <a:spcPts val="1600"/>
              </a:lnSpc>
              <a:buNone/>
            </a:pPr>
            <a:r>
              <a:rPr lang="en-US" sz="1150" dirty="0">
                <a:solidFill>
                  <a:srgbClr val="9DB2C8"/>
                </a:solidFill>
                <a:latin typeface="Calibri" pitchFamily="34" charset="0"/>
                <a:ea typeface="Calibri" pitchFamily="34" charset="-122"/>
                <a:cs typeface="Calibri" pitchFamily="34" charset="-120"/>
              </a:rPr>
              <a:t>Complex data without overwhelming dispatchers</a:t>
            </a:r>
            <a:endParaRPr lang="en-US" sz="1150" dirty="0"/>
          </a:p>
        </p:txBody>
      </p:sp>
      <p:sp>
        <p:nvSpPr>
          <p:cNvPr id="25" name="Shape 22"/>
          <p:cNvSpPr/>
          <p:nvPr/>
        </p:nvSpPr>
        <p:spPr>
          <a:xfrm>
            <a:off x="3410712" y="3931920"/>
            <a:ext cx="2606040" cy="1828800"/>
          </a:xfrm>
          <a:prstGeom prst="roundRect">
            <a:avLst>
              <a:gd name="adj" fmla="val 4000"/>
            </a:avLst>
          </a:prstGeom>
          <a:solidFill>
            <a:srgbClr val="13263D"/>
          </a:solidFill>
          <a:ln w="12700">
            <a:solidFill>
              <a:srgbClr val="27435F"/>
            </a:solidFill>
            <a:prstDash val="solid"/>
          </a:ln>
        </p:spPr>
      </p:sp>
      <p:sp>
        <p:nvSpPr>
          <p:cNvPr id="26" name="Shape 23"/>
          <p:cNvSpPr/>
          <p:nvPr/>
        </p:nvSpPr>
        <p:spPr>
          <a:xfrm>
            <a:off x="3410712" y="3931920"/>
            <a:ext cx="2606040" cy="64008"/>
          </a:xfrm>
          <a:prstGeom prst="rect">
            <a:avLst/>
          </a:prstGeom>
          <a:solidFill>
            <a:srgbClr val="10B981"/>
          </a:solidFill>
          <a:ln/>
        </p:spPr>
      </p:sp>
      <p:sp>
        <p:nvSpPr>
          <p:cNvPr id="27" name="Text 24"/>
          <p:cNvSpPr/>
          <p:nvPr/>
        </p:nvSpPr>
        <p:spPr>
          <a:xfrm>
            <a:off x="3611880" y="4160520"/>
            <a:ext cx="2240280" cy="5486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Live and responsive</a:t>
            </a:r>
            <a:endParaRPr lang="en-US" sz="1400" dirty="0"/>
          </a:p>
        </p:txBody>
      </p:sp>
      <p:sp>
        <p:nvSpPr>
          <p:cNvPr id="28" name="Text 25"/>
          <p:cNvSpPr/>
          <p:nvPr/>
        </p:nvSpPr>
        <p:spPr>
          <a:xfrm>
            <a:off x="3611880" y="4709160"/>
            <a:ext cx="2240280" cy="914400"/>
          </a:xfrm>
          <a:prstGeom prst="rect">
            <a:avLst/>
          </a:prstGeom>
          <a:noFill/>
          <a:ln/>
        </p:spPr>
        <p:txBody>
          <a:bodyPr wrap="square" rtlCol="0" anchor="ctr"/>
          <a:lstStyle/>
          <a:p>
            <a:pPr indent="0" marL="0">
              <a:lnSpc>
                <a:spcPts val="1600"/>
              </a:lnSpc>
              <a:buNone/>
            </a:pPr>
            <a:r>
              <a:rPr lang="en-US" sz="1150" dirty="0">
                <a:solidFill>
                  <a:srgbClr val="9DB2C8"/>
                </a:solidFill>
                <a:latin typeface="Calibri" pitchFamily="34" charset="0"/>
                <a:ea typeface="Calibri" pitchFamily="34" charset="-122"/>
                <a:cs typeface="Calibri" pitchFamily="34" charset="-120"/>
              </a:rPr>
              <a:t>Real-time updates with a fast interface</a:t>
            </a:r>
            <a:endParaRPr lang="en-US" sz="1150" dirty="0"/>
          </a:p>
        </p:txBody>
      </p:sp>
      <p:sp>
        <p:nvSpPr>
          <p:cNvPr id="29" name="Shape 26"/>
          <p:cNvSpPr/>
          <p:nvPr/>
        </p:nvSpPr>
        <p:spPr>
          <a:xfrm>
            <a:off x="6227064" y="3931920"/>
            <a:ext cx="2606040" cy="1828800"/>
          </a:xfrm>
          <a:prstGeom prst="roundRect">
            <a:avLst>
              <a:gd name="adj" fmla="val 4000"/>
            </a:avLst>
          </a:prstGeom>
          <a:solidFill>
            <a:srgbClr val="13263D"/>
          </a:solidFill>
          <a:ln w="12700">
            <a:solidFill>
              <a:srgbClr val="27435F"/>
            </a:solidFill>
            <a:prstDash val="solid"/>
          </a:ln>
        </p:spPr>
      </p:sp>
      <p:sp>
        <p:nvSpPr>
          <p:cNvPr id="30" name="Shape 27"/>
          <p:cNvSpPr/>
          <p:nvPr/>
        </p:nvSpPr>
        <p:spPr>
          <a:xfrm>
            <a:off x="6227064" y="3931920"/>
            <a:ext cx="2606040" cy="64008"/>
          </a:xfrm>
          <a:prstGeom prst="rect">
            <a:avLst/>
          </a:prstGeom>
          <a:solidFill>
            <a:srgbClr val="F5821F"/>
          </a:solidFill>
          <a:ln/>
        </p:spPr>
      </p:sp>
      <p:sp>
        <p:nvSpPr>
          <p:cNvPr id="31" name="Text 28"/>
          <p:cNvSpPr/>
          <p:nvPr/>
        </p:nvSpPr>
        <p:spPr>
          <a:xfrm>
            <a:off x="6428232" y="4160520"/>
            <a:ext cx="2240280" cy="5486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Events to money</a:t>
            </a:r>
            <a:endParaRPr lang="en-US" sz="1400" dirty="0"/>
          </a:p>
        </p:txBody>
      </p:sp>
      <p:sp>
        <p:nvSpPr>
          <p:cNvPr id="32" name="Text 29"/>
          <p:cNvSpPr/>
          <p:nvPr/>
        </p:nvSpPr>
        <p:spPr>
          <a:xfrm>
            <a:off x="6428232" y="4709160"/>
            <a:ext cx="2240280" cy="914400"/>
          </a:xfrm>
          <a:prstGeom prst="rect">
            <a:avLst/>
          </a:prstGeom>
          <a:noFill/>
          <a:ln/>
        </p:spPr>
        <p:txBody>
          <a:bodyPr wrap="square" rtlCol="0" anchor="ctr"/>
          <a:lstStyle/>
          <a:p>
            <a:pPr indent="0" marL="0">
              <a:lnSpc>
                <a:spcPts val="1600"/>
              </a:lnSpc>
              <a:buNone/>
            </a:pPr>
            <a:r>
              <a:rPr lang="en-US" sz="1150" dirty="0">
                <a:solidFill>
                  <a:srgbClr val="9DB2C8"/>
                </a:solidFill>
                <a:latin typeface="Calibri" pitchFamily="34" charset="0"/>
                <a:ea typeface="Calibri" pitchFamily="34" charset="-122"/>
                <a:cs typeface="Calibri" pitchFamily="34" charset="-120"/>
              </a:rPr>
              <a:t>Turning operational events into financial consequences</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p:nvPr/>
        </p:nvSpPr>
        <p:spPr>
          <a:xfrm>
            <a:off x="594360" y="384048"/>
            <a:ext cx="7315200" cy="274320"/>
          </a:xfrm>
          <a:prstGeom prst="rect">
            <a:avLst/>
          </a:prstGeom>
          <a:noFill/>
          <a:ln/>
        </p:spPr>
        <p:txBody>
          <a:bodyPr wrap="square" rtlCol="0" anchor="ctr"/>
          <a:lstStyle/>
          <a:p>
            <a:pPr indent="0" marL="0">
              <a:buNone/>
            </a:pPr>
            <a:r>
              <a:rPr lang="en-US" sz="1300" b="1" spc="300" kern="0" dirty="0">
                <a:solidFill>
                  <a:srgbClr val="F5821F"/>
                </a:solidFill>
                <a:latin typeface="Calibri" pitchFamily="34" charset="0"/>
                <a:ea typeface="Calibri" pitchFamily="34" charset="-122"/>
                <a:cs typeface="Calibri" pitchFamily="34" charset="-120"/>
              </a:rPr>
              <a:t>FUTURE ROADMAP</a:t>
            </a:r>
            <a:endParaRPr lang="en-US" sz="1300" dirty="0"/>
          </a:p>
        </p:txBody>
      </p:sp>
      <p:sp>
        <p:nvSpPr>
          <p:cNvPr id="4" name="Text 1"/>
          <p:cNvSpPr/>
          <p:nvPr/>
        </p:nvSpPr>
        <p:spPr>
          <a:xfrm>
            <a:off x="548640" y="685800"/>
            <a:ext cx="10607040" cy="777240"/>
          </a:xfrm>
          <a:prstGeom prst="rect">
            <a:avLst/>
          </a:prstGeom>
          <a:noFill/>
          <a:ln/>
        </p:spPr>
        <p:txBody>
          <a:bodyPr wrap="square" rtlCol="0" anchor="ctr"/>
          <a:lstStyle/>
          <a:p>
            <a:pPr indent="0" marL="0">
              <a:buNone/>
            </a:pPr>
            <a:r>
              <a:rPr lang="en-US" sz="4000" dirty="0">
                <a:solidFill>
                  <a:srgbClr val="FFFFFF"/>
                </a:solidFill>
                <a:latin typeface="Arial Black" pitchFamily="34" charset="0"/>
                <a:ea typeface="Arial Black" pitchFamily="34" charset="-122"/>
                <a:cs typeface="Arial Black" pitchFamily="34" charset="-120"/>
              </a:rPr>
              <a:t>Where Turnaround goes next</a:t>
            </a:r>
            <a:endParaRPr lang="en-US" sz="4000" dirty="0"/>
          </a:p>
        </p:txBody>
      </p:sp>
      <p:sp>
        <p:nvSpPr>
          <p:cNvPr id="5" name="Shape 2"/>
          <p:cNvSpPr/>
          <p:nvPr/>
        </p:nvSpPr>
        <p:spPr>
          <a:xfrm>
            <a:off x="594360" y="1965960"/>
            <a:ext cx="3474720" cy="3566160"/>
          </a:xfrm>
          <a:prstGeom prst="roundRect">
            <a:avLst>
              <a:gd name="adj" fmla="val 2105"/>
            </a:avLst>
          </a:prstGeom>
          <a:solidFill>
            <a:srgbClr val="13263D"/>
          </a:solidFill>
          <a:ln w="12700">
            <a:solidFill>
              <a:srgbClr val="27435F"/>
            </a:solidFill>
            <a:prstDash val="solid"/>
          </a:ln>
        </p:spPr>
      </p:sp>
      <p:sp>
        <p:nvSpPr>
          <p:cNvPr id="6" name="Shape 3"/>
          <p:cNvSpPr/>
          <p:nvPr/>
        </p:nvSpPr>
        <p:spPr>
          <a:xfrm>
            <a:off x="822960" y="2194560"/>
            <a:ext cx="347472" cy="347472"/>
          </a:xfrm>
          <a:prstGeom prst="ellipse">
            <a:avLst/>
          </a:prstGeom>
          <a:solidFill>
            <a:srgbClr val="F5821F"/>
          </a:solidFill>
          <a:ln/>
        </p:spPr>
      </p:sp>
      <p:sp>
        <p:nvSpPr>
          <p:cNvPr id="7" name="Text 4"/>
          <p:cNvSpPr/>
          <p:nvPr/>
        </p:nvSpPr>
        <p:spPr>
          <a:xfrm>
            <a:off x="1280160" y="2194560"/>
            <a:ext cx="2651760" cy="347472"/>
          </a:xfrm>
          <a:prstGeom prst="rect">
            <a:avLst/>
          </a:prstGeom>
          <a:noFill/>
          <a:ln/>
        </p:spPr>
        <p:txBody>
          <a:bodyPr wrap="square" lIns="0" tIns="0" rIns="0" bIns="0" rtlCol="0" anchor="ctr"/>
          <a:lstStyle/>
          <a:p>
            <a:pPr indent="0" marL="0">
              <a:buNone/>
            </a:pPr>
            <a:r>
              <a:rPr lang="en-US" sz="1200" b="1" spc="150" kern="0" dirty="0">
                <a:solidFill>
                  <a:srgbClr val="F5821F"/>
                </a:solidFill>
                <a:latin typeface="Calibri" pitchFamily="34" charset="0"/>
                <a:ea typeface="Calibri" pitchFamily="34" charset="-122"/>
                <a:cs typeface="Calibri" pitchFamily="34" charset="-120"/>
              </a:rPr>
              <a:t>CONNECTIVITY</a:t>
            </a:r>
            <a:endParaRPr lang="en-US" sz="1200" dirty="0"/>
          </a:p>
        </p:txBody>
      </p:sp>
      <p:sp>
        <p:nvSpPr>
          <p:cNvPr id="8" name="Text 5"/>
          <p:cNvSpPr/>
          <p:nvPr/>
        </p:nvSpPr>
        <p:spPr>
          <a:xfrm>
            <a:off x="822960" y="2697480"/>
            <a:ext cx="3017520" cy="2651760"/>
          </a:xfrm>
          <a:prstGeom prst="rect">
            <a:avLst/>
          </a:prstGeom>
          <a:noFill/>
          <a:ln/>
        </p:spPr>
        <p:txBody>
          <a:bodyPr wrap="square" rtlCol="0" anchor="t"/>
          <a:lstStyle/>
          <a:p>
            <a:pPr marL="342900" indent="-342900">
              <a:lnSpc>
                <a:spcPts val="2200"/>
              </a:lnSpc>
              <a:buSzPct val="100000"/>
              <a:buChar char="▪"/>
            </a:pPr>
            <a:r>
              <a:rPr lang="en-US" sz="1300" dirty="0">
                <a:solidFill>
                  <a:srgbClr val="FFFFFF"/>
                </a:solidFill>
                <a:latin typeface="Calibri" pitchFamily="34" charset="0"/>
                <a:ea typeface="Calibri" pitchFamily="34" charset="-122"/>
                <a:cs typeface="Calibri" pitchFamily="34" charset="-120"/>
              </a:rPr>
              <a:t>Traccar, Teltonika, Samsara, Cartrack integrations</a:t>
            </a:r>
            <a:endParaRPr lang="en-US" sz="1300" dirty="0"/>
          </a:p>
          <a:p>
            <a:pPr marL="342900" indent="-342900">
              <a:lnSpc>
                <a:spcPts val="2200"/>
              </a:lnSpc>
              <a:buSzPct val="100000"/>
              <a:buChar char="▪"/>
            </a:pPr>
            <a:r>
              <a:rPr lang="en-US" sz="1300" dirty="0">
                <a:solidFill>
                  <a:srgbClr val="FFFFFF"/>
                </a:solidFill>
                <a:latin typeface="Calibri" pitchFamily="34" charset="0"/>
                <a:ea typeface="Calibri" pitchFamily="34" charset="-122"/>
                <a:cs typeface="Calibri" pitchFamily="34" charset="-120"/>
              </a:rPr>
              <a:t>Automated provider webhook mapping by IMEI</a:t>
            </a:r>
            <a:endParaRPr lang="en-US" sz="1300" dirty="0"/>
          </a:p>
          <a:p>
            <a:pPr marL="342900" indent="-342900">
              <a:lnSpc>
                <a:spcPts val="2200"/>
              </a:lnSpc>
              <a:buSzPct val="100000"/>
              <a:buChar char="▪"/>
            </a:pPr>
            <a:r>
              <a:rPr lang="en-US" sz="1300" dirty="0">
                <a:solidFill>
                  <a:srgbClr val="FFFFFF"/>
                </a:solidFill>
                <a:latin typeface="Calibri" pitchFamily="34" charset="0"/>
                <a:ea typeface="Calibri" pitchFamily="34" charset="-122"/>
                <a:cs typeface="Calibri" pitchFamily="34" charset="-120"/>
              </a:rPr>
              <a:t>Offline telemetry buffering for weak-signal corridors</a:t>
            </a:r>
            <a:endParaRPr lang="en-US" sz="1300" dirty="0"/>
          </a:p>
        </p:txBody>
      </p:sp>
      <p:sp>
        <p:nvSpPr>
          <p:cNvPr id="9" name="Shape 6"/>
          <p:cNvSpPr/>
          <p:nvPr/>
        </p:nvSpPr>
        <p:spPr>
          <a:xfrm>
            <a:off x="4297680" y="1965960"/>
            <a:ext cx="3474720" cy="3566160"/>
          </a:xfrm>
          <a:prstGeom prst="roundRect">
            <a:avLst>
              <a:gd name="adj" fmla="val 2105"/>
            </a:avLst>
          </a:prstGeom>
          <a:solidFill>
            <a:srgbClr val="13263D"/>
          </a:solidFill>
          <a:ln w="12700">
            <a:solidFill>
              <a:srgbClr val="27435F"/>
            </a:solidFill>
            <a:prstDash val="solid"/>
          </a:ln>
        </p:spPr>
      </p:sp>
      <p:sp>
        <p:nvSpPr>
          <p:cNvPr id="10" name="Shape 7"/>
          <p:cNvSpPr/>
          <p:nvPr/>
        </p:nvSpPr>
        <p:spPr>
          <a:xfrm>
            <a:off x="4526280" y="2194560"/>
            <a:ext cx="347472" cy="347472"/>
          </a:xfrm>
          <a:prstGeom prst="ellipse">
            <a:avLst/>
          </a:prstGeom>
          <a:solidFill>
            <a:srgbClr val="10B981"/>
          </a:solidFill>
          <a:ln/>
        </p:spPr>
      </p:sp>
      <p:sp>
        <p:nvSpPr>
          <p:cNvPr id="11" name="Text 8"/>
          <p:cNvSpPr/>
          <p:nvPr/>
        </p:nvSpPr>
        <p:spPr>
          <a:xfrm>
            <a:off x="4983480" y="2194560"/>
            <a:ext cx="2651760" cy="347472"/>
          </a:xfrm>
          <a:prstGeom prst="rect">
            <a:avLst/>
          </a:prstGeom>
          <a:noFill/>
          <a:ln/>
        </p:spPr>
        <p:txBody>
          <a:bodyPr wrap="square" lIns="0" tIns="0" rIns="0" bIns="0" rtlCol="0" anchor="ctr"/>
          <a:lstStyle/>
          <a:p>
            <a:pPr indent="0" marL="0">
              <a:buNone/>
            </a:pPr>
            <a:r>
              <a:rPr lang="en-US" sz="1200" b="1" spc="150" kern="0" dirty="0">
                <a:solidFill>
                  <a:srgbClr val="10B981"/>
                </a:solidFill>
                <a:latin typeface="Calibri" pitchFamily="34" charset="0"/>
                <a:ea typeface="Calibri" pitchFamily="34" charset="-122"/>
                <a:cs typeface="Calibri" pitchFamily="34" charset="-120"/>
              </a:rPr>
              <a:t>INTELLIGENCE</a:t>
            </a:r>
            <a:endParaRPr lang="en-US" sz="1200" dirty="0"/>
          </a:p>
        </p:txBody>
      </p:sp>
      <p:sp>
        <p:nvSpPr>
          <p:cNvPr id="12" name="Text 9"/>
          <p:cNvSpPr/>
          <p:nvPr/>
        </p:nvSpPr>
        <p:spPr>
          <a:xfrm>
            <a:off x="4526280" y="2697480"/>
            <a:ext cx="3017520" cy="2651760"/>
          </a:xfrm>
          <a:prstGeom prst="rect">
            <a:avLst/>
          </a:prstGeom>
          <a:noFill/>
          <a:ln/>
        </p:spPr>
        <p:txBody>
          <a:bodyPr wrap="square" rtlCol="0" anchor="t"/>
          <a:lstStyle/>
          <a:p>
            <a:pPr marL="342900" indent="-342900">
              <a:lnSpc>
                <a:spcPts val="2200"/>
              </a:lnSpc>
              <a:buSzPct val="100000"/>
              <a:buChar char="▪"/>
            </a:pPr>
            <a:r>
              <a:rPr lang="en-US" sz="1300" dirty="0">
                <a:solidFill>
                  <a:srgbClr val="FFFFFF"/>
                </a:solidFill>
                <a:latin typeface="Calibri" pitchFamily="34" charset="0"/>
                <a:ea typeface="Calibri" pitchFamily="34" charset="-122"/>
                <a:cs typeface="Calibri" pitchFamily="34" charset="-120"/>
              </a:rPr>
              <a:t>Predictive arrival and delay forecasting</a:t>
            </a:r>
            <a:endParaRPr lang="en-US" sz="1300" dirty="0"/>
          </a:p>
          <a:p>
            <a:pPr marL="342900" indent="-342900">
              <a:lnSpc>
                <a:spcPts val="2200"/>
              </a:lnSpc>
              <a:buSzPct val="100000"/>
              <a:buChar char="▪"/>
            </a:pPr>
            <a:r>
              <a:rPr lang="en-US" sz="1300" dirty="0">
                <a:solidFill>
                  <a:srgbClr val="FFFFFF"/>
                </a:solidFill>
                <a:latin typeface="Calibri" pitchFamily="34" charset="0"/>
                <a:ea typeface="Calibri" pitchFamily="34" charset="-122"/>
                <a:cs typeface="Calibri" pitchFamily="34" charset="-120"/>
              </a:rPr>
              <a:t>Carrier benchmarking and customer-facing reports</a:t>
            </a:r>
            <a:endParaRPr lang="en-US" sz="1300" dirty="0"/>
          </a:p>
          <a:p>
            <a:pPr marL="342900" indent="-342900">
              <a:lnSpc>
                <a:spcPts val="2200"/>
              </a:lnSpc>
              <a:buSzPct val="100000"/>
              <a:buChar char="▪"/>
            </a:pPr>
            <a:r>
              <a:rPr lang="en-US" sz="1300" dirty="0">
                <a:solidFill>
                  <a:srgbClr val="FFFFFF"/>
                </a:solidFill>
                <a:latin typeface="Calibri" pitchFamily="34" charset="0"/>
                <a:ea typeface="Calibri" pitchFamily="34" charset="-122"/>
                <a:cs typeface="Calibri" pitchFamily="34" charset="-120"/>
              </a:rPr>
              <a:t>Automated demurrage claim workflows</a:t>
            </a:r>
            <a:endParaRPr lang="en-US" sz="1300" dirty="0"/>
          </a:p>
        </p:txBody>
      </p:sp>
      <p:sp>
        <p:nvSpPr>
          <p:cNvPr id="13" name="Shape 10"/>
          <p:cNvSpPr/>
          <p:nvPr/>
        </p:nvSpPr>
        <p:spPr>
          <a:xfrm>
            <a:off x="8001000" y="1965960"/>
            <a:ext cx="3474720" cy="3566160"/>
          </a:xfrm>
          <a:prstGeom prst="roundRect">
            <a:avLst>
              <a:gd name="adj" fmla="val 2105"/>
            </a:avLst>
          </a:prstGeom>
          <a:solidFill>
            <a:srgbClr val="13263D"/>
          </a:solidFill>
          <a:ln w="12700">
            <a:solidFill>
              <a:srgbClr val="27435F"/>
            </a:solidFill>
            <a:prstDash val="solid"/>
          </a:ln>
        </p:spPr>
      </p:sp>
      <p:sp>
        <p:nvSpPr>
          <p:cNvPr id="14" name="Shape 11"/>
          <p:cNvSpPr/>
          <p:nvPr/>
        </p:nvSpPr>
        <p:spPr>
          <a:xfrm>
            <a:off x="8229600" y="2194560"/>
            <a:ext cx="347472" cy="347472"/>
          </a:xfrm>
          <a:prstGeom prst="ellipse">
            <a:avLst/>
          </a:prstGeom>
          <a:solidFill>
            <a:srgbClr val="F5821F"/>
          </a:solidFill>
          <a:ln/>
        </p:spPr>
      </p:sp>
      <p:sp>
        <p:nvSpPr>
          <p:cNvPr id="15" name="Text 12"/>
          <p:cNvSpPr/>
          <p:nvPr/>
        </p:nvSpPr>
        <p:spPr>
          <a:xfrm>
            <a:off x="8686800" y="2194560"/>
            <a:ext cx="2651760" cy="347472"/>
          </a:xfrm>
          <a:prstGeom prst="rect">
            <a:avLst/>
          </a:prstGeom>
          <a:noFill/>
          <a:ln/>
        </p:spPr>
        <p:txBody>
          <a:bodyPr wrap="square" lIns="0" tIns="0" rIns="0" bIns="0" rtlCol="0" anchor="ctr"/>
          <a:lstStyle/>
          <a:p>
            <a:pPr indent="0" marL="0">
              <a:buNone/>
            </a:pPr>
            <a:r>
              <a:rPr lang="en-US" sz="1200" b="1" spc="150" kern="0" dirty="0">
                <a:solidFill>
                  <a:srgbClr val="F5821F"/>
                </a:solidFill>
                <a:latin typeface="Calibri" pitchFamily="34" charset="0"/>
                <a:ea typeface="Calibri" pitchFamily="34" charset="-122"/>
                <a:cs typeface="Calibri" pitchFamily="34" charset="-120"/>
              </a:rPr>
              <a:t>OPERATIONS</a:t>
            </a:r>
            <a:endParaRPr lang="en-US" sz="1200" dirty="0"/>
          </a:p>
        </p:txBody>
      </p:sp>
      <p:sp>
        <p:nvSpPr>
          <p:cNvPr id="16" name="Text 13"/>
          <p:cNvSpPr/>
          <p:nvPr/>
        </p:nvSpPr>
        <p:spPr>
          <a:xfrm>
            <a:off x="8229600" y="2697480"/>
            <a:ext cx="3017520" cy="2651760"/>
          </a:xfrm>
          <a:prstGeom prst="rect">
            <a:avLst/>
          </a:prstGeom>
          <a:noFill/>
          <a:ln/>
        </p:spPr>
        <p:txBody>
          <a:bodyPr wrap="square" rtlCol="0" anchor="t"/>
          <a:lstStyle/>
          <a:p>
            <a:pPr marL="342900" indent="-342900">
              <a:lnSpc>
                <a:spcPts val="2200"/>
              </a:lnSpc>
              <a:buSzPct val="100000"/>
              <a:buChar char="▪"/>
            </a:pPr>
            <a:r>
              <a:rPr lang="en-US" sz="1300" dirty="0">
                <a:solidFill>
                  <a:srgbClr val="FFFFFF"/>
                </a:solidFill>
                <a:latin typeface="Calibri" pitchFamily="34" charset="0"/>
                <a:ea typeface="Calibri" pitchFamily="34" charset="-122"/>
                <a:cs typeface="Calibri" pitchFamily="34" charset="-120"/>
              </a:rPr>
              <a:t>Mobile driver app for trip updates and proof of delivery</a:t>
            </a:r>
            <a:endParaRPr lang="en-US" sz="1300" dirty="0"/>
          </a:p>
          <a:p>
            <a:pPr marL="342900" indent="-342900">
              <a:lnSpc>
                <a:spcPts val="2200"/>
              </a:lnSpc>
              <a:buSzPct val="100000"/>
              <a:buChar char="▪"/>
            </a:pPr>
            <a:r>
              <a:rPr lang="en-US" sz="1300" dirty="0">
                <a:solidFill>
                  <a:srgbClr val="FFFFFF"/>
                </a:solidFill>
                <a:latin typeface="Calibri" pitchFamily="34" charset="0"/>
                <a:ea typeface="Calibri" pitchFamily="34" charset="-122"/>
                <a:cs typeface="Calibri" pitchFamily="34" charset="-120"/>
              </a:rPr>
              <a:t>Granular container lifecycle tracking</a:t>
            </a:r>
            <a:endParaRPr lang="en-US" sz="1300" dirty="0"/>
          </a:p>
          <a:p>
            <a:pPr marL="342900" indent="-342900">
              <a:lnSpc>
                <a:spcPts val="2200"/>
              </a:lnSpc>
              <a:buSzPct val="100000"/>
              <a:buChar char="▪"/>
            </a:pPr>
            <a:r>
              <a:rPr lang="en-US" sz="1300" dirty="0">
                <a:solidFill>
                  <a:srgbClr val="FFFFFF"/>
                </a:solidFill>
                <a:latin typeface="Calibri" pitchFamily="34" charset="0"/>
                <a:ea typeface="Calibri" pitchFamily="34" charset="-122"/>
                <a:cs typeface="Calibri" pitchFamily="34" charset="-120"/>
              </a:rPr>
              <a:t>Yard-position tracking</a:t>
            </a:r>
            <a:endParaRPr lang="en-US" sz="1300" dirty="0"/>
          </a:p>
        </p:txBody>
      </p:sp>
      <p:sp>
        <p:nvSpPr>
          <p:cNvPr id="17" name="Text 14"/>
          <p:cNvSpPr/>
          <p:nvPr/>
        </p:nvSpPr>
        <p:spPr>
          <a:xfrm>
            <a:off x="594360" y="5669280"/>
            <a:ext cx="10881360" cy="320040"/>
          </a:xfrm>
          <a:prstGeom prst="rect">
            <a:avLst/>
          </a:prstGeom>
          <a:noFill/>
          <a:ln/>
        </p:spPr>
        <p:txBody>
          <a:bodyPr wrap="square" rtlCol="0" anchor="ctr"/>
          <a:lstStyle/>
          <a:p>
            <a:pPr indent="0" marL="0">
              <a:buNone/>
            </a:pPr>
            <a:r>
              <a:rPr lang="en-US" sz="1200" i="1" dirty="0">
                <a:solidFill>
                  <a:srgbClr val="9DB2C8"/>
                </a:solidFill>
                <a:latin typeface="Calibri" pitchFamily="34" charset="0"/>
                <a:ea typeface="Calibri" pitchFamily="34" charset="-122"/>
                <a:cs typeface="Calibri" pitchFamily="34" charset="-120"/>
              </a:rPr>
              <a:t>Planned direction — not yet shipped.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p:nvPr/>
        </p:nvSpPr>
        <p:spPr>
          <a:xfrm>
            <a:off x="594360" y="384048"/>
            <a:ext cx="7315200" cy="274320"/>
          </a:xfrm>
          <a:prstGeom prst="rect">
            <a:avLst/>
          </a:prstGeom>
          <a:noFill/>
          <a:ln/>
        </p:spPr>
        <p:txBody>
          <a:bodyPr wrap="square" rtlCol="0" anchor="ctr"/>
          <a:lstStyle/>
          <a:p>
            <a:pPr indent="0" marL="0">
              <a:buNone/>
            </a:pPr>
            <a:r>
              <a:rPr lang="en-US" sz="1300" b="1" spc="300" kern="0" dirty="0">
                <a:solidFill>
                  <a:srgbClr val="F5821F"/>
                </a:solidFill>
                <a:latin typeface="Calibri" pitchFamily="34" charset="0"/>
                <a:ea typeface="Calibri" pitchFamily="34" charset="-122"/>
                <a:cs typeface="Calibri" pitchFamily="34" charset="-120"/>
              </a:rPr>
              <a:t>DEMO FLOW</a:t>
            </a:r>
            <a:endParaRPr lang="en-US" sz="1300" dirty="0"/>
          </a:p>
        </p:txBody>
      </p:sp>
      <p:sp>
        <p:nvSpPr>
          <p:cNvPr id="4" name="Text 1"/>
          <p:cNvSpPr/>
          <p:nvPr/>
        </p:nvSpPr>
        <p:spPr>
          <a:xfrm>
            <a:off x="548640" y="685800"/>
            <a:ext cx="10607040" cy="777240"/>
          </a:xfrm>
          <a:prstGeom prst="rect">
            <a:avLst/>
          </a:prstGeom>
          <a:noFill/>
          <a:ln/>
        </p:spPr>
        <p:txBody>
          <a:bodyPr wrap="square" rtlCol="0" anchor="ctr"/>
          <a:lstStyle/>
          <a:p>
            <a:pPr indent="0" marL="0">
              <a:buNone/>
            </a:pPr>
            <a:r>
              <a:rPr lang="en-US" sz="4000" dirty="0">
                <a:solidFill>
                  <a:srgbClr val="FFFFFF"/>
                </a:solidFill>
                <a:latin typeface="Arial Black" pitchFamily="34" charset="0"/>
                <a:ea typeface="Arial Black" pitchFamily="34" charset="-122"/>
                <a:cs typeface="Arial Black" pitchFamily="34" charset="-120"/>
              </a:rPr>
              <a:t>Ten steps, one story</a:t>
            </a:r>
            <a:endParaRPr lang="en-US" sz="4000" dirty="0"/>
          </a:p>
        </p:txBody>
      </p:sp>
      <p:sp>
        <p:nvSpPr>
          <p:cNvPr id="5" name="Shape 2"/>
          <p:cNvSpPr/>
          <p:nvPr/>
        </p:nvSpPr>
        <p:spPr>
          <a:xfrm>
            <a:off x="594360" y="1783080"/>
            <a:ext cx="5349240" cy="566928"/>
          </a:xfrm>
          <a:prstGeom prst="rect">
            <a:avLst/>
          </a:prstGeom>
          <a:solidFill>
            <a:srgbClr val="13263D"/>
          </a:solidFill>
          <a:ln w="12700">
            <a:solidFill>
              <a:srgbClr val="27435F"/>
            </a:solidFill>
            <a:prstDash val="solid"/>
          </a:ln>
        </p:spPr>
      </p:sp>
      <p:sp>
        <p:nvSpPr>
          <p:cNvPr id="6" name="Shape 3"/>
          <p:cNvSpPr/>
          <p:nvPr/>
        </p:nvSpPr>
        <p:spPr>
          <a:xfrm>
            <a:off x="594360" y="1783080"/>
            <a:ext cx="566928" cy="566928"/>
          </a:xfrm>
          <a:prstGeom prst="rect">
            <a:avLst/>
          </a:prstGeom>
          <a:solidFill>
            <a:srgbClr val="F5821F"/>
          </a:solidFill>
          <a:ln/>
        </p:spPr>
      </p:sp>
      <p:sp>
        <p:nvSpPr>
          <p:cNvPr id="7" name="Text 4"/>
          <p:cNvSpPr/>
          <p:nvPr/>
        </p:nvSpPr>
        <p:spPr>
          <a:xfrm>
            <a:off x="594360" y="1783080"/>
            <a:ext cx="566928" cy="566928"/>
          </a:xfrm>
          <a:prstGeom prst="rect">
            <a:avLst/>
          </a:prstGeom>
          <a:noFill/>
          <a:ln/>
        </p:spPr>
        <p:txBody>
          <a:bodyPr wrap="square" lIns="0" tIns="0" rIns="0" bIns="0" rtlCol="0" anchor="ctr"/>
          <a:lstStyle/>
          <a:p>
            <a:pPr algn="ctr" indent="0" marL="0">
              <a:buNone/>
            </a:pPr>
            <a:r>
              <a:rPr lang="en-US" sz="1500" b="1" dirty="0">
                <a:solidFill>
                  <a:srgbClr val="0B1A2E"/>
                </a:solidFill>
                <a:latin typeface="Calibri" pitchFamily="34" charset="0"/>
                <a:ea typeface="Calibri" pitchFamily="34" charset="-122"/>
                <a:cs typeface="Calibri" pitchFamily="34" charset="-120"/>
              </a:rPr>
              <a:t>1</a:t>
            </a:r>
            <a:endParaRPr lang="en-US" sz="1500" dirty="0"/>
          </a:p>
        </p:txBody>
      </p:sp>
      <p:sp>
        <p:nvSpPr>
          <p:cNvPr id="8" name="Text 5"/>
          <p:cNvSpPr/>
          <p:nvPr/>
        </p:nvSpPr>
        <p:spPr>
          <a:xfrm>
            <a:off x="1325880" y="1783080"/>
            <a:ext cx="452628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Sign in and open the operations dashboard</a:t>
            </a:r>
            <a:endParaRPr lang="en-US" sz="1300" dirty="0"/>
          </a:p>
        </p:txBody>
      </p:sp>
      <p:sp>
        <p:nvSpPr>
          <p:cNvPr id="9" name="Shape 6"/>
          <p:cNvSpPr/>
          <p:nvPr/>
        </p:nvSpPr>
        <p:spPr>
          <a:xfrm>
            <a:off x="6172200" y="1783080"/>
            <a:ext cx="5349240" cy="566928"/>
          </a:xfrm>
          <a:prstGeom prst="rect">
            <a:avLst/>
          </a:prstGeom>
          <a:solidFill>
            <a:srgbClr val="13263D"/>
          </a:solidFill>
          <a:ln w="12700">
            <a:solidFill>
              <a:srgbClr val="27435F"/>
            </a:solidFill>
            <a:prstDash val="solid"/>
          </a:ln>
        </p:spPr>
      </p:sp>
      <p:sp>
        <p:nvSpPr>
          <p:cNvPr id="10" name="Shape 7"/>
          <p:cNvSpPr/>
          <p:nvPr/>
        </p:nvSpPr>
        <p:spPr>
          <a:xfrm>
            <a:off x="6172200" y="1783080"/>
            <a:ext cx="566928" cy="566928"/>
          </a:xfrm>
          <a:prstGeom prst="rect">
            <a:avLst/>
          </a:prstGeom>
          <a:solidFill>
            <a:srgbClr val="10B981"/>
          </a:solidFill>
          <a:ln/>
        </p:spPr>
      </p:sp>
      <p:sp>
        <p:nvSpPr>
          <p:cNvPr id="11" name="Text 8"/>
          <p:cNvSpPr/>
          <p:nvPr/>
        </p:nvSpPr>
        <p:spPr>
          <a:xfrm>
            <a:off x="6172200" y="1783080"/>
            <a:ext cx="566928" cy="566928"/>
          </a:xfrm>
          <a:prstGeom prst="rect">
            <a:avLst/>
          </a:prstGeom>
          <a:noFill/>
          <a:ln/>
        </p:spPr>
        <p:txBody>
          <a:bodyPr wrap="square" lIns="0" tIns="0" rIns="0" bIns="0" rtlCol="0" anchor="ctr"/>
          <a:lstStyle/>
          <a:p>
            <a:pPr algn="ctr" indent="0" marL="0">
              <a:buNone/>
            </a:pPr>
            <a:r>
              <a:rPr lang="en-US" sz="1500" b="1" dirty="0">
                <a:solidFill>
                  <a:srgbClr val="0B1A2E"/>
                </a:solidFill>
                <a:latin typeface="Calibri" pitchFamily="34" charset="0"/>
                <a:ea typeface="Calibri" pitchFamily="34" charset="-122"/>
                <a:cs typeface="Calibri" pitchFamily="34" charset="-120"/>
              </a:rPr>
              <a:t>2</a:t>
            </a:r>
            <a:endParaRPr lang="en-US" sz="1500" dirty="0"/>
          </a:p>
        </p:txBody>
      </p:sp>
      <p:sp>
        <p:nvSpPr>
          <p:cNvPr id="12" name="Text 9"/>
          <p:cNvSpPr/>
          <p:nvPr/>
        </p:nvSpPr>
        <p:spPr>
          <a:xfrm>
            <a:off x="6903720" y="1783080"/>
            <a:ext cx="452628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Open the Carrier Assets page</a:t>
            </a:r>
            <a:endParaRPr lang="en-US" sz="1300" dirty="0"/>
          </a:p>
        </p:txBody>
      </p:sp>
      <p:sp>
        <p:nvSpPr>
          <p:cNvPr id="13" name="Shape 10"/>
          <p:cNvSpPr/>
          <p:nvPr/>
        </p:nvSpPr>
        <p:spPr>
          <a:xfrm>
            <a:off x="594360" y="2496312"/>
            <a:ext cx="5349240" cy="566928"/>
          </a:xfrm>
          <a:prstGeom prst="rect">
            <a:avLst/>
          </a:prstGeom>
          <a:solidFill>
            <a:srgbClr val="13263D"/>
          </a:solidFill>
          <a:ln w="12700">
            <a:solidFill>
              <a:srgbClr val="27435F"/>
            </a:solidFill>
            <a:prstDash val="solid"/>
          </a:ln>
        </p:spPr>
      </p:sp>
      <p:sp>
        <p:nvSpPr>
          <p:cNvPr id="14" name="Shape 11"/>
          <p:cNvSpPr/>
          <p:nvPr/>
        </p:nvSpPr>
        <p:spPr>
          <a:xfrm>
            <a:off x="594360" y="2496312"/>
            <a:ext cx="566928" cy="566928"/>
          </a:xfrm>
          <a:prstGeom prst="rect">
            <a:avLst/>
          </a:prstGeom>
          <a:solidFill>
            <a:srgbClr val="F5821F"/>
          </a:solidFill>
          <a:ln/>
        </p:spPr>
      </p:sp>
      <p:sp>
        <p:nvSpPr>
          <p:cNvPr id="15" name="Text 12"/>
          <p:cNvSpPr/>
          <p:nvPr/>
        </p:nvSpPr>
        <p:spPr>
          <a:xfrm>
            <a:off x="594360" y="2496312"/>
            <a:ext cx="566928" cy="566928"/>
          </a:xfrm>
          <a:prstGeom prst="rect">
            <a:avLst/>
          </a:prstGeom>
          <a:noFill/>
          <a:ln/>
        </p:spPr>
        <p:txBody>
          <a:bodyPr wrap="square" lIns="0" tIns="0" rIns="0" bIns="0" rtlCol="0" anchor="ctr"/>
          <a:lstStyle/>
          <a:p>
            <a:pPr algn="ctr" indent="0" marL="0">
              <a:buNone/>
            </a:pPr>
            <a:r>
              <a:rPr lang="en-US" sz="1500" b="1" dirty="0">
                <a:solidFill>
                  <a:srgbClr val="0B1A2E"/>
                </a:solidFill>
                <a:latin typeface="Calibri" pitchFamily="34" charset="0"/>
                <a:ea typeface="Calibri" pitchFamily="34" charset="-122"/>
                <a:cs typeface="Calibri" pitchFamily="34" charset="-120"/>
              </a:rPr>
              <a:t>3</a:t>
            </a:r>
            <a:endParaRPr lang="en-US" sz="1500" dirty="0"/>
          </a:p>
        </p:txBody>
      </p:sp>
      <p:sp>
        <p:nvSpPr>
          <p:cNvPr id="16" name="Text 13"/>
          <p:cNvSpPr/>
          <p:nvPr/>
        </p:nvSpPr>
        <p:spPr>
          <a:xfrm>
            <a:off x="1325880" y="2496312"/>
            <a:ext cx="452628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Contrast a powered vehicle with a container asset</a:t>
            </a:r>
            <a:endParaRPr lang="en-US" sz="1300" dirty="0"/>
          </a:p>
        </p:txBody>
      </p:sp>
      <p:sp>
        <p:nvSpPr>
          <p:cNvPr id="17" name="Shape 14"/>
          <p:cNvSpPr/>
          <p:nvPr/>
        </p:nvSpPr>
        <p:spPr>
          <a:xfrm>
            <a:off x="6172200" y="2496312"/>
            <a:ext cx="5349240" cy="566928"/>
          </a:xfrm>
          <a:prstGeom prst="rect">
            <a:avLst/>
          </a:prstGeom>
          <a:solidFill>
            <a:srgbClr val="13263D"/>
          </a:solidFill>
          <a:ln w="12700">
            <a:solidFill>
              <a:srgbClr val="27435F"/>
            </a:solidFill>
            <a:prstDash val="solid"/>
          </a:ln>
        </p:spPr>
      </p:sp>
      <p:sp>
        <p:nvSpPr>
          <p:cNvPr id="18" name="Shape 15"/>
          <p:cNvSpPr/>
          <p:nvPr/>
        </p:nvSpPr>
        <p:spPr>
          <a:xfrm>
            <a:off x="6172200" y="2496312"/>
            <a:ext cx="566928" cy="566928"/>
          </a:xfrm>
          <a:prstGeom prst="rect">
            <a:avLst/>
          </a:prstGeom>
          <a:solidFill>
            <a:srgbClr val="10B981"/>
          </a:solidFill>
          <a:ln/>
        </p:spPr>
      </p:sp>
      <p:sp>
        <p:nvSpPr>
          <p:cNvPr id="19" name="Text 16"/>
          <p:cNvSpPr/>
          <p:nvPr/>
        </p:nvSpPr>
        <p:spPr>
          <a:xfrm>
            <a:off x="6172200" y="2496312"/>
            <a:ext cx="566928" cy="566928"/>
          </a:xfrm>
          <a:prstGeom prst="rect">
            <a:avLst/>
          </a:prstGeom>
          <a:noFill/>
          <a:ln/>
        </p:spPr>
        <p:txBody>
          <a:bodyPr wrap="square" lIns="0" tIns="0" rIns="0" bIns="0" rtlCol="0" anchor="ctr"/>
          <a:lstStyle/>
          <a:p>
            <a:pPr algn="ctr" indent="0" marL="0">
              <a:buNone/>
            </a:pPr>
            <a:r>
              <a:rPr lang="en-US" sz="1500" b="1" dirty="0">
                <a:solidFill>
                  <a:srgbClr val="0B1A2E"/>
                </a:solidFill>
                <a:latin typeface="Calibri" pitchFamily="34" charset="0"/>
                <a:ea typeface="Calibri" pitchFamily="34" charset="-122"/>
                <a:cs typeface="Calibri" pitchFamily="34" charset="-120"/>
              </a:rPr>
              <a:t>4</a:t>
            </a:r>
            <a:endParaRPr lang="en-US" sz="1500" dirty="0"/>
          </a:p>
        </p:txBody>
      </p:sp>
      <p:sp>
        <p:nvSpPr>
          <p:cNvPr id="20" name="Text 17"/>
          <p:cNvSpPr/>
          <p:nvPr/>
        </p:nvSpPr>
        <p:spPr>
          <a:xfrm>
            <a:off x="6903720" y="2496312"/>
            <a:ext cx="452628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Open the Trip Dispatch workflow</a:t>
            </a:r>
            <a:endParaRPr lang="en-US" sz="1300" dirty="0"/>
          </a:p>
        </p:txBody>
      </p:sp>
      <p:sp>
        <p:nvSpPr>
          <p:cNvPr id="21" name="Shape 18"/>
          <p:cNvSpPr/>
          <p:nvPr/>
        </p:nvSpPr>
        <p:spPr>
          <a:xfrm>
            <a:off x="594360" y="3209544"/>
            <a:ext cx="5349240" cy="566928"/>
          </a:xfrm>
          <a:prstGeom prst="rect">
            <a:avLst/>
          </a:prstGeom>
          <a:solidFill>
            <a:srgbClr val="13263D"/>
          </a:solidFill>
          <a:ln w="12700">
            <a:solidFill>
              <a:srgbClr val="27435F"/>
            </a:solidFill>
            <a:prstDash val="solid"/>
          </a:ln>
        </p:spPr>
      </p:sp>
      <p:sp>
        <p:nvSpPr>
          <p:cNvPr id="22" name="Shape 19"/>
          <p:cNvSpPr/>
          <p:nvPr/>
        </p:nvSpPr>
        <p:spPr>
          <a:xfrm>
            <a:off x="594360" y="3209544"/>
            <a:ext cx="566928" cy="566928"/>
          </a:xfrm>
          <a:prstGeom prst="rect">
            <a:avLst/>
          </a:prstGeom>
          <a:solidFill>
            <a:srgbClr val="F5821F"/>
          </a:solidFill>
          <a:ln/>
        </p:spPr>
      </p:sp>
      <p:sp>
        <p:nvSpPr>
          <p:cNvPr id="23" name="Text 20"/>
          <p:cNvSpPr/>
          <p:nvPr/>
        </p:nvSpPr>
        <p:spPr>
          <a:xfrm>
            <a:off x="594360" y="3209544"/>
            <a:ext cx="566928" cy="566928"/>
          </a:xfrm>
          <a:prstGeom prst="rect">
            <a:avLst/>
          </a:prstGeom>
          <a:noFill/>
          <a:ln/>
        </p:spPr>
        <p:txBody>
          <a:bodyPr wrap="square" lIns="0" tIns="0" rIns="0" bIns="0" rtlCol="0" anchor="ctr"/>
          <a:lstStyle/>
          <a:p>
            <a:pPr algn="ctr" indent="0" marL="0">
              <a:buNone/>
            </a:pPr>
            <a:r>
              <a:rPr lang="en-US" sz="1500" b="1" dirty="0">
                <a:solidFill>
                  <a:srgbClr val="0B1A2E"/>
                </a:solidFill>
                <a:latin typeface="Calibri" pitchFamily="34" charset="0"/>
                <a:ea typeface="Calibri" pitchFamily="34" charset="-122"/>
                <a:cs typeface="Calibri" pitchFamily="34" charset="-120"/>
              </a:rPr>
              <a:t>5</a:t>
            </a:r>
            <a:endParaRPr lang="en-US" sz="1500" dirty="0"/>
          </a:p>
        </p:txBody>
      </p:sp>
      <p:sp>
        <p:nvSpPr>
          <p:cNvPr id="24" name="Text 21"/>
          <p:cNvSpPr/>
          <p:nvPr/>
        </p:nvSpPr>
        <p:spPr>
          <a:xfrm>
            <a:off x="1325880" y="3209544"/>
            <a:ext cx="452628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Select vehicle, route, facility and container</a:t>
            </a:r>
            <a:endParaRPr lang="en-US" sz="1300" dirty="0"/>
          </a:p>
        </p:txBody>
      </p:sp>
      <p:sp>
        <p:nvSpPr>
          <p:cNvPr id="25" name="Shape 22"/>
          <p:cNvSpPr/>
          <p:nvPr/>
        </p:nvSpPr>
        <p:spPr>
          <a:xfrm>
            <a:off x="6172200" y="3209544"/>
            <a:ext cx="5349240" cy="566928"/>
          </a:xfrm>
          <a:prstGeom prst="rect">
            <a:avLst/>
          </a:prstGeom>
          <a:solidFill>
            <a:srgbClr val="13263D"/>
          </a:solidFill>
          <a:ln w="12700">
            <a:solidFill>
              <a:srgbClr val="27435F"/>
            </a:solidFill>
            <a:prstDash val="solid"/>
          </a:ln>
        </p:spPr>
      </p:sp>
      <p:sp>
        <p:nvSpPr>
          <p:cNvPr id="26" name="Shape 23"/>
          <p:cNvSpPr/>
          <p:nvPr/>
        </p:nvSpPr>
        <p:spPr>
          <a:xfrm>
            <a:off x="6172200" y="3209544"/>
            <a:ext cx="566928" cy="566928"/>
          </a:xfrm>
          <a:prstGeom prst="rect">
            <a:avLst/>
          </a:prstGeom>
          <a:solidFill>
            <a:srgbClr val="10B981"/>
          </a:solidFill>
          <a:ln/>
        </p:spPr>
      </p:sp>
      <p:sp>
        <p:nvSpPr>
          <p:cNvPr id="27" name="Text 24"/>
          <p:cNvSpPr/>
          <p:nvPr/>
        </p:nvSpPr>
        <p:spPr>
          <a:xfrm>
            <a:off x="6172200" y="3209544"/>
            <a:ext cx="566928" cy="566928"/>
          </a:xfrm>
          <a:prstGeom prst="rect">
            <a:avLst/>
          </a:prstGeom>
          <a:noFill/>
          <a:ln/>
        </p:spPr>
        <p:txBody>
          <a:bodyPr wrap="square" lIns="0" tIns="0" rIns="0" bIns="0" rtlCol="0" anchor="ctr"/>
          <a:lstStyle/>
          <a:p>
            <a:pPr algn="ctr" indent="0" marL="0">
              <a:buNone/>
            </a:pPr>
            <a:r>
              <a:rPr lang="en-US" sz="1500" b="1" dirty="0">
                <a:solidFill>
                  <a:srgbClr val="0B1A2E"/>
                </a:solidFill>
                <a:latin typeface="Calibri" pitchFamily="34" charset="0"/>
                <a:ea typeface="Calibri" pitchFamily="34" charset="-122"/>
                <a:cs typeface="Calibri" pitchFamily="34" charset="-120"/>
              </a:rPr>
              <a:t>6</a:t>
            </a:r>
            <a:endParaRPr lang="en-US" sz="1500" dirty="0"/>
          </a:p>
        </p:txBody>
      </p:sp>
      <p:sp>
        <p:nvSpPr>
          <p:cNvPr id="28" name="Text 25"/>
          <p:cNvSpPr/>
          <p:nvPr/>
        </p:nvSpPr>
        <p:spPr>
          <a:xfrm>
            <a:off x="6903720" y="3209544"/>
            <a:ext cx="452628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Open the Corridor Tracker map</a:t>
            </a:r>
            <a:endParaRPr lang="en-US" sz="1300" dirty="0"/>
          </a:p>
        </p:txBody>
      </p:sp>
      <p:sp>
        <p:nvSpPr>
          <p:cNvPr id="29" name="Shape 26"/>
          <p:cNvSpPr/>
          <p:nvPr/>
        </p:nvSpPr>
        <p:spPr>
          <a:xfrm>
            <a:off x="594360" y="3922776"/>
            <a:ext cx="5349240" cy="566928"/>
          </a:xfrm>
          <a:prstGeom prst="rect">
            <a:avLst/>
          </a:prstGeom>
          <a:solidFill>
            <a:srgbClr val="13263D"/>
          </a:solidFill>
          <a:ln w="12700">
            <a:solidFill>
              <a:srgbClr val="27435F"/>
            </a:solidFill>
            <a:prstDash val="solid"/>
          </a:ln>
        </p:spPr>
      </p:sp>
      <p:sp>
        <p:nvSpPr>
          <p:cNvPr id="30" name="Shape 27"/>
          <p:cNvSpPr/>
          <p:nvPr/>
        </p:nvSpPr>
        <p:spPr>
          <a:xfrm>
            <a:off x="594360" y="3922776"/>
            <a:ext cx="566928" cy="566928"/>
          </a:xfrm>
          <a:prstGeom prst="rect">
            <a:avLst/>
          </a:prstGeom>
          <a:solidFill>
            <a:srgbClr val="F5821F"/>
          </a:solidFill>
          <a:ln/>
        </p:spPr>
      </p:sp>
      <p:sp>
        <p:nvSpPr>
          <p:cNvPr id="31" name="Text 28"/>
          <p:cNvSpPr/>
          <p:nvPr/>
        </p:nvSpPr>
        <p:spPr>
          <a:xfrm>
            <a:off x="594360" y="3922776"/>
            <a:ext cx="566928" cy="566928"/>
          </a:xfrm>
          <a:prstGeom prst="rect">
            <a:avLst/>
          </a:prstGeom>
          <a:noFill/>
          <a:ln/>
        </p:spPr>
        <p:txBody>
          <a:bodyPr wrap="square" lIns="0" tIns="0" rIns="0" bIns="0" rtlCol="0" anchor="ctr"/>
          <a:lstStyle/>
          <a:p>
            <a:pPr algn="ctr" indent="0" marL="0">
              <a:buNone/>
            </a:pPr>
            <a:r>
              <a:rPr lang="en-US" sz="1500" b="1" dirty="0">
                <a:solidFill>
                  <a:srgbClr val="0B1A2E"/>
                </a:solidFill>
                <a:latin typeface="Calibri" pitchFamily="34" charset="0"/>
                <a:ea typeface="Calibri" pitchFamily="34" charset="-122"/>
                <a:cs typeface="Calibri" pitchFamily="34" charset="-120"/>
              </a:rPr>
              <a:t>7</a:t>
            </a:r>
            <a:endParaRPr lang="en-US" sz="1500" dirty="0"/>
          </a:p>
        </p:txBody>
      </p:sp>
      <p:sp>
        <p:nvSpPr>
          <p:cNvPr id="32" name="Text 29"/>
          <p:cNvSpPr/>
          <p:nvPr/>
        </p:nvSpPr>
        <p:spPr>
          <a:xfrm>
            <a:off x="1325880" y="3922776"/>
            <a:ext cx="452628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Show the Top 10 fleet sidebar</a:t>
            </a:r>
            <a:endParaRPr lang="en-US" sz="1300" dirty="0"/>
          </a:p>
        </p:txBody>
      </p:sp>
      <p:sp>
        <p:nvSpPr>
          <p:cNvPr id="33" name="Shape 30"/>
          <p:cNvSpPr/>
          <p:nvPr/>
        </p:nvSpPr>
        <p:spPr>
          <a:xfrm>
            <a:off x="6172200" y="3922776"/>
            <a:ext cx="5349240" cy="566928"/>
          </a:xfrm>
          <a:prstGeom prst="rect">
            <a:avLst/>
          </a:prstGeom>
          <a:solidFill>
            <a:srgbClr val="13263D"/>
          </a:solidFill>
          <a:ln w="12700">
            <a:solidFill>
              <a:srgbClr val="27435F"/>
            </a:solidFill>
            <a:prstDash val="solid"/>
          </a:ln>
        </p:spPr>
      </p:sp>
      <p:sp>
        <p:nvSpPr>
          <p:cNvPr id="34" name="Shape 31"/>
          <p:cNvSpPr/>
          <p:nvPr/>
        </p:nvSpPr>
        <p:spPr>
          <a:xfrm>
            <a:off x="6172200" y="3922776"/>
            <a:ext cx="566928" cy="566928"/>
          </a:xfrm>
          <a:prstGeom prst="rect">
            <a:avLst/>
          </a:prstGeom>
          <a:solidFill>
            <a:srgbClr val="10B981"/>
          </a:solidFill>
          <a:ln/>
        </p:spPr>
      </p:sp>
      <p:sp>
        <p:nvSpPr>
          <p:cNvPr id="35" name="Text 32"/>
          <p:cNvSpPr/>
          <p:nvPr/>
        </p:nvSpPr>
        <p:spPr>
          <a:xfrm>
            <a:off x="6172200" y="3922776"/>
            <a:ext cx="566928" cy="566928"/>
          </a:xfrm>
          <a:prstGeom prst="rect">
            <a:avLst/>
          </a:prstGeom>
          <a:noFill/>
          <a:ln/>
        </p:spPr>
        <p:txBody>
          <a:bodyPr wrap="square" lIns="0" tIns="0" rIns="0" bIns="0" rtlCol="0" anchor="ctr"/>
          <a:lstStyle/>
          <a:p>
            <a:pPr algn="ctr" indent="0" marL="0">
              <a:buNone/>
            </a:pPr>
            <a:r>
              <a:rPr lang="en-US" sz="1500" b="1" dirty="0">
                <a:solidFill>
                  <a:srgbClr val="0B1A2E"/>
                </a:solidFill>
                <a:latin typeface="Calibri" pitchFamily="34" charset="0"/>
                <a:ea typeface="Calibri" pitchFamily="34" charset="-122"/>
                <a:cs typeface="Calibri" pitchFamily="34" charset="-120"/>
              </a:rPr>
              <a:t>8</a:t>
            </a:r>
            <a:endParaRPr lang="en-US" sz="1500" dirty="0"/>
          </a:p>
        </p:txBody>
      </p:sp>
      <p:sp>
        <p:nvSpPr>
          <p:cNvPr id="36" name="Text 33"/>
          <p:cNvSpPr/>
          <p:nvPr/>
        </p:nvSpPr>
        <p:spPr>
          <a:xfrm>
            <a:off x="6903720" y="3922776"/>
            <a:ext cx="452628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Expand a vehicle: driver, co-driver, availability, GPS</a:t>
            </a:r>
            <a:endParaRPr lang="en-US" sz="1300" dirty="0"/>
          </a:p>
        </p:txBody>
      </p:sp>
      <p:sp>
        <p:nvSpPr>
          <p:cNvPr id="37" name="Shape 34"/>
          <p:cNvSpPr/>
          <p:nvPr/>
        </p:nvSpPr>
        <p:spPr>
          <a:xfrm>
            <a:off x="594360" y="4636008"/>
            <a:ext cx="5349240" cy="566928"/>
          </a:xfrm>
          <a:prstGeom prst="rect">
            <a:avLst/>
          </a:prstGeom>
          <a:solidFill>
            <a:srgbClr val="13263D"/>
          </a:solidFill>
          <a:ln w="12700">
            <a:solidFill>
              <a:srgbClr val="27435F"/>
            </a:solidFill>
            <a:prstDash val="solid"/>
          </a:ln>
        </p:spPr>
      </p:sp>
      <p:sp>
        <p:nvSpPr>
          <p:cNvPr id="38" name="Shape 35"/>
          <p:cNvSpPr/>
          <p:nvPr/>
        </p:nvSpPr>
        <p:spPr>
          <a:xfrm>
            <a:off x="594360" y="4636008"/>
            <a:ext cx="566928" cy="566928"/>
          </a:xfrm>
          <a:prstGeom prst="rect">
            <a:avLst/>
          </a:prstGeom>
          <a:solidFill>
            <a:srgbClr val="F5821F"/>
          </a:solidFill>
          <a:ln/>
        </p:spPr>
      </p:sp>
      <p:sp>
        <p:nvSpPr>
          <p:cNvPr id="39" name="Text 36"/>
          <p:cNvSpPr/>
          <p:nvPr/>
        </p:nvSpPr>
        <p:spPr>
          <a:xfrm>
            <a:off x="594360" y="4636008"/>
            <a:ext cx="566928" cy="566928"/>
          </a:xfrm>
          <a:prstGeom prst="rect">
            <a:avLst/>
          </a:prstGeom>
          <a:noFill/>
          <a:ln/>
        </p:spPr>
        <p:txBody>
          <a:bodyPr wrap="square" lIns="0" tIns="0" rIns="0" bIns="0" rtlCol="0" anchor="ctr"/>
          <a:lstStyle/>
          <a:p>
            <a:pPr algn="ctr" indent="0" marL="0">
              <a:buNone/>
            </a:pPr>
            <a:r>
              <a:rPr lang="en-US" sz="1500" b="1" dirty="0">
                <a:solidFill>
                  <a:srgbClr val="0B1A2E"/>
                </a:solidFill>
                <a:latin typeface="Calibri" pitchFamily="34" charset="0"/>
                <a:ea typeface="Calibri" pitchFamily="34" charset="-122"/>
                <a:cs typeface="Calibri" pitchFamily="34" charset="-120"/>
              </a:rPr>
              <a:t>9</a:t>
            </a:r>
            <a:endParaRPr lang="en-US" sz="1500" dirty="0"/>
          </a:p>
        </p:txBody>
      </p:sp>
      <p:sp>
        <p:nvSpPr>
          <p:cNvPr id="40" name="Text 37"/>
          <p:cNvSpPr/>
          <p:nvPr/>
        </p:nvSpPr>
        <p:spPr>
          <a:xfrm>
            <a:off x="1325880" y="4636008"/>
            <a:ext cx="452628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Show a vehicle marker and live telemetry</a:t>
            </a:r>
            <a:endParaRPr lang="en-US" sz="1300" dirty="0"/>
          </a:p>
        </p:txBody>
      </p:sp>
      <p:sp>
        <p:nvSpPr>
          <p:cNvPr id="41" name="Shape 38"/>
          <p:cNvSpPr/>
          <p:nvPr/>
        </p:nvSpPr>
        <p:spPr>
          <a:xfrm>
            <a:off x="6172200" y="4636008"/>
            <a:ext cx="5349240" cy="566928"/>
          </a:xfrm>
          <a:prstGeom prst="rect">
            <a:avLst/>
          </a:prstGeom>
          <a:solidFill>
            <a:srgbClr val="13263D"/>
          </a:solidFill>
          <a:ln w="12700">
            <a:solidFill>
              <a:srgbClr val="27435F"/>
            </a:solidFill>
            <a:prstDash val="solid"/>
          </a:ln>
        </p:spPr>
      </p:sp>
      <p:sp>
        <p:nvSpPr>
          <p:cNvPr id="42" name="Shape 39"/>
          <p:cNvSpPr/>
          <p:nvPr/>
        </p:nvSpPr>
        <p:spPr>
          <a:xfrm>
            <a:off x="6172200" y="4636008"/>
            <a:ext cx="566928" cy="566928"/>
          </a:xfrm>
          <a:prstGeom prst="rect">
            <a:avLst/>
          </a:prstGeom>
          <a:solidFill>
            <a:srgbClr val="10B981"/>
          </a:solidFill>
          <a:ln/>
        </p:spPr>
      </p:sp>
      <p:sp>
        <p:nvSpPr>
          <p:cNvPr id="43" name="Text 40"/>
          <p:cNvSpPr/>
          <p:nvPr/>
        </p:nvSpPr>
        <p:spPr>
          <a:xfrm>
            <a:off x="6172200" y="4636008"/>
            <a:ext cx="566928" cy="566928"/>
          </a:xfrm>
          <a:prstGeom prst="rect">
            <a:avLst/>
          </a:prstGeom>
          <a:noFill/>
          <a:ln/>
        </p:spPr>
        <p:txBody>
          <a:bodyPr wrap="square" lIns="0" tIns="0" rIns="0" bIns="0" rtlCol="0" anchor="ctr"/>
          <a:lstStyle/>
          <a:p>
            <a:pPr algn="ctr" indent="0" marL="0">
              <a:buNone/>
            </a:pPr>
            <a:r>
              <a:rPr lang="en-US" sz="1500" b="1" dirty="0">
                <a:solidFill>
                  <a:srgbClr val="0B1A2E"/>
                </a:solidFill>
                <a:latin typeface="Calibri" pitchFamily="34" charset="0"/>
                <a:ea typeface="Calibri" pitchFamily="34" charset="-122"/>
                <a:cs typeface="Calibri" pitchFamily="34" charset="-120"/>
              </a:rPr>
              <a:t>10</a:t>
            </a:r>
            <a:endParaRPr lang="en-US" sz="1500" dirty="0"/>
          </a:p>
        </p:txBody>
      </p:sp>
      <p:sp>
        <p:nvSpPr>
          <p:cNvPr id="44" name="Text 41"/>
          <p:cNvSpPr/>
          <p:nvPr/>
        </p:nvSpPr>
        <p:spPr>
          <a:xfrm>
            <a:off x="6903720" y="4636008"/>
            <a:ext cx="452628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Explain dwell data becoming cost intelligence</a:t>
            </a:r>
            <a:endParaRPr lang="en-US" sz="1300" dirty="0"/>
          </a:p>
        </p:txBody>
      </p:sp>
      <p:sp>
        <p:nvSpPr>
          <p:cNvPr id="45" name="Shape 42"/>
          <p:cNvSpPr/>
          <p:nvPr/>
        </p:nvSpPr>
        <p:spPr>
          <a:xfrm>
            <a:off x="594360" y="5486400"/>
            <a:ext cx="10954512" cy="685800"/>
          </a:xfrm>
          <a:prstGeom prst="roundRect">
            <a:avLst>
              <a:gd name="adj" fmla="val 10667"/>
            </a:avLst>
          </a:prstGeom>
          <a:solidFill>
            <a:srgbClr val="1B3350"/>
          </a:solidFill>
          <a:ln w="12700">
            <a:solidFill>
              <a:srgbClr val="27435F"/>
            </a:solidFill>
            <a:prstDash val="solid"/>
          </a:ln>
        </p:spPr>
      </p:sp>
      <p:sp>
        <p:nvSpPr>
          <p:cNvPr id="46" name="Text 43"/>
          <p:cNvSpPr/>
          <p:nvPr/>
        </p:nvSpPr>
        <p:spPr>
          <a:xfrm>
            <a:off x="868680" y="5486400"/>
            <a:ext cx="10424160" cy="685800"/>
          </a:xfrm>
          <a:prstGeom prst="rect">
            <a:avLst/>
          </a:prstGeom>
          <a:noFill/>
          <a:ln/>
        </p:spPr>
        <p:txBody>
          <a:bodyPr wrap="square" rtlCol="0" anchor="ctr"/>
          <a:lstStyle/>
          <a:p>
            <a:pPr indent="0" marL="0">
              <a:buNone/>
            </a:pPr>
            <a:r>
              <a:rPr lang="en-US" sz="1300" dirty="0">
                <a:solidFill>
                  <a:srgbClr val="9DB2C8"/>
                </a:solidFill>
                <a:latin typeface="Calibri" pitchFamily="34" charset="0"/>
                <a:ea typeface="Calibri" pitchFamily="34" charset="-122"/>
                <a:cs typeface="Calibri" pitchFamily="34" charset="-120"/>
              </a:rPr>
              <a:t>Demo: [DEMO_URL]     Video: [DEMO_VIDEO_URL]     Deck: [PITCH_DECK_URL]</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A2E"/>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5852160" y="0"/>
            <a:ext cx="6336792" cy="6858000"/>
          </a:xfrm>
          <a:prstGeom prst="rect">
            <a:avLst/>
          </a:prstGeom>
        </p:spPr>
      </p:pic>
      <p:sp>
        <p:nvSpPr>
          <p:cNvPr id="3" name="Shape 0"/>
          <p:cNvSpPr/>
          <p:nvPr/>
        </p:nvSpPr>
        <p:spPr>
          <a:xfrm>
            <a:off x="5852160" y="0"/>
            <a:ext cx="6336792" cy="6858000"/>
          </a:xfrm>
          <a:prstGeom prst="rect">
            <a:avLst/>
          </a:prstGeom>
          <a:solidFill>
            <a:srgbClr val="0B1A2E">
              <a:alpha val="60000"/>
            </a:srgbClr>
          </a:solidFill>
          <a:ln/>
        </p:spPr>
      </p:sp>
      <p:sp>
        <p:nvSpPr>
          <p:cNvPr id="4" name="Shape 1"/>
          <p:cNvSpPr/>
          <p:nvPr/>
        </p:nvSpPr>
        <p:spPr>
          <a:xfrm>
            <a:off x="0" y="0"/>
            <a:ext cx="201168" cy="6858000"/>
          </a:xfrm>
          <a:prstGeom prst="rect">
            <a:avLst/>
          </a:prstGeom>
          <a:solidFill>
            <a:srgbClr val="F5821F"/>
          </a:solidFill>
          <a:ln/>
        </p:spPr>
      </p:sp>
      <p:sp>
        <p:nvSpPr>
          <p:cNvPr id="5" name="Text 2"/>
          <p:cNvSpPr/>
          <p:nvPr/>
        </p:nvSpPr>
        <p:spPr>
          <a:xfrm>
            <a:off x="777240" y="1143000"/>
            <a:ext cx="5486400" cy="365760"/>
          </a:xfrm>
          <a:prstGeom prst="rect">
            <a:avLst/>
          </a:prstGeom>
          <a:noFill/>
          <a:ln/>
        </p:spPr>
        <p:txBody>
          <a:bodyPr wrap="square" rtlCol="0" anchor="ctr"/>
          <a:lstStyle/>
          <a:p>
            <a:pPr indent="0" marL="0">
              <a:buNone/>
            </a:pPr>
            <a:r>
              <a:rPr lang="en-US" sz="1400" b="1" spc="300" kern="0" dirty="0">
                <a:solidFill>
                  <a:srgbClr val="F5821F"/>
                </a:solidFill>
                <a:latin typeface="Calibri" pitchFamily="34" charset="0"/>
                <a:ea typeface="Calibri" pitchFamily="34" charset="-122"/>
                <a:cs typeface="Calibri" pitchFamily="34" charset="-120"/>
              </a:rPr>
              <a:t>TURNAROUND</a:t>
            </a:r>
            <a:endParaRPr lang="en-US" sz="1400" dirty="0"/>
          </a:p>
        </p:txBody>
      </p:sp>
      <p:sp>
        <p:nvSpPr>
          <p:cNvPr id="6" name="Text 3"/>
          <p:cNvSpPr/>
          <p:nvPr/>
        </p:nvSpPr>
        <p:spPr>
          <a:xfrm>
            <a:off x="713232" y="1600200"/>
            <a:ext cx="5120640" cy="1828800"/>
          </a:xfrm>
          <a:prstGeom prst="rect">
            <a:avLst/>
          </a:prstGeom>
          <a:noFill/>
          <a:ln/>
        </p:spPr>
        <p:txBody>
          <a:bodyPr wrap="square" rtlCol="0" anchor="ctr"/>
          <a:lstStyle/>
          <a:p>
            <a:pPr indent="0" marL="0">
              <a:lnSpc>
                <a:spcPts val="4400"/>
              </a:lnSpc>
              <a:buNone/>
            </a:pPr>
            <a:r>
              <a:rPr lang="en-US" sz="3300" dirty="0">
                <a:solidFill>
                  <a:srgbClr val="FFFFFF"/>
                </a:solidFill>
                <a:latin typeface="Arial Black" pitchFamily="34" charset="0"/>
                <a:ea typeface="Arial Black" pitchFamily="34" charset="-122"/>
                <a:cs typeface="Arial Black" pitchFamily="34" charset="-120"/>
              </a:rPr>
              <a:t>Make every delay visible.</a:t>
            </a:r>
            <a:endParaRPr lang="en-US" sz="3300" dirty="0"/>
          </a:p>
          <a:p>
            <a:pPr indent="0" marL="0">
              <a:lnSpc>
                <a:spcPts val="4400"/>
              </a:lnSpc>
              <a:buNone/>
            </a:pPr>
            <a:r>
              <a:rPr lang="en-US" sz="3300" dirty="0">
                <a:solidFill>
                  <a:srgbClr val="FFFFFF"/>
                </a:solidFill>
                <a:latin typeface="Arial Black" pitchFamily="34" charset="0"/>
                <a:ea typeface="Arial Black" pitchFamily="34" charset="-122"/>
                <a:cs typeface="Arial Black" pitchFamily="34" charset="-120"/>
              </a:rPr>
              <a:t>Make every minute actionable.</a:t>
            </a:r>
            <a:endParaRPr lang="en-US" sz="3300" dirty="0"/>
          </a:p>
        </p:txBody>
      </p:sp>
      <p:sp>
        <p:nvSpPr>
          <p:cNvPr id="7" name="Text 4"/>
          <p:cNvSpPr/>
          <p:nvPr/>
        </p:nvSpPr>
        <p:spPr>
          <a:xfrm>
            <a:off x="777240" y="3520440"/>
            <a:ext cx="4846320" cy="1005840"/>
          </a:xfrm>
          <a:prstGeom prst="rect">
            <a:avLst/>
          </a:prstGeom>
          <a:noFill/>
          <a:ln/>
        </p:spPr>
        <p:txBody>
          <a:bodyPr wrap="square" rtlCol="0" anchor="ctr"/>
          <a:lstStyle/>
          <a:p>
            <a:pPr indent="0" marL="0">
              <a:lnSpc>
                <a:spcPts val="2200"/>
              </a:lnSpc>
              <a:buNone/>
            </a:pPr>
            <a:r>
              <a:rPr lang="en-US" sz="1400" dirty="0">
                <a:solidFill>
                  <a:srgbClr val="9DB2C8"/>
                </a:solidFill>
                <a:latin typeface="Calibri" pitchFamily="34" charset="0"/>
                <a:ea typeface="Calibri" pitchFamily="34" charset="-122"/>
                <a:cs typeface="Calibri" pitchFamily="34" charset="-120"/>
              </a:rPr>
              <a:t>Turnaround gives commercial carriers the operational intelligence to improve fleet utilization, reduce dwell-related costs, and move freight more predictably.</a:t>
            </a:r>
            <a:endParaRPr lang="en-US" sz="1400" dirty="0"/>
          </a:p>
        </p:txBody>
      </p:sp>
      <p:sp>
        <p:nvSpPr>
          <p:cNvPr id="8" name="Shape 5"/>
          <p:cNvSpPr/>
          <p:nvPr/>
        </p:nvSpPr>
        <p:spPr>
          <a:xfrm>
            <a:off x="777240" y="4572000"/>
            <a:ext cx="2011680" cy="0"/>
          </a:xfrm>
          <a:prstGeom prst="line">
            <a:avLst/>
          </a:prstGeom>
          <a:noFill/>
          <a:ln w="38100">
            <a:solidFill>
              <a:srgbClr val="10B981"/>
            </a:solidFill>
            <a:prstDash val="solid"/>
          </a:ln>
        </p:spPr>
      </p:sp>
      <p:sp>
        <p:nvSpPr>
          <p:cNvPr id="9" name="Text 6"/>
          <p:cNvSpPr/>
          <p:nvPr/>
        </p:nvSpPr>
        <p:spPr>
          <a:xfrm>
            <a:off x="777240" y="4800600"/>
            <a:ext cx="4937760" cy="1188720"/>
          </a:xfrm>
          <a:prstGeom prst="rect">
            <a:avLst/>
          </a:prstGeom>
          <a:noFill/>
          <a:ln/>
        </p:spPr>
        <p:txBody>
          <a:bodyPr wrap="square" rtlCol="0" anchor="ctr"/>
          <a:lstStyle/>
          <a:p>
            <a:pPr indent="0" marL="0">
              <a:lnSpc>
                <a:spcPts val="2200"/>
              </a:lnSpc>
              <a:buNone/>
            </a:pPr>
            <a:r>
              <a:rPr lang="en-US" sz="1250" dirty="0">
                <a:solidFill>
                  <a:srgbClr val="FFFFFF"/>
                </a:solidFill>
                <a:latin typeface="Calibri" pitchFamily="34" charset="0"/>
                <a:ea typeface="Calibri" pitchFamily="34" charset="-122"/>
                <a:cs typeface="Calibri" pitchFamily="34" charset="-120"/>
              </a:rPr>
              <a:t>GitHub: https://github.com/acunetix2/Turnaround.git</a:t>
            </a:r>
            <a:endParaRPr lang="en-US" sz="1250" dirty="0"/>
          </a:p>
          <a:p>
            <a:pPr indent="0" marL="0">
              <a:lnSpc>
                <a:spcPts val="2200"/>
              </a:lnSpc>
              <a:buNone/>
            </a:pPr>
            <a:r>
              <a:rPr lang="en-US" sz="1250" dirty="0">
                <a:solidFill>
                  <a:srgbClr val="9DB2C8"/>
                </a:solidFill>
                <a:latin typeface="Calibri" pitchFamily="34" charset="0"/>
                <a:ea typeface="Calibri" pitchFamily="34" charset="-122"/>
                <a:cs typeface="Calibri" pitchFamily="34" charset="-120"/>
              </a:rPr>
              <a:t>Demo: [DEMO_URL]    Video: [DEMO_VIDEO_URL]</a:t>
            </a:r>
            <a:endParaRPr lang="en-US" sz="1250" dirty="0"/>
          </a:p>
          <a:p>
            <a:pPr indent="0" marL="0">
              <a:lnSpc>
                <a:spcPts val="2200"/>
              </a:lnSpc>
              <a:buNone/>
            </a:pPr>
            <a:r>
              <a:rPr lang="en-US" sz="1250" dirty="0">
                <a:solidFill>
                  <a:srgbClr val="9DB2C8"/>
                </a:solidFill>
                <a:latin typeface="Calibri" pitchFamily="34" charset="0"/>
                <a:ea typeface="Calibri" pitchFamily="34" charset="-122"/>
                <a:cs typeface="Calibri" pitchFamily="34" charset="-120"/>
              </a:rPr>
              <a:t>Deck: [PITCH_DECK_URL]    Contact: [YOUR EMAIL]</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Turnaround — Operational Intelligence for Fleet and Corridor Logistics</dc:title>
  <dc:subject>PptxGenJS Presentation</dc:subject>
  <dc:creator>Turnaround</dc:creator>
  <cp:lastModifiedBy>Turnaround</cp:lastModifiedBy>
  <cp:revision>1</cp:revision>
  <dcterms:created xsi:type="dcterms:W3CDTF">2026-09-04T19:03:14Z</dcterms:created>
  <dcterms:modified xsi:type="dcterms:W3CDTF">2026-09-04T19:03:14Z</dcterms:modified>
</cp:coreProperties>
</file>